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15"/>
  </p:notesMasterIdLst>
  <p:sldIdLst>
    <p:sldId id="257" r:id="rId2"/>
    <p:sldId id="285" r:id="rId3"/>
    <p:sldId id="287" r:id="rId4"/>
    <p:sldId id="259" r:id="rId5"/>
    <p:sldId id="286" r:id="rId6"/>
    <p:sldId id="276" r:id="rId7"/>
    <p:sldId id="288" r:id="rId8"/>
    <p:sldId id="292" r:id="rId9"/>
    <p:sldId id="289" r:id="rId10"/>
    <p:sldId id="279" r:id="rId11"/>
    <p:sldId id="280" r:id="rId12"/>
    <p:sldId id="290" r:id="rId13"/>
    <p:sldId id="284"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891DBA-FA0F-6A47-9310-13F6A82BE280}" v="3" dt="2026-01-26T05:01:58.98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3" autoAdjust="0"/>
    <p:restoredTop sz="80624" autoAdjust="0"/>
  </p:normalViewPr>
  <p:slideViewPr>
    <p:cSldViewPr snapToGrid="0">
      <p:cViewPr>
        <p:scale>
          <a:sx n="126" d="100"/>
          <a:sy n="126" d="100"/>
        </p:scale>
        <p:origin x="960" y="160"/>
      </p:cViewPr>
      <p:guideLst/>
    </p:cSldViewPr>
  </p:slideViewPr>
  <p:outlineViewPr>
    <p:cViewPr>
      <p:scale>
        <a:sx n="50" d="100"/>
        <a:sy n="50"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045AD8-3CFD-4BCE-9C74-9F195E967ABD}" type="datetimeFigureOut">
              <a:rPr kumimoji="1" lang="ja-JP" altLang="en-US" smtClean="0"/>
              <a:t>2026/1/19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203DAF-BE02-439B-B205-0FA1F213605B}" type="slidenum">
              <a:rPr kumimoji="1" lang="ja-JP" altLang="en-US" smtClean="0"/>
              <a:t>‹#›</a:t>
            </a:fld>
            <a:endParaRPr kumimoji="1" lang="ja-JP" altLang="en-US"/>
          </a:p>
        </p:txBody>
      </p:sp>
    </p:spTree>
    <p:extLst>
      <p:ext uri="{BB962C8B-B14F-4D97-AF65-F5344CB8AC3E}">
        <p14:creationId xmlns:p14="http://schemas.microsoft.com/office/powerpoint/2010/main" val="23406178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タイトルは</a:t>
            </a:r>
            <a:r>
              <a:rPr kumimoji="1" lang="en-US" altLang="ja-JP" dirty="0"/>
              <a:t>EE</a:t>
            </a:r>
            <a:r>
              <a:rPr kumimoji="1" lang="ja-JP" altLang="en-US"/>
              <a:t>ー</a:t>
            </a:r>
            <a:r>
              <a:rPr kumimoji="1" lang="en-US" altLang="ja-JP" dirty="0"/>
              <a:t>index</a:t>
            </a:r>
            <a:endParaRPr kumimoji="1" lang="ja-JP" altLang="en-US"/>
          </a:p>
        </p:txBody>
      </p:sp>
      <p:sp>
        <p:nvSpPr>
          <p:cNvPr id="4" name="スライド番号プレースホルダー 3"/>
          <p:cNvSpPr>
            <a:spLocks noGrp="1"/>
          </p:cNvSpPr>
          <p:nvPr>
            <p:ph type="sldNum" sz="quarter" idx="5"/>
          </p:nvPr>
        </p:nvSpPr>
        <p:spPr/>
        <p:txBody>
          <a:bodyPr/>
          <a:lstStyle/>
          <a:p>
            <a:fld id="{BE203DAF-BE02-439B-B205-0FA1F213605B}" type="slidenum">
              <a:rPr kumimoji="1" lang="ja-JP" altLang="en-US" smtClean="0"/>
              <a:t>1</a:t>
            </a:fld>
            <a:endParaRPr kumimoji="1" lang="ja-JP" altLang="en-US"/>
          </a:p>
        </p:txBody>
      </p:sp>
    </p:spTree>
    <p:extLst>
      <p:ext uri="{BB962C8B-B14F-4D97-AF65-F5344CB8AC3E}">
        <p14:creationId xmlns:p14="http://schemas.microsoft.com/office/powerpoint/2010/main" val="2032437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E203DAF-BE02-439B-B205-0FA1F213605B}" type="slidenum">
              <a:rPr kumimoji="1" lang="ja-JP" altLang="en-US" smtClean="0"/>
              <a:t>2</a:t>
            </a:fld>
            <a:endParaRPr kumimoji="1" lang="ja-JP" altLang="en-US"/>
          </a:p>
        </p:txBody>
      </p:sp>
    </p:spTree>
    <p:extLst>
      <p:ext uri="{BB962C8B-B14F-4D97-AF65-F5344CB8AC3E}">
        <p14:creationId xmlns:p14="http://schemas.microsoft.com/office/powerpoint/2010/main" val="3018908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8288B-D541-1575-A361-1CE16E231A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D4CF7B7-8988-3C95-CF1F-3A3E70714BE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E764583-E278-30F0-2994-72FD989E2ECA}"/>
              </a:ext>
            </a:extLst>
          </p:cNvPr>
          <p:cNvSpPr>
            <a:spLocks noGrp="1"/>
          </p:cNvSpPr>
          <p:nvPr>
            <p:ph type="body" idx="1"/>
          </p:nvPr>
        </p:nvSpPr>
        <p:spPr/>
        <p:txBody>
          <a:bodyPr/>
          <a:lstStyle/>
          <a:p>
            <a:pPr algn="just"/>
            <a:endParaRPr kumimoji="1" lang="en-US" altLang="ja-JP" dirty="0"/>
          </a:p>
        </p:txBody>
      </p:sp>
    </p:spTree>
    <p:extLst>
      <p:ext uri="{BB962C8B-B14F-4D97-AF65-F5344CB8AC3E}">
        <p14:creationId xmlns:p14="http://schemas.microsoft.com/office/powerpoint/2010/main" val="317968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endParaRPr kumimoji="1" lang="en-US" altLang="ja-JP" dirty="0"/>
          </a:p>
        </p:txBody>
      </p:sp>
    </p:spTree>
    <p:extLst>
      <p:ext uri="{BB962C8B-B14F-4D97-AF65-F5344CB8AC3E}">
        <p14:creationId xmlns:p14="http://schemas.microsoft.com/office/powerpoint/2010/main" val="1989050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FDFFB-91B8-4614-09C2-F557EE4A09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A100685-04A6-F1B4-8F82-3DBAC9B976A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D97ED9-F0DF-B82C-33E9-01B6F9085F17}"/>
              </a:ext>
            </a:extLst>
          </p:cNvPr>
          <p:cNvSpPr>
            <a:spLocks noGrp="1"/>
          </p:cNvSpPr>
          <p:nvPr>
            <p:ph type="body" idx="1"/>
          </p:nvPr>
        </p:nvSpPr>
        <p:spPr/>
        <p:txBody>
          <a:bodyPr/>
          <a:lstStyle/>
          <a:p>
            <a:pPr algn="just"/>
            <a:endParaRPr kumimoji="1" lang="en-US" altLang="ja-JP" dirty="0"/>
          </a:p>
        </p:txBody>
      </p:sp>
    </p:spTree>
    <p:extLst>
      <p:ext uri="{BB962C8B-B14F-4D97-AF65-F5344CB8AC3E}">
        <p14:creationId xmlns:p14="http://schemas.microsoft.com/office/powerpoint/2010/main" val="1080550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BE203DAF-BE02-439B-B205-0FA1F213605B}" type="slidenum">
              <a:rPr kumimoji="1" lang="ja-JP" altLang="en-US" smtClean="0"/>
              <a:t>6</a:t>
            </a:fld>
            <a:endParaRPr kumimoji="1" lang="ja-JP" altLang="en-US"/>
          </a:p>
        </p:txBody>
      </p:sp>
    </p:spTree>
    <p:extLst>
      <p:ext uri="{BB962C8B-B14F-4D97-AF65-F5344CB8AC3E}">
        <p14:creationId xmlns:p14="http://schemas.microsoft.com/office/powerpoint/2010/main" val="1413345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833ED-9499-2301-3D2A-E58B83717D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E905049-E1D1-0238-BEDC-B5F9B69881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CD12F3A-695C-1EC9-4DE8-88C757B99289}"/>
              </a:ext>
            </a:extLst>
          </p:cNvPr>
          <p:cNvSpPr>
            <a:spLocks noGrp="1"/>
          </p:cNvSpPr>
          <p:nvPr>
            <p:ph type="body" idx="1"/>
          </p:nvPr>
        </p:nvSpPr>
        <p:spPr/>
        <p:txBody>
          <a:bodyPr/>
          <a:lstStyle/>
          <a:p>
            <a:pPr algn="just"/>
            <a:endParaRPr kumimoji="1" lang="en-US" altLang="ja-JP" dirty="0"/>
          </a:p>
        </p:txBody>
      </p:sp>
    </p:spTree>
    <p:extLst>
      <p:ext uri="{BB962C8B-B14F-4D97-AF65-F5344CB8AC3E}">
        <p14:creationId xmlns:p14="http://schemas.microsoft.com/office/powerpoint/2010/main" val="380784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C6C7D-5453-F4D3-C3D2-7326587B12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9A39AAE-3CCC-C4C3-A1CC-4375E30C217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C9D9F5-28E0-E54F-0D31-D1F67510CFDD}"/>
              </a:ext>
            </a:extLst>
          </p:cNvPr>
          <p:cNvSpPr>
            <a:spLocks noGrp="1"/>
          </p:cNvSpPr>
          <p:nvPr>
            <p:ph type="body" idx="1"/>
          </p:nvPr>
        </p:nvSpPr>
        <p:spPr/>
        <p:txBody>
          <a:bodyPr/>
          <a:lstStyle/>
          <a:p>
            <a:pPr algn="just"/>
            <a:endParaRPr kumimoji="1" lang="en-US" altLang="ja-JP" dirty="0"/>
          </a:p>
        </p:txBody>
      </p:sp>
    </p:spTree>
    <p:extLst>
      <p:ext uri="{BB962C8B-B14F-4D97-AF65-F5344CB8AC3E}">
        <p14:creationId xmlns:p14="http://schemas.microsoft.com/office/powerpoint/2010/main" val="229506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1B42B-9C45-07E3-DD92-2B98148452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286FBF-2B6F-F08E-6BFA-82FB0C0A9E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111725B-7879-679F-AD0B-4BE2DB42C86B}"/>
              </a:ext>
            </a:extLst>
          </p:cNvPr>
          <p:cNvSpPr>
            <a:spLocks noGrp="1"/>
          </p:cNvSpPr>
          <p:nvPr>
            <p:ph type="body" idx="1"/>
          </p:nvPr>
        </p:nvSpPr>
        <p:spPr/>
        <p:txBody>
          <a:bodyPr/>
          <a:lstStyle/>
          <a:p>
            <a:pPr algn="just"/>
            <a:endParaRPr kumimoji="1" lang="en-US" altLang="ja-JP" dirty="0"/>
          </a:p>
        </p:txBody>
      </p:sp>
    </p:spTree>
    <p:extLst>
      <p:ext uri="{BB962C8B-B14F-4D97-AF65-F5344CB8AC3E}">
        <p14:creationId xmlns:p14="http://schemas.microsoft.com/office/powerpoint/2010/main" val="3888896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endParaRPr kumimoji="1" lang="en-US" altLang="ja-JP" dirty="0"/>
              </a:p>
            </p:txBody>
          </p:sp>
        </mc:Choice>
        <mc:Fallback xmlns="">
          <p:sp>
            <p:nvSpPr>
              <p:cNvPr id="3" name="ノート プレースホルダー 2"/>
              <p:cNvSpPr>
                <a:spLocks noGrp="1"/>
              </p:cNvSpPr>
              <p:nvPr>
                <p:ph type="body" idx="1"/>
              </p:nvPr>
            </p:nvSpPr>
            <p:spPr/>
            <p:txBody>
              <a:bodyPr/>
              <a:lstStyle/>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作成したプログラムについて紹介します。</a:t>
                </a:r>
              </a:p>
              <a:p>
                <a:pPr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QZS-1</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のデータは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FA</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座標系で表示していますが、</a:t>
                </a:r>
              </a:p>
              <a:p>
                <a:pPr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FA</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座標系とは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Z</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成分が磁力線に沿う方向の直交座標系でして、</a:t>
                </a:r>
              </a:p>
              <a:p>
                <a:pPr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FAC</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がつくる磁場変動の大きさ、</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X,Y</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成分の大きさをプログラムに入れるデータとしています。</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en-US" sz="1800" kern="100" dirty="0">
                    <a:effectLst/>
                    <a:latin typeface="游明朝" panose="02020400000000000000" pitchFamily="18" charset="-128"/>
                    <a:ea typeface="游明朝" panose="02020400000000000000" pitchFamily="18" charset="-128"/>
                    <a:cs typeface="Times New Roman" panose="02020603050405020304" pitchFamily="18" charset="0"/>
                  </a:rPr>
                  <a:t>つまり</a:t>
                </a:r>
                <a:r>
                  <a:rPr lang="ja-JP" altLang="en-US" sz="2800" dirty="0"/>
                  <a:t>データ</a:t>
                </a:r>
                <a:r>
                  <a:rPr lang="en-US" altLang="ja-JP" sz="2800" dirty="0"/>
                  <a:t> :</a:t>
                </a:r>
                <a:r>
                  <a:rPr lang="en-US" altLang="ja-JP" sz="2800" b="1" i="0" dirty="0">
                    <a:latin typeface="Cambria Math" panose="02040503050406030204" pitchFamily="18" charset="0"/>
                  </a:rPr>
                  <a:t>   B_</a:t>
                </a:r>
                <a:r>
                  <a:rPr lang="ja-JP" altLang="en-US" sz="2800" b="1" i="0" dirty="0">
                    <a:latin typeface="Cambria Math" panose="02040503050406030204" pitchFamily="18" charset="0"/>
                  </a:rPr>
                  <a:t>⊥＝</a:t>
                </a:r>
                <a:r>
                  <a:rPr lang="ja-JP" altLang="en-US" sz="2800" b="1" i="0">
                    <a:latin typeface="Cambria Math" panose="02040503050406030204" pitchFamily="18" charset="0"/>
                  </a:rPr>
                  <a:t>√(</a:t>
                </a:r>
                <a:r>
                  <a:rPr lang="en-US" altLang="ja-JP" sz="2800" b="1" i="0">
                    <a:latin typeface="Cambria Math" panose="02040503050406030204" pitchFamily="18" charset="0"/>
                  </a:rPr>
                  <a:t>𝐁_(𝐟𝐚,𝐱)^𝟐+𝐁_(𝐟𝐚,𝐲)^𝟐 </a:t>
                </a:r>
                <a:r>
                  <a:rPr lang="ja-JP" altLang="en-US" sz="2800" b="1" i="0">
                    <a:latin typeface="Cambria Math" panose="02040503050406030204" pitchFamily="18" charset="0"/>
                  </a:rPr>
                  <a:t>)</a:t>
                </a:r>
                <a:endPar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algn="just"/>
                <a:r>
                  <a:rPr lang="ja-JP" altLang="ja-JP" sz="1800" kern="100">
                    <a:effectLst/>
                    <a:latin typeface="游明朝" panose="02020400000000000000" pitchFamily="18" charset="-128"/>
                    <a:ea typeface="游明朝" panose="02020400000000000000" pitchFamily="18" charset="-128"/>
                    <a:cs typeface="Times New Roman" panose="02020603050405020304" pitchFamily="18" charset="0"/>
                  </a:rPr>
                  <a:t>時間の都合上アルゴリズムについては簡単に説明します。</a:t>
                </a:r>
              </a:p>
              <a:p>
                <a:pPr algn="just"/>
                <a:r>
                  <a:rPr lang="ja-JP" altLang="ja-JP" sz="1800" kern="100">
                    <a:effectLst/>
                    <a:latin typeface="游明朝" panose="02020400000000000000" pitchFamily="18" charset="-128"/>
                    <a:ea typeface="游明朝" panose="02020400000000000000" pitchFamily="18" charset="-128"/>
                    <a:cs typeface="Times New Roman" panose="02020603050405020304" pitchFamily="18" charset="0"/>
                  </a:rPr>
                  <a:t>どんな</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プログラムかというと、目的の「孤立型変動」を想像し、イベントの始まりから終わりを</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t1~t4,</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イベント時間を</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t2~t3</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、それぞれの間の期間を</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dur1~3</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とすると、</a:t>
                </a: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このように前後に対して変動部分のデータのばらつきが大きくなると考えられます。</a:t>
                </a: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もちろん</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1</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つの山の形である必要はないんですけど、標準偏差を使って、真ん中がばらついている</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t1~t4</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期間をリスト化するプログラムになっています。</a:t>
                </a: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ひきすうはいくつかあるんですけど、ここでは２つ</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ratio</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と</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edge</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の説明をします。</a:t>
                </a:r>
              </a:p>
              <a:p>
                <a:pPr algn="just"/>
                <a:r>
                  <a:rPr lang="en-US" altLang="ja-JP" sz="1800" kern="100" dirty="0" err="1">
                    <a:effectLst/>
                    <a:latin typeface="游明朝" panose="02020400000000000000" pitchFamily="18" charset="-128"/>
                    <a:ea typeface="游明朝" panose="02020400000000000000" pitchFamily="18" charset="-128"/>
                    <a:cs typeface="Times New Roman" panose="02020603050405020304" pitchFamily="18" charset="0"/>
                  </a:rPr>
                  <a:t>Rato</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は擾乱の程度を表します。イベント時間と前後の標準偏差の比です。</a:t>
                </a:r>
              </a:p>
              <a:p>
                <a:pPr algn="just"/>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Edge</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は</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dur2</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の期間に対して</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dur1,dur3</a:t>
                </a:r>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をどの程度長く設定するかという「孤立性」を設定します。</a:t>
                </a: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また、自然現象のイベント時間は数分だったり数十分と色々考えられるので</a:t>
                </a:r>
              </a:p>
              <a:p>
                <a:pPr algn="just"/>
                <a:r>
                  <a:rPr lang="ja-JP"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プログラム上でも様々なイベント時間を網羅しつつ、かつ重複の無いイベントを最終的なリストに残すようになっています。</a:t>
                </a:r>
              </a:p>
              <a:p>
                <a:endParaRPr kumimoji="1" lang="en-US" altLang="ja-JP" dirty="0"/>
              </a:p>
            </p:txBody>
          </p:sp>
        </mc:Fallback>
      </mc:AlternateContent>
      <p:sp>
        <p:nvSpPr>
          <p:cNvPr id="4" name="スライド番号プレースホルダー 3"/>
          <p:cNvSpPr>
            <a:spLocks noGrp="1"/>
          </p:cNvSpPr>
          <p:nvPr>
            <p:ph type="sldNum" sz="quarter" idx="5"/>
          </p:nvPr>
        </p:nvSpPr>
        <p:spPr/>
        <p:txBody>
          <a:bodyPr/>
          <a:lstStyle/>
          <a:p>
            <a:fld id="{BE203DAF-BE02-439B-B205-0FA1F213605B}" type="slidenum">
              <a:rPr kumimoji="1" lang="ja-JP" altLang="en-US" smtClean="0"/>
              <a:t>10</a:t>
            </a:fld>
            <a:endParaRPr kumimoji="1" lang="ja-JP" altLang="en-US"/>
          </a:p>
        </p:txBody>
      </p:sp>
    </p:spTree>
    <p:extLst>
      <p:ext uri="{BB962C8B-B14F-4D97-AF65-F5344CB8AC3E}">
        <p14:creationId xmlns:p14="http://schemas.microsoft.com/office/powerpoint/2010/main" val="951726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お</a:t>
            </a:r>
            <a:endParaRPr kumimoji="1" lang="en-US" altLang="ja-JP" dirty="0"/>
          </a:p>
        </p:txBody>
      </p:sp>
      <p:sp>
        <p:nvSpPr>
          <p:cNvPr id="4" name="スライド番号プレースホルダー 3"/>
          <p:cNvSpPr>
            <a:spLocks noGrp="1"/>
          </p:cNvSpPr>
          <p:nvPr>
            <p:ph type="sldNum" sz="quarter" idx="5"/>
          </p:nvPr>
        </p:nvSpPr>
        <p:spPr/>
        <p:txBody>
          <a:bodyPr/>
          <a:lstStyle/>
          <a:p>
            <a:fld id="{BE203DAF-BE02-439B-B205-0FA1F213605B}" type="slidenum">
              <a:rPr kumimoji="1" lang="ja-JP" altLang="en-US" smtClean="0"/>
              <a:t>11</a:t>
            </a:fld>
            <a:endParaRPr kumimoji="1" lang="ja-JP" altLang="en-US"/>
          </a:p>
        </p:txBody>
      </p:sp>
    </p:spTree>
    <p:extLst>
      <p:ext uri="{BB962C8B-B14F-4D97-AF65-F5344CB8AC3E}">
        <p14:creationId xmlns:p14="http://schemas.microsoft.com/office/powerpoint/2010/main" val="3078053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87561-63CF-EBF3-314C-F298D9B289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1C7515-A0A1-2277-A387-440FAA7D04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D5DC2F5-A618-6D2A-E340-1E76CC9807C0}"/>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F6CB61C2-9A43-C831-AA1A-D70BFCD90168}"/>
              </a:ext>
            </a:extLst>
          </p:cNvPr>
          <p:cNvSpPr>
            <a:spLocks noGrp="1"/>
          </p:cNvSpPr>
          <p:nvPr>
            <p:ph type="sldNum" sz="quarter" idx="5"/>
          </p:nvPr>
        </p:nvSpPr>
        <p:spPr/>
        <p:txBody>
          <a:bodyPr/>
          <a:lstStyle/>
          <a:p>
            <a:fld id="{BE203DAF-BE02-439B-B205-0FA1F213605B}" type="slidenum">
              <a:rPr kumimoji="1" lang="ja-JP" altLang="en-US" smtClean="0"/>
              <a:t>12</a:t>
            </a:fld>
            <a:endParaRPr kumimoji="1" lang="ja-JP" altLang="en-US"/>
          </a:p>
        </p:txBody>
      </p:sp>
    </p:spTree>
    <p:extLst>
      <p:ext uri="{BB962C8B-B14F-4D97-AF65-F5344CB8AC3E}">
        <p14:creationId xmlns:p14="http://schemas.microsoft.com/office/powerpoint/2010/main" val="30811187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E203DAF-BE02-439B-B205-0FA1F213605B}" type="slidenum">
              <a:rPr kumimoji="1" lang="ja-JP" altLang="en-US" smtClean="0"/>
              <a:t>13</a:t>
            </a:fld>
            <a:endParaRPr kumimoji="1" lang="ja-JP" altLang="en-US"/>
          </a:p>
        </p:txBody>
      </p:sp>
    </p:spTree>
    <p:extLst>
      <p:ext uri="{BB962C8B-B14F-4D97-AF65-F5344CB8AC3E}">
        <p14:creationId xmlns:p14="http://schemas.microsoft.com/office/powerpoint/2010/main" val="333562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9B107F-F170-403A-B18D-A9F424F03280}" type="datetime1">
              <a:rPr kumimoji="1" lang="ja-JP" altLang="en-US" smtClean="0"/>
              <a:t>2026/1/19</a:t>
            </a:fld>
            <a:endParaRPr kumimoji="1" lang="ja-JP" altLang="en-US"/>
          </a:p>
        </p:txBody>
      </p:sp>
      <p:sp>
        <p:nvSpPr>
          <p:cNvPr id="3" name="Footer Placeholder 2"/>
          <p:cNvSpPr>
            <a:spLocks noGrp="1"/>
          </p:cNvSpPr>
          <p:nvPr>
            <p:ph type="ftr" sz="quarter" idx="11"/>
          </p:nvPr>
        </p:nvSpPr>
        <p:spPr/>
        <p:txBody>
          <a:bodyPr/>
          <a:lstStyle/>
          <a:p>
            <a:r>
              <a:rPr kumimoji="1" lang="ja-JP" altLang="en-US"/>
              <a:t>１</a:t>
            </a:r>
            <a:r>
              <a:rPr kumimoji="1" lang="en-US" altLang="ja-JP"/>
              <a:t>.</a:t>
            </a:r>
            <a:r>
              <a:rPr kumimoji="1" lang="ja-JP" altLang="en-US"/>
              <a:t>はじめに</a:t>
            </a:r>
          </a:p>
        </p:txBody>
      </p:sp>
      <p:sp>
        <p:nvSpPr>
          <p:cNvPr id="4" name="Slide Number Placeholder 3"/>
          <p:cNvSpPr>
            <a:spLocks noGrp="1"/>
          </p:cNvSpPr>
          <p:nvPr>
            <p:ph type="sldNum" sz="quarter" idx="12"/>
          </p:nvPr>
        </p:nvSpPr>
        <p:spPr/>
        <p:txBody>
          <a:bodyPr/>
          <a:lstStyle/>
          <a:p>
            <a:fld id="{64CB874E-7757-4857-A4C4-0DB3B18B6FA4}" type="slidenum">
              <a:rPr kumimoji="1" lang="ja-JP" altLang="en-US" smtClean="0"/>
              <a:t>‹#›</a:t>
            </a:fld>
            <a:endParaRPr kumimoji="1" lang="ja-JP" altLang="en-US"/>
          </a:p>
        </p:txBody>
      </p:sp>
    </p:spTree>
    <p:extLst>
      <p:ext uri="{BB962C8B-B14F-4D97-AF65-F5344CB8AC3E}">
        <p14:creationId xmlns:p14="http://schemas.microsoft.com/office/powerpoint/2010/main" val="2779924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C0C5B7C-E260-4CF1-86C9-6C49297AC157}" type="datetime1">
              <a:rPr kumimoji="1" lang="ja-JP" altLang="en-US" smtClean="0"/>
              <a:t>2026/1/19</a:t>
            </a:fld>
            <a:endParaRPr kumimoji="1" lang="ja-JP" altLang="en-US"/>
          </a:p>
        </p:txBody>
      </p:sp>
      <p:sp>
        <p:nvSpPr>
          <p:cNvPr id="5" name="Footer Placeholder 4"/>
          <p:cNvSpPr>
            <a:spLocks noGrp="1"/>
          </p:cNvSpPr>
          <p:nvPr>
            <p:ph type="ftr" sz="quarter" idx="11"/>
          </p:nvPr>
        </p:nvSpPr>
        <p:spPr/>
        <p:txBody>
          <a:bodyPr/>
          <a:lstStyle/>
          <a:p>
            <a:r>
              <a:rPr kumimoji="1" lang="ja-JP" altLang="en-US"/>
              <a:t>１</a:t>
            </a:r>
            <a:r>
              <a:rPr kumimoji="1" lang="en-US" altLang="ja-JP"/>
              <a:t>.</a:t>
            </a:r>
            <a:r>
              <a:rPr kumimoji="1" lang="ja-JP" altLang="en-US"/>
              <a:t>はじめに</a:t>
            </a:r>
          </a:p>
        </p:txBody>
      </p:sp>
      <p:sp>
        <p:nvSpPr>
          <p:cNvPr id="6" name="Slide Number Placeholder 5"/>
          <p:cNvSpPr>
            <a:spLocks noGrp="1"/>
          </p:cNvSpPr>
          <p:nvPr>
            <p:ph type="sldNum" sz="quarter" idx="12"/>
          </p:nvPr>
        </p:nvSpPr>
        <p:spPr/>
        <p:txBody>
          <a:bodyPr/>
          <a:lstStyle/>
          <a:p>
            <a:fld id="{64CB874E-7757-4857-A4C4-0DB3B18B6FA4}" type="slidenum">
              <a:rPr kumimoji="1" lang="ja-JP" altLang="en-US" smtClean="0"/>
              <a:pPr/>
              <a:t>‹#›</a:t>
            </a:fld>
            <a:endParaRPr kumimoji="1" lang="ja-JP" altLang="en-US" dirty="0"/>
          </a:p>
        </p:txBody>
      </p:sp>
    </p:spTree>
    <p:extLst>
      <p:ext uri="{BB962C8B-B14F-4D97-AF65-F5344CB8AC3E}">
        <p14:creationId xmlns:p14="http://schemas.microsoft.com/office/powerpoint/2010/main" val="1525941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08D876B-F941-4A0D-9320-7A83F6894EC9}" type="datetime1">
              <a:rPr kumimoji="1" lang="ja-JP" altLang="en-US" smtClean="0"/>
              <a:t>2026/1/19</a:t>
            </a:fld>
            <a:endParaRPr kumimoji="1" lang="ja-JP" altLang="en-US"/>
          </a:p>
        </p:txBody>
      </p:sp>
      <p:sp>
        <p:nvSpPr>
          <p:cNvPr id="4" name="Footer Placeholder 3"/>
          <p:cNvSpPr>
            <a:spLocks noGrp="1"/>
          </p:cNvSpPr>
          <p:nvPr>
            <p:ph type="ftr" sz="quarter" idx="11"/>
          </p:nvPr>
        </p:nvSpPr>
        <p:spPr/>
        <p:txBody>
          <a:bodyPr/>
          <a:lstStyle/>
          <a:p>
            <a:r>
              <a:rPr kumimoji="1" lang="ja-JP" altLang="en-US"/>
              <a:t>１</a:t>
            </a:r>
            <a:r>
              <a:rPr kumimoji="1" lang="en-US" altLang="ja-JP"/>
              <a:t>.</a:t>
            </a:r>
            <a:r>
              <a:rPr kumimoji="1" lang="ja-JP" altLang="en-US"/>
              <a:t>はじめに</a:t>
            </a:r>
          </a:p>
        </p:txBody>
      </p:sp>
      <p:sp>
        <p:nvSpPr>
          <p:cNvPr id="5" name="Slide Number Placeholder 4"/>
          <p:cNvSpPr>
            <a:spLocks noGrp="1"/>
          </p:cNvSpPr>
          <p:nvPr>
            <p:ph type="sldNum" sz="quarter" idx="12"/>
          </p:nvPr>
        </p:nvSpPr>
        <p:spPr/>
        <p:txBody>
          <a:bodyPr/>
          <a:lstStyle/>
          <a:p>
            <a:fld id="{64CB874E-7757-4857-A4C4-0DB3B18B6FA4}" type="slidenum">
              <a:rPr kumimoji="1" lang="ja-JP" altLang="en-US" smtClean="0"/>
              <a:t>‹#›</a:t>
            </a:fld>
            <a:endParaRPr kumimoji="1" lang="ja-JP" altLang="en-US"/>
          </a:p>
        </p:txBody>
      </p:sp>
    </p:spTree>
    <p:extLst>
      <p:ext uri="{BB962C8B-B14F-4D97-AF65-F5344CB8AC3E}">
        <p14:creationId xmlns:p14="http://schemas.microsoft.com/office/powerpoint/2010/main" val="17275447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BCFEFECA-7F62-4B2C-84B8-4AE98608C2C0}" type="datetime1">
              <a:rPr kumimoji="1" lang="ja-JP" altLang="en-US" smtClean="0"/>
              <a:t>2026/1/19</a:t>
            </a:fld>
            <a:endParaRPr kumimoji="1" lang="ja-JP" alt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r>
              <a:rPr kumimoji="1" lang="ja-JP" altLang="en-US"/>
              <a:t>１</a:t>
            </a:r>
            <a:r>
              <a:rPr kumimoji="1" lang="en-US" altLang="ja-JP"/>
              <a:t>.</a:t>
            </a:r>
            <a:r>
              <a:rPr kumimoji="1" lang="ja-JP" altLang="en-US"/>
              <a:t>はじめに</a:t>
            </a: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64CB874E-7757-4857-A4C4-0DB3B18B6FA4}" type="slidenum">
              <a:rPr kumimoji="1" lang="ja-JP" altLang="en-US" smtClean="0"/>
              <a:t>‹#›</a:t>
            </a:fld>
            <a:endParaRPr kumimoji="1" lang="ja-JP" altLang="en-US"/>
          </a:p>
        </p:txBody>
      </p:sp>
    </p:spTree>
    <p:extLst>
      <p:ext uri="{BB962C8B-B14F-4D97-AF65-F5344CB8AC3E}">
        <p14:creationId xmlns:p14="http://schemas.microsoft.com/office/powerpoint/2010/main" val="584819977"/>
      </p:ext>
    </p:extLst>
  </p:cSld>
  <p:clrMap bg1="lt1" tx1="dk1" bg2="lt2" tx2="dk2" accent1="accent1" accent2="accent2" accent3="accent3" accent4="accent4" accent5="accent5" accent6="accent6" hlink="hlink" folHlink="folHlink"/>
  <p:sldLayoutIdLst>
    <p:sldLayoutId id="2147483756" r:id="rId1"/>
    <p:sldLayoutId id="2147483751" r:id="rId2"/>
    <p:sldLayoutId id="2147483755" r:id="rId3"/>
  </p:sldLayoutIdLst>
  <p:hf hdr="0" ftr="0" dt="0"/>
  <p:txStyles>
    <p:titleStyle>
      <a:lvl1pPr algn="l" defTabSz="914400" rtl="0" eaLnBrk="1" latinLnBrk="0" hangingPunct="1">
        <a:lnSpc>
          <a:spcPct val="90000"/>
        </a:lnSpc>
        <a:spcBef>
          <a:spcPct val="0"/>
        </a:spcBef>
        <a:buNone/>
        <a:defRPr kumimoji="1"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kumimoji="1"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kumimoji="1"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kumimoji="1"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kumimoji="1"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kumimoji="1"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kumimoji="1"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kumimoji="1"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kumimoji="1"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kumimoji="1"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59873D-FA12-4A3E-A66D-00AD38DFED7D}"/>
              </a:ext>
            </a:extLst>
          </p:cNvPr>
          <p:cNvSpPr>
            <a:spLocks noGrp="1"/>
          </p:cNvSpPr>
          <p:nvPr>
            <p:ph type="title"/>
          </p:nvPr>
        </p:nvSpPr>
        <p:spPr>
          <a:xfrm>
            <a:off x="179798" y="1605587"/>
            <a:ext cx="11003622" cy="1823413"/>
          </a:xfrm>
        </p:spPr>
        <p:txBody>
          <a:bodyPr>
            <a:normAutofit/>
          </a:bodyPr>
          <a:lstStyle/>
          <a:p>
            <a:pPr algn="ctr"/>
            <a:r>
              <a:rPr lang="en-US" altLang="ja-JP" dirty="0"/>
              <a:t>EE-index</a:t>
            </a:r>
            <a:r>
              <a:rPr lang="ja-JP" altLang="en-US"/>
              <a:t>を用いた特異型</a:t>
            </a:r>
            <a:r>
              <a:rPr lang="en-US" altLang="ja-JP" dirty="0"/>
              <a:t>EEJ</a:t>
            </a:r>
            <a:r>
              <a:rPr lang="ja-JP" altLang="en-US"/>
              <a:t>の発生特性の解明</a:t>
            </a:r>
            <a:endParaRPr kumimoji="1" lang="ja-JP" altLang="en-US" sz="4000" dirty="0"/>
          </a:p>
        </p:txBody>
      </p:sp>
      <p:sp>
        <p:nvSpPr>
          <p:cNvPr id="3" name="字幕 2">
            <a:extLst>
              <a:ext uri="{FF2B5EF4-FFF2-40B4-BE49-F238E27FC236}">
                <a16:creationId xmlns:a16="http://schemas.microsoft.com/office/drawing/2014/main" id="{8E5DA725-4209-4D3F-82CE-5B794CC9D1DF}"/>
              </a:ext>
            </a:extLst>
          </p:cNvPr>
          <p:cNvSpPr>
            <a:spLocks noGrp="1"/>
          </p:cNvSpPr>
          <p:nvPr>
            <p:ph type="subTitle" idx="4294967295"/>
          </p:nvPr>
        </p:nvSpPr>
        <p:spPr>
          <a:xfrm>
            <a:off x="5681609" y="3996648"/>
            <a:ext cx="4931595" cy="842481"/>
          </a:xfrm>
        </p:spPr>
        <p:txBody>
          <a:bodyPr>
            <a:normAutofit/>
          </a:bodyPr>
          <a:lstStyle/>
          <a:p>
            <a:pPr marL="0" indent="0">
              <a:buNone/>
            </a:pPr>
            <a:r>
              <a:rPr kumimoji="1" lang="ja-JP" altLang="en-US" sz="2400" dirty="0">
                <a:solidFill>
                  <a:schemeClr val="tx1"/>
                </a:solidFill>
              </a:rPr>
              <a:t>宇宙地球</a:t>
            </a:r>
            <a:r>
              <a:rPr kumimoji="1" lang="ja-JP" altLang="en-US" sz="2400">
                <a:solidFill>
                  <a:schemeClr val="tx1"/>
                </a:solidFill>
              </a:rPr>
              <a:t>電磁気学分野</a:t>
            </a:r>
            <a:r>
              <a:rPr kumimoji="1" lang="en-US" altLang="ja-JP" sz="2400" dirty="0">
                <a:solidFill>
                  <a:schemeClr val="tx1"/>
                </a:solidFill>
              </a:rPr>
              <a:t> </a:t>
            </a:r>
            <a:r>
              <a:rPr kumimoji="1" lang="ja-JP" altLang="en-US" sz="2400">
                <a:solidFill>
                  <a:schemeClr val="tx1"/>
                </a:solidFill>
              </a:rPr>
              <a:t>菊池裕夢　</a:t>
            </a:r>
            <a:endParaRPr kumimoji="1" lang="ja-JP" altLang="en-US" sz="2400" dirty="0">
              <a:solidFill>
                <a:schemeClr val="tx1"/>
              </a:solidFill>
            </a:endParaRPr>
          </a:p>
        </p:txBody>
      </p:sp>
      <p:sp>
        <p:nvSpPr>
          <p:cNvPr id="5" name="スライド番号プレースホルダー 4">
            <a:extLst>
              <a:ext uri="{FF2B5EF4-FFF2-40B4-BE49-F238E27FC236}">
                <a16:creationId xmlns:a16="http://schemas.microsoft.com/office/drawing/2014/main" id="{9ADC6B03-79E6-9D8F-75CD-482EED0CCD5B}"/>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1</a:t>
            </a:fld>
            <a:endParaRPr kumimoji="1" lang="ja-JP" altLang="en-US"/>
          </a:p>
        </p:txBody>
      </p:sp>
    </p:spTree>
    <p:extLst>
      <p:ext uri="{BB962C8B-B14F-4D97-AF65-F5344CB8AC3E}">
        <p14:creationId xmlns:p14="http://schemas.microsoft.com/office/powerpoint/2010/main" val="1443025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7AE94F-A073-EF3B-4511-DAB9C1D78901}"/>
              </a:ext>
            </a:extLst>
          </p:cNvPr>
          <p:cNvSpPr>
            <a:spLocks noGrp="1"/>
          </p:cNvSpPr>
          <p:nvPr>
            <p:ph type="title"/>
          </p:nvPr>
        </p:nvSpPr>
        <p:spPr>
          <a:xfrm>
            <a:off x="421900" y="482483"/>
            <a:ext cx="3373923" cy="591170"/>
          </a:xfrm>
        </p:spPr>
        <p:txBody>
          <a:bodyPr>
            <a:normAutofit/>
          </a:bodyPr>
          <a:lstStyle/>
          <a:p>
            <a:r>
              <a:rPr kumimoji="1" lang="ja-JP" altLang="en-US" sz="3200" dirty="0"/>
              <a:t>発表概要</a:t>
            </a:r>
          </a:p>
        </p:txBody>
      </p:sp>
      <p:sp>
        <p:nvSpPr>
          <p:cNvPr id="3" name="スライド番号プレースホルダー 2">
            <a:extLst>
              <a:ext uri="{FF2B5EF4-FFF2-40B4-BE49-F238E27FC236}">
                <a16:creationId xmlns:a16="http://schemas.microsoft.com/office/drawing/2014/main" id="{D0048131-FE9F-A71B-521F-C6F1257D858F}"/>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2</a:t>
            </a:fld>
            <a:endParaRPr kumimoji="1" lang="ja-JP" altLang="en-US"/>
          </a:p>
        </p:txBody>
      </p:sp>
      <p:sp>
        <p:nvSpPr>
          <p:cNvPr id="4" name="テキスト ボックス 3">
            <a:extLst>
              <a:ext uri="{FF2B5EF4-FFF2-40B4-BE49-F238E27FC236}">
                <a16:creationId xmlns:a16="http://schemas.microsoft.com/office/drawing/2014/main" id="{06EC6AA2-FDF9-B2D0-101F-1AFCCD9E7E19}"/>
              </a:ext>
            </a:extLst>
          </p:cNvPr>
          <p:cNvSpPr txBox="1"/>
          <p:nvPr/>
        </p:nvSpPr>
        <p:spPr>
          <a:xfrm>
            <a:off x="1041991" y="1541721"/>
            <a:ext cx="7251404" cy="3539430"/>
          </a:xfrm>
          <a:prstGeom prst="rect">
            <a:avLst/>
          </a:prstGeom>
          <a:noFill/>
        </p:spPr>
        <p:txBody>
          <a:bodyPr wrap="square" rtlCol="0">
            <a:spAutoFit/>
          </a:bodyPr>
          <a:lstStyle/>
          <a:p>
            <a:r>
              <a:rPr lang="ja-JP" altLang="en-US" sz="3200"/>
              <a:t>１．背景</a:t>
            </a:r>
            <a:endParaRPr lang="en-US" altLang="ja-JP" sz="3200" dirty="0"/>
          </a:p>
          <a:p>
            <a:endParaRPr kumimoji="1" lang="en-US" altLang="ja-JP" sz="3200" dirty="0"/>
          </a:p>
          <a:p>
            <a:r>
              <a:rPr lang="ja-JP" altLang="en-US" sz="3200"/>
              <a:t>２．先行研究・目的</a:t>
            </a:r>
            <a:endParaRPr lang="en-US" altLang="ja-JP" sz="3200" dirty="0"/>
          </a:p>
          <a:p>
            <a:endParaRPr kumimoji="1" lang="en-US" altLang="ja-JP" sz="3200" dirty="0"/>
          </a:p>
          <a:p>
            <a:r>
              <a:rPr lang="ja-JP" altLang="en-US" sz="3200" dirty="0"/>
              <a:t>３．結果</a:t>
            </a:r>
            <a:endParaRPr lang="en-US" altLang="ja-JP" sz="3200" dirty="0"/>
          </a:p>
          <a:p>
            <a:endParaRPr kumimoji="1" lang="en-US" altLang="ja-JP" sz="3200" dirty="0"/>
          </a:p>
          <a:p>
            <a:r>
              <a:rPr kumimoji="1" lang="ja-JP" altLang="en-US" sz="3200" dirty="0"/>
              <a:t>４．まとめ</a:t>
            </a:r>
          </a:p>
        </p:txBody>
      </p:sp>
    </p:spTree>
    <p:extLst>
      <p:ext uri="{BB962C8B-B14F-4D97-AF65-F5344CB8AC3E}">
        <p14:creationId xmlns:p14="http://schemas.microsoft.com/office/powerpoint/2010/main" val="1197085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C9276-E4B0-923B-3664-6990530C58F1}"/>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9E4387B4-DA59-ECA3-356D-8FE98A53F19B}"/>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3</a:t>
            </a:fld>
            <a:endParaRPr kumimoji="1" lang="ja-JP" altLang="en-US"/>
          </a:p>
        </p:txBody>
      </p:sp>
      <p:sp>
        <p:nvSpPr>
          <p:cNvPr id="2" name="テキスト ボックス 1">
            <a:extLst>
              <a:ext uri="{FF2B5EF4-FFF2-40B4-BE49-F238E27FC236}">
                <a16:creationId xmlns:a16="http://schemas.microsoft.com/office/drawing/2014/main" id="{D41C0229-C0F1-9471-514F-298B204EC26C}"/>
              </a:ext>
            </a:extLst>
          </p:cNvPr>
          <p:cNvSpPr txBox="1"/>
          <p:nvPr/>
        </p:nvSpPr>
        <p:spPr>
          <a:xfrm>
            <a:off x="305139" y="1284647"/>
            <a:ext cx="10607629" cy="1015663"/>
          </a:xfrm>
          <a:prstGeom prst="rect">
            <a:avLst/>
          </a:prstGeom>
          <a:noFill/>
        </p:spPr>
        <p:txBody>
          <a:bodyPr wrap="square">
            <a:spAutoFit/>
          </a:bodyPr>
          <a:lstStyle/>
          <a:p>
            <a:r>
              <a:rPr lang="en-US" altLang="ja-JP" sz="2000" dirty="0">
                <a:latin typeface="Hiragino Kaku Gothic Pro W3" panose="020B0300000000000000" pitchFamily="34" charset="-128"/>
                <a:ea typeface="Hiragino Kaku Gothic Pro W3" panose="020B0300000000000000" pitchFamily="34" charset="-128"/>
              </a:rPr>
              <a:t>EE-index</a:t>
            </a:r>
            <a:r>
              <a:rPr lang="ja-JP" altLang="en-US" sz="2000" dirty="0">
                <a:latin typeface="Hiragino Kaku Gothic Pro W3" panose="020B0300000000000000" pitchFamily="34" charset="-128"/>
                <a:ea typeface="Hiragino Kaku Gothic Pro W3" panose="020B0300000000000000" pitchFamily="34" charset="-128"/>
              </a:rPr>
              <a:t>は、低緯度・磁気赤道観測点の磁場変動をモニタリングするために、</a:t>
            </a:r>
            <a:r>
              <a:rPr lang="en-US" altLang="ja-JP" sz="2000" dirty="0">
                <a:latin typeface="Hiragino Kaku Gothic Pro W3" panose="020B0300000000000000" pitchFamily="34" charset="-128"/>
                <a:ea typeface="Hiragino Kaku Gothic Pro W3" panose="020B0300000000000000" pitchFamily="34" charset="-128"/>
              </a:rPr>
              <a:t> MAGDAS</a:t>
            </a:r>
            <a:r>
              <a:rPr lang="ja-JP" altLang="en-US" sz="2000" dirty="0">
                <a:latin typeface="Hiragino Kaku Gothic Pro W3" panose="020B0300000000000000" pitchFamily="34" charset="-128"/>
                <a:ea typeface="Hiragino Kaku Gothic Pro W3" panose="020B0300000000000000" pitchFamily="34" charset="-128"/>
              </a:rPr>
              <a:t>が所有する磁気赤道観測点の地上磁場</a:t>
            </a:r>
            <a:r>
              <a:rPr lang="en-US" altLang="ja-JP" sz="2000" dirty="0">
                <a:latin typeface="Hiragino Kaku Gothic Pro W3" panose="020B0300000000000000" pitchFamily="34" charset="-128"/>
                <a:ea typeface="Hiragino Kaku Gothic Pro W3" panose="020B0300000000000000" pitchFamily="34" charset="-128"/>
              </a:rPr>
              <a:t>H</a:t>
            </a:r>
            <a:r>
              <a:rPr lang="ja-JP" altLang="en-US" sz="2000" dirty="0">
                <a:latin typeface="Hiragino Kaku Gothic Pro W3" panose="020B0300000000000000" pitchFamily="34" charset="-128"/>
                <a:ea typeface="Hiragino Kaku Gothic Pro W3" panose="020B0300000000000000" pitchFamily="34" charset="-128"/>
              </a:rPr>
              <a:t>成分データから算出される </a:t>
            </a:r>
            <a:endParaRPr lang="en-US" altLang="ja-JP" sz="2000" dirty="0">
              <a:latin typeface="Hiragino Kaku Gothic Pro W3" panose="020B0300000000000000" pitchFamily="34" charset="-128"/>
              <a:ea typeface="Hiragino Kaku Gothic Pro W3" panose="020B0300000000000000" pitchFamily="34" charset="-128"/>
            </a:endParaRPr>
          </a:p>
          <a:p>
            <a:r>
              <a:rPr lang="en-US" altLang="ja-JP" sz="2000" dirty="0">
                <a:latin typeface="Hiragino Kaku Gothic Pro W3" panose="020B0300000000000000" pitchFamily="34" charset="-128"/>
                <a:ea typeface="Hiragino Kaku Gothic Pro W3" panose="020B0300000000000000" pitchFamily="34" charset="-128"/>
              </a:rPr>
              <a:t>[</a:t>
            </a:r>
            <a:r>
              <a:rPr lang="en-US" altLang="ja-JP" sz="2000" dirty="0" err="1">
                <a:latin typeface="Hiragino Kaku Gothic Pro W3" panose="020B0300000000000000" pitchFamily="34" charset="-128"/>
                <a:ea typeface="Hiragino Kaku Gothic Pro W3" panose="020B0300000000000000" pitchFamily="34" charset="-128"/>
              </a:rPr>
              <a:t>Uozumi</a:t>
            </a:r>
            <a:r>
              <a:rPr lang="en-US" altLang="ja-JP" sz="2000" dirty="0">
                <a:latin typeface="Hiragino Kaku Gothic Pro W3" panose="020B0300000000000000" pitchFamily="34" charset="-128"/>
                <a:ea typeface="Hiragino Kaku Gothic Pro W3" panose="020B0300000000000000" pitchFamily="34" charset="-128"/>
              </a:rPr>
              <a:t> et al., 2008</a:t>
            </a:r>
            <a:r>
              <a:rPr lang="ja-JP" altLang="en-US" sz="2000" dirty="0">
                <a:latin typeface="Hiragino Kaku Gothic Pro W3" panose="020B0300000000000000" pitchFamily="34" charset="-128"/>
                <a:ea typeface="Hiragino Kaku Gothic Pro W3" panose="020B0300000000000000" pitchFamily="34" charset="-128"/>
              </a:rPr>
              <a:t>、</a:t>
            </a:r>
            <a:r>
              <a:rPr lang="en-US" altLang="ja-JP" sz="2000" dirty="0">
                <a:latin typeface="Hiragino Kaku Gothic Pro W3" panose="020B0300000000000000" pitchFamily="34" charset="-128"/>
                <a:ea typeface="Hiragino Kaku Gothic Pro W3" panose="020B0300000000000000" pitchFamily="34" charset="-128"/>
              </a:rPr>
              <a:t>Fujimoto et al., 2016]</a:t>
            </a:r>
          </a:p>
        </p:txBody>
      </p:sp>
      <p:sp>
        <p:nvSpPr>
          <p:cNvPr id="6" name="テキスト ボックス 5">
            <a:extLst>
              <a:ext uri="{FF2B5EF4-FFF2-40B4-BE49-F238E27FC236}">
                <a16:creationId xmlns:a16="http://schemas.microsoft.com/office/drawing/2014/main" id="{90C87ADA-96B4-7F88-0919-C085AAA5E057}"/>
              </a:ext>
            </a:extLst>
          </p:cNvPr>
          <p:cNvSpPr txBox="1"/>
          <p:nvPr/>
        </p:nvSpPr>
        <p:spPr>
          <a:xfrm>
            <a:off x="186267" y="2859639"/>
            <a:ext cx="6032557" cy="2189702"/>
          </a:xfrm>
          <a:prstGeom prst="rect">
            <a:avLst/>
          </a:prstGeom>
          <a:noFill/>
        </p:spPr>
        <p:txBody>
          <a:bodyPr wrap="square" rtlCol="0">
            <a:spAutoFit/>
          </a:bodyPr>
          <a:lstStyle/>
          <a:p>
            <a:r>
              <a:rPr lang="en-US" altLang="ja-JP" sz="2000" b="1" dirty="0">
                <a:latin typeface="Hiragino Kaku Gothic Pro W3" panose="020B0300000000000000" pitchFamily="34" charset="-128"/>
                <a:ea typeface="Hiragino Kaku Gothic Pro W3" panose="020B0300000000000000" pitchFamily="34" charset="-128"/>
              </a:rPr>
              <a:t>EE-index: </a:t>
            </a:r>
            <a:r>
              <a:rPr lang="en-US" altLang="ja-JP" sz="2000" b="1" dirty="0" err="1">
                <a:solidFill>
                  <a:schemeClr val="accent5"/>
                </a:solidFill>
                <a:latin typeface="Hiragino Kaku Gothic Pro W3" panose="020B0300000000000000" pitchFamily="34" charset="-128"/>
                <a:ea typeface="Hiragino Kaku Gothic Pro W3" panose="020B0300000000000000" pitchFamily="34" charset="-128"/>
              </a:rPr>
              <a:t>EDst</a:t>
            </a:r>
            <a:r>
              <a:rPr lang="ja-JP" altLang="en-US" sz="2000" b="1" dirty="0">
                <a:latin typeface="Hiragino Kaku Gothic Pro W3" panose="020B0300000000000000" pitchFamily="34" charset="-128"/>
                <a:ea typeface="Hiragino Kaku Gothic Pro W3" panose="020B0300000000000000" pitchFamily="34" charset="-128"/>
              </a:rPr>
              <a:t>と</a:t>
            </a:r>
            <a:r>
              <a:rPr lang="en-US" altLang="ja-JP" sz="2000" b="1" dirty="0">
                <a:solidFill>
                  <a:srgbClr val="FF0000"/>
                </a:solidFill>
                <a:latin typeface="Hiragino Kaku Gothic Pro W3" panose="020B0300000000000000" pitchFamily="34" charset="-128"/>
                <a:ea typeface="Hiragino Kaku Gothic Pro W3" panose="020B0300000000000000" pitchFamily="34" charset="-128"/>
              </a:rPr>
              <a:t>EUEL</a:t>
            </a:r>
            <a:r>
              <a:rPr lang="ja-JP" altLang="en-US" sz="2000" b="1" dirty="0">
                <a:latin typeface="Hiragino Kaku Gothic Pro W3" panose="020B0300000000000000" pitchFamily="34" charset="-128"/>
                <a:ea typeface="Hiragino Kaku Gothic Pro W3" panose="020B0300000000000000" pitchFamily="34" charset="-128"/>
              </a:rPr>
              <a:t>の</a:t>
            </a:r>
            <a:r>
              <a:rPr lang="en-US" altLang="ja-JP" sz="2000" b="1" dirty="0">
                <a:latin typeface="Hiragino Kaku Gothic Pro W3" panose="020B0300000000000000" pitchFamily="34" charset="-128"/>
                <a:ea typeface="Hiragino Kaku Gothic Pro W3" panose="020B0300000000000000" pitchFamily="34" charset="-128"/>
              </a:rPr>
              <a:t>2</a:t>
            </a:r>
            <a:r>
              <a:rPr lang="ja-JP" altLang="en-US" sz="2000" b="1" err="1">
                <a:latin typeface="Hiragino Kaku Gothic Pro W3" panose="020B0300000000000000" pitchFamily="34" charset="-128"/>
                <a:ea typeface="Hiragino Kaku Gothic Pro W3" panose="020B0300000000000000" pitchFamily="34" charset="-128"/>
              </a:rPr>
              <a:t>つの</a:t>
            </a:r>
            <a:r>
              <a:rPr lang="ja-JP" altLang="en-US" sz="2000" b="1">
                <a:latin typeface="Hiragino Kaku Gothic Pro W3" panose="020B0300000000000000" pitchFamily="34" charset="-128"/>
                <a:ea typeface="Hiragino Kaku Gothic Pro W3" panose="020B0300000000000000" pitchFamily="34" charset="-128"/>
              </a:rPr>
              <a:t>指数の総称</a:t>
            </a:r>
            <a:endParaRPr lang="en-US" altLang="ja-JP" sz="2000" b="1" dirty="0">
              <a:latin typeface="Hiragino Kaku Gothic Pro W3" panose="020B0300000000000000" pitchFamily="34" charset="-128"/>
              <a:ea typeface="Hiragino Kaku Gothic Pro W3" panose="020B0300000000000000" pitchFamily="34" charset="-128"/>
            </a:endParaRPr>
          </a:p>
          <a:p>
            <a:pPr marL="457200" indent="-457200">
              <a:lnSpc>
                <a:spcPct val="150000"/>
              </a:lnSpc>
              <a:buFont typeface="Arial" panose="020B0604020202020204" pitchFamily="34" charset="0"/>
              <a:buChar char="•"/>
            </a:pPr>
            <a:r>
              <a:rPr lang="en-US" altLang="ja-JP" sz="2000" b="1" dirty="0" err="1">
                <a:solidFill>
                  <a:schemeClr val="accent5"/>
                </a:solidFill>
                <a:latin typeface="Hiragino Kaku Gothic Pro W3" panose="020B0300000000000000" pitchFamily="34" charset="-128"/>
                <a:ea typeface="Hiragino Kaku Gothic Pro W3" panose="020B0300000000000000" pitchFamily="34" charset="-128"/>
              </a:rPr>
              <a:t>EDst</a:t>
            </a:r>
            <a:r>
              <a:rPr lang="en-US" altLang="ja-JP" sz="2000" dirty="0">
                <a:latin typeface="Hiragino Kaku Gothic Pro W3" panose="020B0300000000000000" pitchFamily="34" charset="-128"/>
                <a:ea typeface="Hiragino Kaku Gothic Pro W3" panose="020B0300000000000000" pitchFamily="34" charset="-128"/>
              </a:rPr>
              <a:t>: </a:t>
            </a:r>
            <a:r>
              <a:rPr lang="ja-JP" altLang="en-US" sz="2000" dirty="0">
                <a:latin typeface="Hiragino Kaku Gothic Pro W3" panose="020B0300000000000000" pitchFamily="34" charset="-128"/>
                <a:ea typeface="Hiragino Kaku Gothic Pro W3" panose="020B0300000000000000" pitchFamily="34" charset="-128"/>
              </a:rPr>
              <a:t>磁気圏起因の現象（磁気嵐など</a:t>
            </a:r>
            <a:r>
              <a:rPr lang="ja-JP" altLang="en-US" sz="2000">
                <a:latin typeface="Hiragino Kaku Gothic Pro W3" panose="020B0300000000000000" pitchFamily="34" charset="-128"/>
                <a:ea typeface="Hiragino Kaku Gothic Pro W3" panose="020B0300000000000000" pitchFamily="34" charset="-128"/>
              </a:rPr>
              <a:t>）グローバルな</a:t>
            </a:r>
            <a:r>
              <a:rPr lang="ja-JP" altLang="en-US" sz="2000" dirty="0">
                <a:latin typeface="Hiragino Kaku Gothic Pro W3" panose="020B0300000000000000" pitchFamily="34" charset="-128"/>
                <a:ea typeface="Hiragino Kaku Gothic Pro W3" panose="020B0300000000000000" pitchFamily="34" charset="-128"/>
              </a:rPr>
              <a:t>電流による磁場変動</a:t>
            </a:r>
            <a:endParaRPr lang="en-US" altLang="ja-JP" sz="2000" dirty="0">
              <a:latin typeface="Hiragino Kaku Gothic Pro W3" panose="020B0300000000000000" pitchFamily="34" charset="-128"/>
              <a:ea typeface="Hiragino Kaku Gothic Pro W3" panose="020B0300000000000000" pitchFamily="34" charset="-128"/>
            </a:endParaRPr>
          </a:p>
          <a:p>
            <a:pPr marL="457200" indent="-457200">
              <a:lnSpc>
                <a:spcPct val="150000"/>
              </a:lnSpc>
              <a:buFont typeface="Arial" panose="020B0604020202020204" pitchFamily="34" charset="0"/>
              <a:buChar char="•"/>
            </a:pPr>
            <a:r>
              <a:rPr lang="en-US" altLang="ja-JP" sz="2000" b="1" dirty="0">
                <a:solidFill>
                  <a:srgbClr val="FF0000"/>
                </a:solidFill>
                <a:latin typeface="Hiragino Kaku Gothic Pro W3" panose="020B0300000000000000" pitchFamily="34" charset="-128"/>
                <a:ea typeface="Hiragino Kaku Gothic Pro W3" panose="020B0300000000000000" pitchFamily="34" charset="-128"/>
              </a:rPr>
              <a:t>EUEL</a:t>
            </a:r>
            <a:r>
              <a:rPr lang="en-US" altLang="ja-JP" sz="2000" dirty="0">
                <a:latin typeface="Hiragino Kaku Gothic Pro W3" panose="020B0300000000000000" pitchFamily="34" charset="-128"/>
                <a:ea typeface="Hiragino Kaku Gothic Pro W3" panose="020B0300000000000000" pitchFamily="34" charset="-128"/>
              </a:rPr>
              <a:t>: </a:t>
            </a:r>
            <a:r>
              <a:rPr lang="ja-JP" altLang="en-US" sz="2000" dirty="0">
                <a:latin typeface="Hiragino Kaku Gothic Pro W3" panose="020B0300000000000000" pitchFamily="34" charset="-128"/>
                <a:ea typeface="Hiragino Kaku Gothic Pro W3" panose="020B0300000000000000" pitchFamily="34" charset="-128"/>
              </a:rPr>
              <a:t>電離圏起因の現象（</a:t>
            </a:r>
            <a:r>
              <a:rPr lang="en-US" altLang="ja-JP" sz="2000" dirty="0" err="1">
                <a:latin typeface="Hiragino Kaku Gothic Pro W3" panose="020B0300000000000000" pitchFamily="34" charset="-128"/>
                <a:ea typeface="Hiragino Kaku Gothic Pro W3" panose="020B0300000000000000" pitchFamily="34" charset="-128"/>
              </a:rPr>
              <a:t>Sq+EEJ</a:t>
            </a:r>
            <a:r>
              <a:rPr lang="ja-JP" altLang="en-US" sz="2000" dirty="0">
                <a:latin typeface="Hiragino Kaku Gothic Pro W3" panose="020B0300000000000000" pitchFamily="34" charset="-128"/>
                <a:ea typeface="Hiragino Kaku Gothic Pro W3" panose="020B0300000000000000" pitchFamily="34" charset="-128"/>
              </a:rPr>
              <a:t>電流など）ローカルな電流による磁場変動</a:t>
            </a:r>
            <a:endParaRPr lang="en-US" altLang="ja-JP" sz="2000" dirty="0">
              <a:latin typeface="Hiragino Kaku Gothic Pro W3" panose="020B0300000000000000" pitchFamily="34" charset="-128"/>
              <a:ea typeface="Hiragino Kaku Gothic Pro W3" panose="020B0300000000000000" pitchFamily="34" charset="-128"/>
            </a:endParaRPr>
          </a:p>
        </p:txBody>
      </p:sp>
      <p:sp>
        <p:nvSpPr>
          <p:cNvPr id="7" name="タイトル 6">
            <a:extLst>
              <a:ext uri="{FF2B5EF4-FFF2-40B4-BE49-F238E27FC236}">
                <a16:creationId xmlns:a16="http://schemas.microsoft.com/office/drawing/2014/main" id="{BC039924-8C93-3C8C-2574-79F0E82B6E40}"/>
              </a:ext>
            </a:extLst>
          </p:cNvPr>
          <p:cNvSpPr>
            <a:spLocks noGrp="1"/>
          </p:cNvSpPr>
          <p:nvPr>
            <p:ph type="title" idx="4294967295"/>
          </p:nvPr>
        </p:nvSpPr>
        <p:spPr>
          <a:xfrm>
            <a:off x="186267" y="552683"/>
            <a:ext cx="4303501" cy="487146"/>
          </a:xfrm>
        </p:spPr>
        <p:txBody>
          <a:bodyPr>
            <a:normAutofit/>
          </a:bodyPr>
          <a:lstStyle/>
          <a:p>
            <a:r>
              <a:rPr kumimoji="1" lang="en-US" altLang="ja-JP" sz="2800" dirty="0"/>
              <a:t>EE-index</a:t>
            </a:r>
            <a:r>
              <a:rPr kumimoji="1" lang="ja-JP" altLang="en-US" sz="2800"/>
              <a:t>とは</a:t>
            </a:r>
          </a:p>
        </p:txBody>
      </p:sp>
      <p:sp>
        <p:nvSpPr>
          <p:cNvPr id="8" name="テキスト ボックス 7">
            <a:extLst>
              <a:ext uri="{FF2B5EF4-FFF2-40B4-BE49-F238E27FC236}">
                <a16:creationId xmlns:a16="http://schemas.microsoft.com/office/drawing/2014/main" id="{85CA832E-A305-A4BF-6A46-C075325B686F}"/>
              </a:ext>
            </a:extLst>
          </p:cNvPr>
          <p:cNvSpPr txBox="1"/>
          <p:nvPr/>
        </p:nvSpPr>
        <p:spPr>
          <a:xfrm>
            <a:off x="305139" y="5781305"/>
            <a:ext cx="5373285" cy="400110"/>
          </a:xfrm>
          <a:prstGeom prst="rect">
            <a:avLst/>
          </a:prstGeom>
          <a:noFill/>
          <a:ln>
            <a:solidFill>
              <a:schemeClr val="tx1"/>
            </a:solidFill>
          </a:ln>
        </p:spPr>
        <p:txBody>
          <a:bodyPr wrap="square">
            <a:spAutoFit/>
          </a:bodyPr>
          <a:lstStyle/>
          <a:p>
            <a:pPr algn="ctr"/>
            <a:r>
              <a:rPr lang="en-US" altLang="ja-JP" sz="2000" b="1" dirty="0">
                <a:solidFill>
                  <a:srgbClr val="FF0000"/>
                </a:solidFill>
                <a:latin typeface="Hiragino Kaku Gothic Pro W3" panose="020B0300000000000000" pitchFamily="34" charset="-128"/>
                <a:ea typeface="Hiragino Kaku Gothic Pro W3" panose="020B0300000000000000" pitchFamily="34" charset="-128"/>
              </a:rPr>
              <a:t>EUEL</a:t>
            </a:r>
            <a:r>
              <a:rPr lang="en-US" altLang="ja-JP" sz="2000" dirty="0">
                <a:latin typeface="Hiragino Kaku Gothic Pro W3" panose="020B0300000000000000" pitchFamily="34" charset="-128"/>
                <a:ea typeface="Hiragino Kaku Gothic Pro W3" panose="020B0300000000000000" pitchFamily="34" charset="-128"/>
              </a:rPr>
              <a:t>(</a:t>
            </a:r>
            <a:r>
              <a:rPr lang="en-US" altLang="ja-JP" sz="2000" dirty="0" err="1">
                <a:latin typeface="Hiragino Kaku Gothic Pro W3" panose="020B0300000000000000" pitchFamily="34" charset="-128"/>
                <a:ea typeface="Hiragino Kaku Gothic Pro W3" panose="020B0300000000000000" pitchFamily="34" charset="-128"/>
              </a:rPr>
              <a:t>nT</a:t>
            </a:r>
            <a:r>
              <a:rPr lang="en-US" altLang="ja-JP" sz="2000" dirty="0">
                <a:latin typeface="Hiragino Kaku Gothic Pro W3" panose="020B0300000000000000" pitchFamily="34" charset="-128"/>
                <a:ea typeface="Hiragino Kaku Gothic Pro W3" panose="020B0300000000000000" pitchFamily="34" charset="-128"/>
              </a:rPr>
              <a:t>)</a:t>
            </a:r>
            <a:r>
              <a:rPr lang="ja-JP" altLang="en-US" sz="2000">
                <a:latin typeface="Hiragino Kaku Gothic Pro W3" panose="020B0300000000000000" pitchFamily="34" charset="-128"/>
                <a:ea typeface="Hiragino Kaku Gothic Pro W3" panose="020B0300000000000000" pitchFamily="34" charset="-128"/>
              </a:rPr>
              <a:t> </a:t>
            </a:r>
            <a:r>
              <a:rPr lang="en-US" altLang="ja-JP" sz="2000" dirty="0">
                <a:latin typeface="Hiragino Kaku Gothic Pro W3" panose="020B0300000000000000" pitchFamily="34" charset="-128"/>
                <a:ea typeface="Hiragino Kaku Gothic Pro W3" panose="020B0300000000000000" pitchFamily="34" charset="-128"/>
              </a:rPr>
              <a:t>=</a:t>
            </a:r>
            <a:r>
              <a:rPr lang="en-US" altLang="ja-JP" sz="2000" dirty="0">
                <a:solidFill>
                  <a:schemeClr val="accent1"/>
                </a:solidFill>
                <a:latin typeface="Hiragino Kaku Gothic Pro W3" panose="020B0300000000000000" pitchFamily="34" charset="-128"/>
                <a:ea typeface="Hiragino Kaku Gothic Pro W3" panose="020B0300000000000000" pitchFamily="34" charset="-128"/>
              </a:rPr>
              <a:t> </a:t>
            </a:r>
            <a:r>
              <a:rPr lang="en-US" altLang="ja-JP" sz="2000" dirty="0" err="1">
                <a:latin typeface="Hiragino Kaku Gothic Pro W3" panose="020B0300000000000000" pitchFamily="34" charset="-128"/>
                <a:ea typeface="Hiragino Kaku Gothic Pro W3" panose="020B0300000000000000" pitchFamily="34" charset="-128"/>
              </a:rPr>
              <a:t>Hcomp</a:t>
            </a:r>
            <a:r>
              <a:rPr lang="en-US" altLang="ja-JP" sz="2000" dirty="0">
                <a:latin typeface="Hiragino Kaku Gothic Pro W3" panose="020B0300000000000000" pitchFamily="34" charset="-128"/>
                <a:ea typeface="Hiragino Kaku Gothic Pro W3" panose="020B0300000000000000" pitchFamily="34" charset="-128"/>
              </a:rPr>
              <a:t> - </a:t>
            </a:r>
            <a:r>
              <a:rPr lang="en-US" altLang="ja-JP" sz="2000" dirty="0">
                <a:solidFill>
                  <a:schemeClr val="accent1"/>
                </a:solidFill>
                <a:latin typeface="Hiragino Kaku Gothic Pro W3" panose="020B0300000000000000" pitchFamily="34" charset="-128"/>
                <a:ea typeface="Hiragino Kaku Gothic Pro W3" panose="020B0300000000000000" pitchFamily="34" charset="-128"/>
              </a:rPr>
              <a:t> </a:t>
            </a:r>
            <a:r>
              <a:rPr lang="en-US" altLang="ja-JP" sz="2000" b="1" dirty="0" err="1">
                <a:solidFill>
                  <a:schemeClr val="accent5"/>
                </a:solidFill>
                <a:latin typeface="Hiragino Kaku Gothic Pro W3" panose="020B0300000000000000" pitchFamily="34" charset="-128"/>
                <a:ea typeface="Hiragino Kaku Gothic Pro W3" panose="020B0300000000000000" pitchFamily="34" charset="-128"/>
              </a:rPr>
              <a:t>EDst</a:t>
            </a:r>
            <a:endParaRPr lang="ja-JP" altLang="en-US" sz="2000" b="1" dirty="0">
              <a:solidFill>
                <a:schemeClr val="accent5"/>
              </a:solidFill>
              <a:latin typeface="Hiragino Kaku Gothic Pro W3" panose="020B0300000000000000" pitchFamily="34" charset="-128"/>
              <a:ea typeface="Hiragino Kaku Gothic Pro W3" panose="020B0300000000000000" pitchFamily="34" charset="-128"/>
            </a:endParaRPr>
          </a:p>
        </p:txBody>
      </p:sp>
      <p:pic>
        <p:nvPicPr>
          <p:cNvPr id="13" name="図 12">
            <a:extLst>
              <a:ext uri="{FF2B5EF4-FFF2-40B4-BE49-F238E27FC236}">
                <a16:creationId xmlns:a16="http://schemas.microsoft.com/office/drawing/2014/main" id="{32B6022F-2A72-90EC-AAAB-90A0AD78B32B}"/>
              </a:ext>
            </a:extLst>
          </p:cNvPr>
          <p:cNvPicPr>
            <a:picLocks noChangeAspect="1"/>
          </p:cNvPicPr>
          <p:nvPr/>
        </p:nvPicPr>
        <p:blipFill>
          <a:blip r:embed="rId3"/>
          <a:stretch>
            <a:fillRect/>
          </a:stretch>
        </p:blipFill>
        <p:spPr>
          <a:xfrm>
            <a:off x="6364112" y="2667393"/>
            <a:ext cx="4846784" cy="2905960"/>
          </a:xfrm>
          <a:prstGeom prst="rect">
            <a:avLst/>
          </a:prstGeom>
        </p:spPr>
      </p:pic>
      <p:sp>
        <p:nvSpPr>
          <p:cNvPr id="4" name="テキスト ボックス 3">
            <a:extLst>
              <a:ext uri="{FF2B5EF4-FFF2-40B4-BE49-F238E27FC236}">
                <a16:creationId xmlns:a16="http://schemas.microsoft.com/office/drawing/2014/main" id="{B042079D-A054-2B84-399C-9EDDD25A7F9C}"/>
              </a:ext>
            </a:extLst>
          </p:cNvPr>
          <p:cNvSpPr txBox="1"/>
          <p:nvPr/>
        </p:nvSpPr>
        <p:spPr>
          <a:xfrm>
            <a:off x="6785525" y="5601882"/>
            <a:ext cx="2948683" cy="338554"/>
          </a:xfrm>
          <a:prstGeom prst="rect">
            <a:avLst/>
          </a:prstGeom>
          <a:noFill/>
        </p:spPr>
        <p:txBody>
          <a:bodyPr wrap="square" rtlCol="0">
            <a:spAutoFit/>
          </a:bodyPr>
          <a:lstStyle/>
          <a:p>
            <a:r>
              <a:rPr kumimoji="1" lang="ja-JP" altLang="en-US" sz="1600"/>
              <a:t>図</a:t>
            </a:r>
            <a:r>
              <a:rPr kumimoji="1" lang="en-US" altLang="ja-JP" sz="1600" dirty="0"/>
              <a:t>1</a:t>
            </a:r>
            <a:r>
              <a:rPr kumimoji="1" lang="ja-JP" altLang="en-US" sz="1600"/>
              <a:t>　</a:t>
            </a:r>
            <a:r>
              <a:rPr lang="en-US" altLang="ja-JP" sz="1600" dirty="0"/>
              <a:t>EE-index</a:t>
            </a:r>
            <a:endParaRPr kumimoji="1" lang="ja-JP" altLang="en-US" sz="1600" dirty="0"/>
          </a:p>
        </p:txBody>
      </p:sp>
    </p:spTree>
    <p:extLst>
      <p:ext uri="{BB962C8B-B14F-4D97-AF65-F5344CB8AC3E}">
        <p14:creationId xmlns:p14="http://schemas.microsoft.com/office/powerpoint/2010/main" val="3381611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28FE1C87-3C27-4217-9F0F-FBA02BD52352}"/>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4</a:t>
            </a:fld>
            <a:endParaRPr kumimoji="1" lang="ja-JP" altLang="en-US"/>
          </a:p>
        </p:txBody>
      </p:sp>
      <p:sp>
        <p:nvSpPr>
          <p:cNvPr id="4" name="テキスト ボックス 3">
            <a:extLst>
              <a:ext uri="{FF2B5EF4-FFF2-40B4-BE49-F238E27FC236}">
                <a16:creationId xmlns:a16="http://schemas.microsoft.com/office/drawing/2014/main" id="{0C34DDDE-4B09-6B3B-9382-6BB2A0D63D2E}"/>
              </a:ext>
            </a:extLst>
          </p:cNvPr>
          <p:cNvSpPr txBox="1"/>
          <p:nvPr/>
        </p:nvSpPr>
        <p:spPr>
          <a:xfrm>
            <a:off x="270202" y="2486187"/>
            <a:ext cx="5369328" cy="1631216"/>
          </a:xfrm>
          <a:prstGeom prst="rect">
            <a:avLst/>
          </a:prstGeom>
          <a:noFill/>
        </p:spPr>
        <p:txBody>
          <a:bodyPr wrap="square" rtlCol="0">
            <a:spAutoFit/>
          </a:bodyPr>
          <a:lstStyle/>
          <a:p>
            <a:r>
              <a:rPr lang="ja-JP" altLang="en-US" sz="2000">
                <a:latin typeface="Hiragino Kaku Gothic Pro W3" panose="020B0300000000000000" pitchFamily="34" charset="-128"/>
                <a:ea typeface="Hiragino Kaku Gothic Pro W3" panose="020B0300000000000000" pitchFamily="34" charset="-128"/>
              </a:rPr>
              <a:t>赤道ジェット電流（</a:t>
            </a:r>
            <a:r>
              <a:rPr lang="en-US" altLang="ja-JP" sz="2000" dirty="0">
                <a:latin typeface="Hiragino Kaku Gothic Pro W3" panose="020B0300000000000000" pitchFamily="34" charset="-128"/>
                <a:ea typeface="Hiragino Kaku Gothic Pro W3" panose="020B0300000000000000" pitchFamily="34" charset="-128"/>
              </a:rPr>
              <a:t>Equatorial Electrojet: EEJ</a:t>
            </a:r>
            <a:r>
              <a:rPr lang="ja-JP" altLang="en-US" sz="2000">
                <a:latin typeface="Hiragino Kaku Gothic Pro W3" panose="020B0300000000000000" pitchFamily="34" charset="-128"/>
                <a:ea typeface="Hiragino Kaku Gothic Pro W3" panose="020B0300000000000000" pitchFamily="34" charset="-128"/>
              </a:rPr>
              <a:t>）とは赤道付近での磁場の変動が大きくなる東向きの電流である。</a:t>
            </a:r>
            <a:endParaRPr lang="en-US" altLang="ja-JP" sz="2000" dirty="0">
              <a:latin typeface="Hiragino Kaku Gothic Pro W3" panose="020B0300000000000000" pitchFamily="34" charset="-128"/>
              <a:ea typeface="Hiragino Kaku Gothic Pro W3" panose="020B0300000000000000" pitchFamily="34" charset="-128"/>
            </a:endParaRPr>
          </a:p>
          <a:p>
            <a:endParaRPr lang="en-US" altLang="ja-JP" sz="2000" dirty="0">
              <a:latin typeface="Hiragino Kaku Gothic Pro W3" panose="020B0300000000000000" pitchFamily="34" charset="-128"/>
              <a:ea typeface="Hiragino Kaku Gothic Pro W3" panose="020B0300000000000000" pitchFamily="34" charset="-128"/>
            </a:endParaRPr>
          </a:p>
          <a:p>
            <a:r>
              <a:rPr lang="ja-JP" altLang="en-US" sz="2000">
                <a:latin typeface="Hiragino Kaku Gothic Pro W3" panose="020B0300000000000000" pitchFamily="34" charset="-128"/>
                <a:ea typeface="Hiragino Kaku Gothic Pro W3" panose="020B0300000000000000" pitchFamily="34" charset="-128"/>
              </a:rPr>
              <a:t>特徴は磁気赤道</a:t>
            </a:r>
            <a:r>
              <a:rPr lang="en-US" altLang="ja-JP" sz="2000" dirty="0">
                <a:latin typeface="Hiragino Kaku Gothic Pro W3" panose="020B0300000000000000" pitchFamily="34" charset="-128"/>
                <a:ea typeface="Hiragino Kaku Gothic Pro W3" panose="020B0300000000000000" pitchFamily="34" charset="-128"/>
              </a:rPr>
              <a:t>±3</a:t>
            </a:r>
            <a:r>
              <a:rPr lang="ja-JP" altLang="en-US" sz="2000">
                <a:latin typeface="Hiragino Kaku Gothic Pro W3" panose="020B0300000000000000" pitchFamily="34" charset="-128"/>
                <a:ea typeface="Hiragino Kaku Gothic Pro W3" panose="020B0300000000000000" pitchFamily="34" charset="-128"/>
              </a:rPr>
              <a:t>度付近で増大</a:t>
            </a:r>
            <a:endParaRPr kumimoji="1" lang="ja-JP" altLang="en-US" sz="2000" dirty="0"/>
          </a:p>
        </p:txBody>
      </p:sp>
      <p:sp>
        <p:nvSpPr>
          <p:cNvPr id="15" name="タイトル 14">
            <a:extLst>
              <a:ext uri="{FF2B5EF4-FFF2-40B4-BE49-F238E27FC236}">
                <a16:creationId xmlns:a16="http://schemas.microsoft.com/office/drawing/2014/main" id="{331C2557-0DB2-FAB9-DAAC-91724FF37A4D}"/>
              </a:ext>
            </a:extLst>
          </p:cNvPr>
          <p:cNvSpPr>
            <a:spLocks noGrp="1"/>
          </p:cNvSpPr>
          <p:nvPr>
            <p:ph type="title" idx="4294967295"/>
          </p:nvPr>
        </p:nvSpPr>
        <p:spPr>
          <a:xfrm>
            <a:off x="433977" y="655320"/>
            <a:ext cx="3195828" cy="556160"/>
          </a:xfrm>
        </p:spPr>
        <p:txBody>
          <a:bodyPr>
            <a:normAutofit/>
          </a:bodyPr>
          <a:lstStyle/>
          <a:p>
            <a:r>
              <a:rPr kumimoji="1" lang="en-US" altLang="ja-JP" sz="2800" dirty="0"/>
              <a:t>EEJ</a:t>
            </a:r>
            <a:r>
              <a:rPr kumimoji="1" lang="ja-JP" altLang="en-US" sz="2800"/>
              <a:t>とは</a:t>
            </a:r>
          </a:p>
        </p:txBody>
      </p:sp>
      <p:sp>
        <p:nvSpPr>
          <p:cNvPr id="16" name="テキスト ボックス 15">
            <a:extLst>
              <a:ext uri="{FF2B5EF4-FFF2-40B4-BE49-F238E27FC236}">
                <a16:creationId xmlns:a16="http://schemas.microsoft.com/office/drawing/2014/main" id="{EE1A742A-6BE8-B223-4D46-A23CB2251861}"/>
              </a:ext>
            </a:extLst>
          </p:cNvPr>
          <p:cNvSpPr txBox="1"/>
          <p:nvPr/>
        </p:nvSpPr>
        <p:spPr>
          <a:xfrm>
            <a:off x="9034498" y="2651839"/>
            <a:ext cx="1234909" cy="589426"/>
          </a:xfrm>
          <a:prstGeom prst="rect">
            <a:avLst/>
          </a:prstGeom>
          <a:noFill/>
        </p:spPr>
        <p:txBody>
          <a:bodyPr wrap="square" rtlCol="0">
            <a:spAutoFit/>
          </a:bodyPr>
          <a:lstStyle/>
          <a:p>
            <a:r>
              <a:rPr lang="en-US" altLang="ja-JP" sz="2800" b="1" dirty="0">
                <a:solidFill>
                  <a:srgbClr val="FF0000"/>
                </a:solidFill>
                <a:latin typeface="Hiragino Kaku Gothic Pro W3" panose="020B0300000000000000" pitchFamily="34" charset="-128"/>
                <a:ea typeface="Hiragino Kaku Gothic Pro W3" panose="020B0300000000000000" pitchFamily="34" charset="-128"/>
              </a:rPr>
              <a:t>EEJ</a:t>
            </a:r>
          </a:p>
        </p:txBody>
      </p:sp>
      <p:sp>
        <p:nvSpPr>
          <p:cNvPr id="18" name="正方形/長方形 17">
            <a:extLst>
              <a:ext uri="{FF2B5EF4-FFF2-40B4-BE49-F238E27FC236}">
                <a16:creationId xmlns:a16="http://schemas.microsoft.com/office/drawing/2014/main" id="{07E846DF-5DFA-AA33-54BA-249F45DDA72E}"/>
              </a:ext>
            </a:extLst>
          </p:cNvPr>
          <p:cNvSpPr/>
          <p:nvPr/>
        </p:nvSpPr>
        <p:spPr>
          <a:xfrm>
            <a:off x="6695716" y="3676774"/>
            <a:ext cx="1149809" cy="9043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Kaku Gothic Pro W3" panose="020B0300000000000000" pitchFamily="34" charset="-128"/>
              <a:ea typeface="Hiragino Kaku Gothic Pro W3" panose="020B0300000000000000" pitchFamily="34" charset="-128"/>
            </a:endParaRPr>
          </a:p>
        </p:txBody>
      </p:sp>
      <p:sp>
        <p:nvSpPr>
          <p:cNvPr id="2" name="テキスト ボックス 1">
            <a:extLst>
              <a:ext uri="{FF2B5EF4-FFF2-40B4-BE49-F238E27FC236}">
                <a16:creationId xmlns:a16="http://schemas.microsoft.com/office/drawing/2014/main" id="{F2AE7FEE-3BCB-01D5-3825-C2CA4D55EC60}"/>
              </a:ext>
            </a:extLst>
          </p:cNvPr>
          <p:cNvSpPr txBox="1"/>
          <p:nvPr/>
        </p:nvSpPr>
        <p:spPr>
          <a:xfrm>
            <a:off x="6270117" y="5843679"/>
            <a:ext cx="2948683" cy="338554"/>
          </a:xfrm>
          <a:prstGeom prst="rect">
            <a:avLst/>
          </a:prstGeom>
          <a:noFill/>
        </p:spPr>
        <p:txBody>
          <a:bodyPr wrap="square" rtlCol="0">
            <a:spAutoFit/>
          </a:bodyPr>
          <a:lstStyle/>
          <a:p>
            <a:r>
              <a:rPr kumimoji="1" lang="ja-JP" altLang="en-US" sz="1600"/>
              <a:t>図</a:t>
            </a:r>
            <a:r>
              <a:rPr lang="en-US" altLang="ja-JP" sz="1600" dirty="0"/>
              <a:t>2</a:t>
            </a:r>
            <a:r>
              <a:rPr kumimoji="1" lang="ja-JP" altLang="en-US" sz="1600"/>
              <a:t>　</a:t>
            </a:r>
            <a:r>
              <a:rPr lang="en-US" altLang="ja-JP" sz="1600" dirty="0"/>
              <a:t>EEJ</a:t>
            </a:r>
            <a:endParaRPr kumimoji="1" lang="ja-JP" altLang="en-US" sz="1600" dirty="0"/>
          </a:p>
        </p:txBody>
      </p:sp>
      <p:sp>
        <p:nvSpPr>
          <p:cNvPr id="5" name="テキスト ボックス 4">
            <a:extLst>
              <a:ext uri="{FF2B5EF4-FFF2-40B4-BE49-F238E27FC236}">
                <a16:creationId xmlns:a16="http://schemas.microsoft.com/office/drawing/2014/main" id="{5D0C97F5-32CB-1D0C-31FD-C716C295E7A5}"/>
              </a:ext>
            </a:extLst>
          </p:cNvPr>
          <p:cNvSpPr txBox="1"/>
          <p:nvPr/>
        </p:nvSpPr>
        <p:spPr>
          <a:xfrm>
            <a:off x="0" y="4748398"/>
            <a:ext cx="5909733" cy="1015663"/>
          </a:xfrm>
          <a:prstGeom prst="rect">
            <a:avLst/>
          </a:prstGeom>
          <a:noFill/>
        </p:spPr>
        <p:txBody>
          <a:bodyPr wrap="square" rtlCol="0">
            <a:spAutoFit/>
          </a:bodyPr>
          <a:lstStyle/>
          <a:p>
            <a:r>
              <a:rPr kumimoji="1" lang="ja-JP" altLang="en-US" sz="2000">
                <a:latin typeface="Hiragino Kaku Gothic Pro W3" panose="020B0300000000000000" pitchFamily="34" charset="-128"/>
                <a:ea typeface="Hiragino Kaku Gothic Pro W3" panose="020B0300000000000000" pitchFamily="34" charset="-128"/>
              </a:rPr>
              <a:t>本発表での</a:t>
            </a:r>
            <a:r>
              <a:rPr kumimoji="1" lang="en-US" altLang="ja-JP" sz="2000" dirty="0">
                <a:latin typeface="Hiragino Kaku Gothic Pro W3" panose="020B0300000000000000" pitchFamily="34" charset="-128"/>
                <a:ea typeface="Hiragino Kaku Gothic Pro W3" panose="020B0300000000000000" pitchFamily="34" charset="-128"/>
              </a:rPr>
              <a:t>EEJ</a:t>
            </a:r>
            <a:r>
              <a:rPr kumimoji="1" lang="ja-JP" altLang="en-US" sz="2000">
                <a:latin typeface="Hiragino Kaku Gothic Pro W3" panose="020B0300000000000000" pitchFamily="34" charset="-128"/>
                <a:ea typeface="Hiragino Kaku Gothic Pro W3" panose="020B0300000000000000" pitchFamily="34" charset="-128"/>
              </a:rPr>
              <a:t>は、</a:t>
            </a:r>
            <a:r>
              <a:rPr kumimoji="1" lang="en-US" altLang="ja-JP" sz="2000" dirty="0">
                <a:latin typeface="Hiragino Kaku Gothic Pro W3" panose="020B0300000000000000" pitchFamily="34" charset="-128"/>
                <a:ea typeface="Hiragino Kaku Gothic Pro W3" panose="020B0300000000000000" pitchFamily="34" charset="-128"/>
              </a:rPr>
              <a:t>Dip</a:t>
            </a:r>
            <a:r>
              <a:rPr kumimoji="1" lang="ja-JP" altLang="en-US" sz="2000">
                <a:latin typeface="Hiragino Kaku Gothic Pro W3" panose="020B0300000000000000" pitchFamily="34" charset="-128"/>
                <a:ea typeface="Hiragino Kaku Gothic Pro W3" panose="020B0300000000000000" pitchFamily="34" charset="-128"/>
              </a:rPr>
              <a:t> </a:t>
            </a:r>
            <a:r>
              <a:rPr kumimoji="1" lang="en-US" altLang="ja-JP" sz="2000" dirty="0">
                <a:latin typeface="Hiragino Kaku Gothic Pro W3" panose="020B0300000000000000" pitchFamily="34" charset="-128"/>
                <a:ea typeface="Hiragino Kaku Gothic Pro W3" panose="020B0300000000000000" pitchFamily="34" charset="-128"/>
              </a:rPr>
              <a:t>Equator</a:t>
            </a:r>
            <a:r>
              <a:rPr kumimoji="1" lang="ja-JP" altLang="en-US" sz="2000">
                <a:latin typeface="Hiragino Kaku Gothic Pro W3" panose="020B0300000000000000" pitchFamily="34" charset="-128"/>
                <a:ea typeface="Hiragino Kaku Gothic Pro W3" panose="020B0300000000000000" pitchFamily="34" charset="-128"/>
              </a:rPr>
              <a:t>の</a:t>
            </a:r>
            <a:r>
              <a:rPr kumimoji="1" lang="en-US" altLang="ja-JP" sz="2000" dirty="0">
                <a:latin typeface="Hiragino Kaku Gothic Pro W3" panose="020B0300000000000000" pitchFamily="34" charset="-128"/>
                <a:ea typeface="Hiragino Kaku Gothic Pro W3" panose="020B0300000000000000" pitchFamily="34" charset="-128"/>
              </a:rPr>
              <a:t>EUEL</a:t>
            </a:r>
            <a:r>
              <a:rPr kumimoji="1" lang="ja-JP" altLang="en-US" sz="2000">
                <a:latin typeface="Hiragino Kaku Gothic Pro W3" panose="020B0300000000000000" pitchFamily="34" charset="-128"/>
                <a:ea typeface="Hiragino Kaku Gothic Pro W3" panose="020B0300000000000000" pitchFamily="34" charset="-128"/>
              </a:rPr>
              <a:t>と</a:t>
            </a:r>
            <a:r>
              <a:rPr kumimoji="1" lang="en-US" altLang="ja-JP" sz="2000" dirty="0" err="1">
                <a:latin typeface="Hiragino Kaku Gothic Pro W3" panose="020B0300000000000000" pitchFamily="34" charset="-128"/>
                <a:ea typeface="Hiragino Kaku Gothic Pro W3" panose="020B0300000000000000" pitchFamily="34" charset="-128"/>
              </a:rPr>
              <a:t>Offdip</a:t>
            </a:r>
            <a:r>
              <a:rPr kumimoji="1" lang="en-US" altLang="ja-JP" sz="2000" dirty="0">
                <a:latin typeface="Hiragino Kaku Gothic Pro W3" panose="020B0300000000000000" pitchFamily="34" charset="-128"/>
                <a:ea typeface="Hiragino Kaku Gothic Pro W3" panose="020B0300000000000000" pitchFamily="34" charset="-128"/>
              </a:rPr>
              <a:t> Equator</a:t>
            </a:r>
            <a:r>
              <a:rPr kumimoji="1" lang="ja-JP" altLang="en-US" sz="2000">
                <a:latin typeface="Hiragino Kaku Gothic Pro W3" panose="020B0300000000000000" pitchFamily="34" charset="-128"/>
                <a:ea typeface="Hiragino Kaku Gothic Pro W3" panose="020B0300000000000000" pitchFamily="34" charset="-128"/>
              </a:rPr>
              <a:t>の</a:t>
            </a:r>
            <a:r>
              <a:rPr kumimoji="1" lang="en-US" altLang="ja-JP" sz="2000" dirty="0">
                <a:latin typeface="Hiragino Kaku Gothic Pro W3" panose="020B0300000000000000" pitchFamily="34" charset="-128"/>
                <a:ea typeface="Hiragino Kaku Gothic Pro W3" panose="020B0300000000000000" pitchFamily="34" charset="-128"/>
              </a:rPr>
              <a:t>EUEL</a:t>
            </a:r>
            <a:r>
              <a:rPr kumimoji="1" lang="ja-JP" altLang="en-US" sz="2000">
                <a:latin typeface="Hiragino Kaku Gothic Pro W3" panose="020B0300000000000000" pitchFamily="34" charset="-128"/>
                <a:ea typeface="Hiragino Kaku Gothic Pro W3" panose="020B0300000000000000" pitchFamily="34" charset="-128"/>
              </a:rPr>
              <a:t>の差を取</a:t>
            </a:r>
            <a:r>
              <a:rPr lang="ja-JP" altLang="en-US" sz="2000">
                <a:latin typeface="Hiragino Kaku Gothic Pro W3" panose="020B0300000000000000" pitchFamily="34" charset="-128"/>
                <a:ea typeface="Hiragino Kaku Gothic Pro W3" panose="020B0300000000000000" pitchFamily="34" charset="-128"/>
              </a:rPr>
              <a:t>り</a:t>
            </a:r>
            <a:r>
              <a:rPr kumimoji="1" lang="ja-JP" altLang="en-US" sz="2000">
                <a:latin typeface="Hiragino Kaku Gothic Pro W3" panose="020B0300000000000000" pitchFamily="34" charset="-128"/>
                <a:ea typeface="Hiragino Kaku Gothic Pro W3" panose="020B0300000000000000" pitchFamily="34" charset="-128"/>
              </a:rPr>
              <a:t>変動を捉える</a:t>
            </a:r>
            <a:endParaRPr kumimoji="1" lang="en-US" altLang="ja-JP" sz="2000" dirty="0">
              <a:latin typeface="Hiragino Kaku Gothic Pro W3" panose="020B0300000000000000" pitchFamily="34" charset="-128"/>
              <a:ea typeface="Hiragino Kaku Gothic Pro W3" panose="020B0300000000000000" pitchFamily="34" charset="-128"/>
            </a:endParaRPr>
          </a:p>
          <a:p>
            <a:pPr algn="ctr"/>
            <a:r>
              <a:rPr kumimoji="1" lang="en-US" altLang="ja-JP" sz="2000" b="1" dirty="0">
                <a:solidFill>
                  <a:srgbClr val="FF0000"/>
                </a:solidFill>
                <a:latin typeface="Hiragino Kaku Gothic Pro W3" panose="020B0300000000000000" pitchFamily="34" charset="-128"/>
                <a:ea typeface="Hiragino Kaku Gothic Pro W3" panose="020B0300000000000000" pitchFamily="34" charset="-128"/>
              </a:rPr>
              <a:t>EEJ(</a:t>
            </a:r>
            <a:r>
              <a:rPr kumimoji="1" lang="en-US" altLang="ja-JP" sz="2000" b="1" dirty="0" err="1">
                <a:solidFill>
                  <a:srgbClr val="FF0000"/>
                </a:solidFill>
                <a:latin typeface="Hiragino Kaku Gothic Pro W3" panose="020B0300000000000000" pitchFamily="34" charset="-128"/>
                <a:ea typeface="Hiragino Kaku Gothic Pro W3" panose="020B0300000000000000" pitchFamily="34" charset="-128"/>
              </a:rPr>
              <a:t>nT</a:t>
            </a:r>
            <a:r>
              <a:rPr kumimoji="1" lang="en-US" altLang="ja-JP" sz="2000" b="1" dirty="0">
                <a:solidFill>
                  <a:srgbClr val="FF0000"/>
                </a:solidFill>
                <a:latin typeface="Hiragino Kaku Gothic Pro W3" panose="020B0300000000000000" pitchFamily="34" charset="-128"/>
                <a:ea typeface="Hiragino Kaku Gothic Pro W3" panose="020B0300000000000000" pitchFamily="34" charset="-128"/>
              </a:rPr>
              <a:t>) </a:t>
            </a:r>
            <a:r>
              <a:rPr kumimoji="1" lang="en-US" altLang="ja-JP" sz="2000" b="1" dirty="0">
                <a:latin typeface="Hiragino Kaku Gothic Pro W3" panose="020B0300000000000000" pitchFamily="34" charset="-128"/>
                <a:ea typeface="Hiragino Kaku Gothic Pro W3" panose="020B0300000000000000" pitchFamily="34" charset="-128"/>
              </a:rPr>
              <a:t>= Dip EUEL – </a:t>
            </a:r>
            <a:r>
              <a:rPr kumimoji="1" lang="en-US" altLang="ja-JP" sz="2000" b="1" dirty="0" err="1">
                <a:latin typeface="Hiragino Kaku Gothic Pro W3" panose="020B0300000000000000" pitchFamily="34" charset="-128"/>
                <a:ea typeface="Hiragino Kaku Gothic Pro W3" panose="020B0300000000000000" pitchFamily="34" charset="-128"/>
              </a:rPr>
              <a:t>Offdip</a:t>
            </a:r>
            <a:r>
              <a:rPr kumimoji="1" lang="en-US" altLang="ja-JP" sz="2000" b="1" dirty="0">
                <a:latin typeface="Hiragino Kaku Gothic Pro W3" panose="020B0300000000000000" pitchFamily="34" charset="-128"/>
                <a:ea typeface="Hiragino Kaku Gothic Pro W3" panose="020B0300000000000000" pitchFamily="34" charset="-128"/>
              </a:rPr>
              <a:t> EUEL</a:t>
            </a:r>
            <a:endParaRPr kumimoji="1" lang="ja-JP" altLang="en-US" sz="2000" b="1">
              <a:latin typeface="Hiragino Kaku Gothic Pro W3" panose="020B0300000000000000" pitchFamily="34" charset="-128"/>
              <a:ea typeface="Hiragino Kaku Gothic Pro W3" panose="020B0300000000000000" pitchFamily="34" charset="-128"/>
            </a:endParaRPr>
          </a:p>
        </p:txBody>
      </p:sp>
      <p:grpSp>
        <p:nvGrpSpPr>
          <p:cNvPr id="14" name="グループ化 13">
            <a:extLst>
              <a:ext uri="{FF2B5EF4-FFF2-40B4-BE49-F238E27FC236}">
                <a16:creationId xmlns:a16="http://schemas.microsoft.com/office/drawing/2014/main" id="{85C55F4F-2135-2881-4138-451469217612}"/>
              </a:ext>
            </a:extLst>
          </p:cNvPr>
          <p:cNvGrpSpPr/>
          <p:nvPr/>
        </p:nvGrpSpPr>
        <p:grpSpPr>
          <a:xfrm>
            <a:off x="5509891" y="1383903"/>
            <a:ext cx="5734154" cy="4300541"/>
            <a:chOff x="5509891" y="1383903"/>
            <a:chExt cx="5734154" cy="4300541"/>
          </a:xfrm>
        </p:grpSpPr>
        <p:grpSp>
          <p:nvGrpSpPr>
            <p:cNvPr id="9" name="グループ化 8">
              <a:extLst>
                <a:ext uri="{FF2B5EF4-FFF2-40B4-BE49-F238E27FC236}">
                  <a16:creationId xmlns:a16="http://schemas.microsoft.com/office/drawing/2014/main" id="{7A05A516-7436-950F-7D17-5AA3312978C0}"/>
                </a:ext>
              </a:extLst>
            </p:cNvPr>
            <p:cNvGrpSpPr/>
            <p:nvPr/>
          </p:nvGrpSpPr>
          <p:grpSpPr>
            <a:xfrm>
              <a:off x="5509891" y="1383903"/>
              <a:ext cx="5734154" cy="4300541"/>
              <a:chOff x="5509891" y="1383903"/>
              <a:chExt cx="5734154" cy="4300541"/>
            </a:xfrm>
          </p:grpSpPr>
          <p:pic>
            <p:nvPicPr>
              <p:cNvPr id="10" name="Picture 2" descr="グラフ, 折れ線グラフ&#10;&#10;AI によって生成されたコンテンツは間違っている可能性があります。">
                <a:extLst>
                  <a:ext uri="{FF2B5EF4-FFF2-40B4-BE49-F238E27FC236}">
                    <a16:creationId xmlns:a16="http://schemas.microsoft.com/office/drawing/2014/main" id="{92736869-0646-AEED-63F5-0E98F6D45E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933"/>
              <a:stretch>
                <a:fillRect/>
              </a:stretch>
            </p:blipFill>
            <p:spPr bwMode="auto">
              <a:xfrm>
                <a:off x="5509891" y="1383903"/>
                <a:ext cx="5734154" cy="4300541"/>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線矢印コネクタ 10">
                <a:extLst>
                  <a:ext uri="{FF2B5EF4-FFF2-40B4-BE49-F238E27FC236}">
                    <a16:creationId xmlns:a16="http://schemas.microsoft.com/office/drawing/2014/main" id="{6C9FD281-78AD-9BC4-9C6B-65552A95B3B1}"/>
                  </a:ext>
                </a:extLst>
              </p:cNvPr>
              <p:cNvCxnSpPr>
                <a:cxnSpLocks/>
              </p:cNvCxnSpPr>
              <p:nvPr/>
            </p:nvCxnSpPr>
            <p:spPr>
              <a:xfrm>
                <a:off x="8623110" y="2486187"/>
                <a:ext cx="0" cy="1554321"/>
              </a:xfrm>
              <a:prstGeom prst="straightConnector1">
                <a:avLst/>
              </a:prstGeom>
              <a:ln w="5715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6D89EF12-667D-3D99-59F5-1AACF7DECD31}"/>
                  </a:ext>
                </a:extLst>
              </p:cNvPr>
              <p:cNvSpPr/>
              <p:nvPr/>
            </p:nvSpPr>
            <p:spPr>
              <a:xfrm>
                <a:off x="9540240" y="4368800"/>
                <a:ext cx="944880" cy="379598"/>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D1CF2F42-C6B2-CC6D-2F29-BC325820DE2B}"/>
                  </a:ext>
                </a:extLst>
              </p:cNvPr>
              <p:cNvSpPr/>
              <p:nvPr/>
            </p:nvSpPr>
            <p:spPr>
              <a:xfrm>
                <a:off x="9651952" y="4947751"/>
                <a:ext cx="944880" cy="379598"/>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2561AD2A-623A-E8C7-3BD1-002EAC524D0D}"/>
                </a:ext>
              </a:extLst>
            </p:cNvPr>
            <p:cNvSpPr/>
            <p:nvPr/>
          </p:nvSpPr>
          <p:spPr>
            <a:xfrm>
              <a:off x="6421121" y="3429000"/>
              <a:ext cx="1424404" cy="1152144"/>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grpSp>
    </p:spTree>
    <p:extLst>
      <p:ext uri="{BB962C8B-B14F-4D97-AF65-F5344CB8AC3E}">
        <p14:creationId xmlns:p14="http://schemas.microsoft.com/office/powerpoint/2010/main" val="199523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AD928-91CC-AE86-46A7-288974CF9F80}"/>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CEEAE712-B453-A20D-D613-8F6F69D47089}"/>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5</a:t>
            </a:fld>
            <a:endParaRPr kumimoji="1" lang="ja-JP" altLang="en-US"/>
          </a:p>
        </p:txBody>
      </p:sp>
      <p:sp>
        <p:nvSpPr>
          <p:cNvPr id="5" name="テキスト ボックス 4">
            <a:extLst>
              <a:ext uri="{FF2B5EF4-FFF2-40B4-BE49-F238E27FC236}">
                <a16:creationId xmlns:a16="http://schemas.microsoft.com/office/drawing/2014/main" id="{A3D623FA-9F6E-2B69-AC88-E186FC973112}"/>
              </a:ext>
            </a:extLst>
          </p:cNvPr>
          <p:cNvSpPr txBox="1"/>
          <p:nvPr/>
        </p:nvSpPr>
        <p:spPr>
          <a:xfrm>
            <a:off x="410967" y="540517"/>
            <a:ext cx="3584564" cy="523220"/>
          </a:xfrm>
          <a:prstGeom prst="rect">
            <a:avLst/>
          </a:prstGeom>
          <a:noFill/>
        </p:spPr>
        <p:txBody>
          <a:bodyPr wrap="square">
            <a:spAutoFit/>
          </a:bodyPr>
          <a:lstStyle/>
          <a:p>
            <a:r>
              <a:rPr lang="ja-JP" altLang="en-US" sz="2800"/>
              <a:t>特異型</a:t>
            </a:r>
            <a:r>
              <a:rPr kumimoji="1" lang="en-US" altLang="ja-JP" sz="2800" dirty="0"/>
              <a:t>EEJ</a:t>
            </a:r>
            <a:r>
              <a:rPr kumimoji="1" lang="ja-JP" altLang="en-US" sz="2800"/>
              <a:t>と</a:t>
            </a:r>
            <a:r>
              <a:rPr kumimoji="1" lang="ja-JP" altLang="en-US" sz="2800" dirty="0"/>
              <a:t>は</a:t>
            </a:r>
          </a:p>
        </p:txBody>
      </p:sp>
      <p:sp>
        <p:nvSpPr>
          <p:cNvPr id="4" name="テキスト ボックス 3">
            <a:extLst>
              <a:ext uri="{FF2B5EF4-FFF2-40B4-BE49-F238E27FC236}">
                <a16:creationId xmlns:a16="http://schemas.microsoft.com/office/drawing/2014/main" id="{C2D9A63B-6BC9-43B8-470C-D025DC450497}"/>
              </a:ext>
            </a:extLst>
          </p:cNvPr>
          <p:cNvSpPr txBox="1"/>
          <p:nvPr/>
        </p:nvSpPr>
        <p:spPr>
          <a:xfrm>
            <a:off x="176107" y="1478961"/>
            <a:ext cx="10889913" cy="1015663"/>
          </a:xfrm>
          <a:prstGeom prst="rect">
            <a:avLst/>
          </a:prstGeom>
          <a:noFill/>
        </p:spPr>
        <p:txBody>
          <a:bodyPr wrap="square" rtlCol="0">
            <a:spAutoFit/>
          </a:bodyPr>
          <a:lstStyle/>
          <a:p>
            <a:r>
              <a:rPr lang="ja-JP" altLang="en-US" sz="2000"/>
              <a:t>一般に、</a:t>
            </a:r>
            <a:r>
              <a:rPr lang="en-US" altLang="ja-JP" sz="2000" dirty="0"/>
              <a:t>dip</a:t>
            </a:r>
            <a:r>
              <a:rPr lang="ja-JP" altLang="en-US" sz="2000"/>
              <a:t>領域における</a:t>
            </a:r>
            <a:r>
              <a:rPr lang="en-US" altLang="ja-JP" sz="2000" dirty="0"/>
              <a:t>EUEL</a:t>
            </a:r>
            <a:r>
              <a:rPr lang="ja-JP" altLang="en-US" sz="2000"/>
              <a:t>の値は、</a:t>
            </a:r>
            <a:r>
              <a:rPr lang="en-US" altLang="ja-JP" sz="2000" dirty="0"/>
              <a:t>EEJ</a:t>
            </a:r>
            <a:r>
              <a:rPr lang="ja-JP" altLang="en-US" sz="2000"/>
              <a:t>の影響により</a:t>
            </a:r>
            <a:r>
              <a:rPr lang="en-US" altLang="ja-JP" sz="2000" dirty="0" err="1"/>
              <a:t>offdip</a:t>
            </a:r>
            <a:r>
              <a:rPr lang="ja-JP" altLang="en-US" sz="2000"/>
              <a:t>領域の値よりも大きくなるが、</a:t>
            </a:r>
            <a:endParaRPr lang="en-US" altLang="ja-JP" sz="2000" dirty="0"/>
          </a:p>
          <a:p>
            <a:r>
              <a:rPr kumimoji="1" lang="ja-JP" altLang="en-US" sz="2000"/>
              <a:t>一部のイベントでは、</a:t>
            </a:r>
            <a:r>
              <a:rPr kumimoji="1" lang="en-US" altLang="ja-JP" sz="2000" dirty="0"/>
              <a:t>dip</a:t>
            </a:r>
            <a:r>
              <a:rPr kumimoji="1" lang="ja-JP" altLang="en-US" sz="2000"/>
              <a:t>領域と</a:t>
            </a:r>
            <a:r>
              <a:rPr kumimoji="1" lang="en-US" altLang="ja-JP" sz="2000" dirty="0" err="1"/>
              <a:t>offdip</a:t>
            </a:r>
            <a:r>
              <a:rPr kumimoji="1" lang="ja-JP" altLang="en-US" sz="2000"/>
              <a:t>領域の間にほとんど差が見られないイベントが確認された。このような事例を「</a:t>
            </a:r>
            <a:r>
              <a:rPr kumimoji="1" lang="ja-JP" altLang="en-US" sz="2000" b="1"/>
              <a:t>特異型</a:t>
            </a:r>
            <a:r>
              <a:rPr kumimoji="1" lang="en-US" altLang="ja-JP" sz="2000" b="1" dirty="0"/>
              <a:t>EEJ</a:t>
            </a:r>
            <a:r>
              <a:rPr kumimoji="1" lang="ja-JP" altLang="en-US" sz="2000"/>
              <a:t>」と定義した</a:t>
            </a:r>
            <a:endParaRPr kumimoji="1" lang="ja-JP" altLang="en-US" sz="2000" dirty="0"/>
          </a:p>
        </p:txBody>
      </p:sp>
      <p:pic>
        <p:nvPicPr>
          <p:cNvPr id="6" name="図 5">
            <a:extLst>
              <a:ext uri="{FF2B5EF4-FFF2-40B4-BE49-F238E27FC236}">
                <a16:creationId xmlns:a16="http://schemas.microsoft.com/office/drawing/2014/main" id="{70A7965E-BFFF-88BB-E708-489BD196980F}"/>
              </a:ext>
            </a:extLst>
          </p:cNvPr>
          <p:cNvPicPr>
            <a:picLocks noChangeAspect="1"/>
          </p:cNvPicPr>
          <p:nvPr/>
        </p:nvPicPr>
        <p:blipFill>
          <a:blip r:embed="rId3"/>
          <a:stretch>
            <a:fillRect/>
          </a:stretch>
        </p:blipFill>
        <p:spPr>
          <a:xfrm>
            <a:off x="6131771" y="3012779"/>
            <a:ext cx="4642760" cy="3271617"/>
          </a:xfrm>
          <a:prstGeom prst="rect">
            <a:avLst/>
          </a:prstGeom>
        </p:spPr>
      </p:pic>
      <p:sp>
        <p:nvSpPr>
          <p:cNvPr id="15" name="テキスト ボックス 14">
            <a:extLst>
              <a:ext uri="{FF2B5EF4-FFF2-40B4-BE49-F238E27FC236}">
                <a16:creationId xmlns:a16="http://schemas.microsoft.com/office/drawing/2014/main" id="{C19CDA38-C5C7-F53C-C297-49557FED7C46}"/>
              </a:ext>
            </a:extLst>
          </p:cNvPr>
          <p:cNvSpPr txBox="1"/>
          <p:nvPr/>
        </p:nvSpPr>
        <p:spPr>
          <a:xfrm>
            <a:off x="7823539" y="2986122"/>
            <a:ext cx="1620455" cy="400110"/>
          </a:xfrm>
          <a:prstGeom prst="rect">
            <a:avLst/>
          </a:prstGeom>
          <a:solidFill>
            <a:schemeClr val="bg1"/>
          </a:solidFill>
        </p:spPr>
        <p:txBody>
          <a:bodyPr wrap="square" rtlCol="0">
            <a:spAutoFit/>
          </a:bodyPr>
          <a:lstStyle/>
          <a:p>
            <a:r>
              <a:rPr kumimoji="1" lang="ja-JP" altLang="en-US" sz="2000"/>
              <a:t>特異型</a:t>
            </a:r>
            <a:r>
              <a:rPr kumimoji="1" lang="en-US" altLang="ja-JP" sz="2000" dirty="0"/>
              <a:t>EEJ</a:t>
            </a:r>
            <a:endParaRPr kumimoji="1" lang="ja-JP" altLang="en-US" sz="2000"/>
          </a:p>
        </p:txBody>
      </p:sp>
      <p:pic>
        <p:nvPicPr>
          <p:cNvPr id="17" name="図 16" descr="グラフ, 折れ線グラフ&#10;&#10;AI 生成コンテンツは誤りを含む可能性があります。">
            <a:extLst>
              <a:ext uri="{FF2B5EF4-FFF2-40B4-BE49-F238E27FC236}">
                <a16:creationId xmlns:a16="http://schemas.microsoft.com/office/drawing/2014/main" id="{8FAD89ED-1DEE-DAD5-B52E-ADDFEBCF0C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967" y="3012779"/>
            <a:ext cx="4318990" cy="3239243"/>
          </a:xfrm>
          <a:prstGeom prst="rect">
            <a:avLst/>
          </a:prstGeom>
        </p:spPr>
      </p:pic>
      <p:sp>
        <p:nvSpPr>
          <p:cNvPr id="2" name="テキスト ボックス 1">
            <a:extLst>
              <a:ext uri="{FF2B5EF4-FFF2-40B4-BE49-F238E27FC236}">
                <a16:creationId xmlns:a16="http://schemas.microsoft.com/office/drawing/2014/main" id="{03131D47-7B38-B1B4-F830-21C8BC3A5268}"/>
              </a:ext>
            </a:extLst>
          </p:cNvPr>
          <p:cNvSpPr txBox="1"/>
          <p:nvPr/>
        </p:nvSpPr>
        <p:spPr>
          <a:xfrm>
            <a:off x="629902" y="6218932"/>
            <a:ext cx="3881120" cy="584775"/>
          </a:xfrm>
          <a:prstGeom prst="rect">
            <a:avLst/>
          </a:prstGeom>
          <a:noFill/>
        </p:spPr>
        <p:txBody>
          <a:bodyPr wrap="square" rtlCol="0">
            <a:spAutoFit/>
          </a:bodyPr>
          <a:lstStyle/>
          <a:p>
            <a:r>
              <a:rPr kumimoji="1" lang="ja-JP" altLang="en-US" sz="1600"/>
              <a:t>図</a:t>
            </a:r>
            <a:r>
              <a:rPr kumimoji="1" lang="en-US" altLang="ja-JP" sz="1600" dirty="0"/>
              <a:t>3</a:t>
            </a:r>
            <a:r>
              <a:rPr lang="en-US" altLang="ja-JP" sz="1600" dirty="0"/>
              <a:t>:</a:t>
            </a:r>
            <a:r>
              <a:rPr lang="ja-JP" altLang="en-US" sz="1600"/>
              <a:t> </a:t>
            </a:r>
            <a:r>
              <a:rPr lang="en-US" altLang="ja-JP" sz="1600" dirty="0"/>
              <a:t>2020/10/17</a:t>
            </a:r>
            <a:r>
              <a:rPr lang="ja-JP" altLang="en-US" sz="1600"/>
              <a:t>における</a:t>
            </a:r>
            <a:r>
              <a:rPr lang="en-US" altLang="ja-JP" sz="1600" dirty="0"/>
              <a:t> dip(ANC)</a:t>
            </a:r>
            <a:r>
              <a:rPr lang="ja-JP" altLang="en-US" sz="1600"/>
              <a:t>と</a:t>
            </a:r>
            <a:r>
              <a:rPr lang="en-US" altLang="ja-JP" sz="1600" dirty="0" err="1"/>
              <a:t>offdip</a:t>
            </a:r>
            <a:r>
              <a:rPr lang="en-US" altLang="ja-JP" sz="1600" dirty="0"/>
              <a:t>(EUS)</a:t>
            </a:r>
            <a:r>
              <a:rPr lang="ja-JP" altLang="en-US" sz="1600"/>
              <a:t>の</a:t>
            </a:r>
            <a:r>
              <a:rPr lang="en-US" altLang="ja-JP" sz="1600" dirty="0"/>
              <a:t>EUEL</a:t>
            </a:r>
            <a:endParaRPr kumimoji="1" lang="ja-JP" altLang="en-US" sz="1600" dirty="0"/>
          </a:p>
        </p:txBody>
      </p:sp>
      <p:sp>
        <p:nvSpPr>
          <p:cNvPr id="7" name="テキスト ボックス 6">
            <a:extLst>
              <a:ext uri="{FF2B5EF4-FFF2-40B4-BE49-F238E27FC236}">
                <a16:creationId xmlns:a16="http://schemas.microsoft.com/office/drawing/2014/main" id="{8FD7FFED-A47F-CBD6-8114-7100E7981D26}"/>
              </a:ext>
            </a:extLst>
          </p:cNvPr>
          <p:cNvSpPr txBox="1"/>
          <p:nvPr/>
        </p:nvSpPr>
        <p:spPr>
          <a:xfrm>
            <a:off x="6531715" y="6245449"/>
            <a:ext cx="4534305" cy="584775"/>
          </a:xfrm>
          <a:prstGeom prst="rect">
            <a:avLst/>
          </a:prstGeom>
          <a:noFill/>
        </p:spPr>
        <p:txBody>
          <a:bodyPr wrap="square" rtlCol="0">
            <a:spAutoFit/>
          </a:bodyPr>
          <a:lstStyle/>
          <a:p>
            <a:r>
              <a:rPr kumimoji="1" lang="ja-JP" altLang="en-US" sz="1600"/>
              <a:t>図</a:t>
            </a:r>
            <a:r>
              <a:rPr kumimoji="1" lang="en-US" altLang="ja-JP" sz="1600" dirty="0"/>
              <a:t>4</a:t>
            </a:r>
            <a:r>
              <a:rPr lang="en-US" altLang="ja-JP" sz="1600" dirty="0"/>
              <a:t>:</a:t>
            </a:r>
            <a:r>
              <a:rPr lang="ja-JP" altLang="en-US" sz="1600"/>
              <a:t> </a:t>
            </a:r>
            <a:r>
              <a:rPr lang="en-US" altLang="ja-JP" sz="1600" dirty="0"/>
              <a:t>2017/06/27</a:t>
            </a:r>
            <a:r>
              <a:rPr lang="ja-JP" altLang="en-US" sz="1600"/>
              <a:t>における</a:t>
            </a:r>
            <a:r>
              <a:rPr lang="en-US" altLang="ja-JP" sz="1600" dirty="0"/>
              <a:t> dip(ANC)</a:t>
            </a:r>
            <a:r>
              <a:rPr lang="ja-JP" altLang="en-US" sz="1600"/>
              <a:t>と</a:t>
            </a:r>
            <a:r>
              <a:rPr lang="en-US" altLang="ja-JP" sz="1600" dirty="0" err="1"/>
              <a:t>offdip</a:t>
            </a:r>
            <a:r>
              <a:rPr lang="en-US" altLang="ja-JP" sz="1600" dirty="0"/>
              <a:t>(EUS)</a:t>
            </a:r>
            <a:r>
              <a:rPr lang="ja-JP" altLang="en-US" sz="1600"/>
              <a:t>の</a:t>
            </a:r>
            <a:r>
              <a:rPr lang="en-US" altLang="ja-JP" sz="1600" dirty="0"/>
              <a:t>EUEL</a:t>
            </a:r>
            <a:endParaRPr kumimoji="1" lang="ja-JP" altLang="en-US" sz="1600" dirty="0"/>
          </a:p>
        </p:txBody>
      </p:sp>
      <p:sp>
        <p:nvSpPr>
          <p:cNvPr id="8" name="正方形/長方形 7">
            <a:extLst>
              <a:ext uri="{FF2B5EF4-FFF2-40B4-BE49-F238E27FC236}">
                <a16:creationId xmlns:a16="http://schemas.microsoft.com/office/drawing/2014/main" id="{BF31EF2B-DC62-6DF3-96D5-113DB3233031}"/>
              </a:ext>
            </a:extLst>
          </p:cNvPr>
          <p:cNvSpPr/>
          <p:nvPr/>
        </p:nvSpPr>
        <p:spPr>
          <a:xfrm>
            <a:off x="3051208" y="6172200"/>
            <a:ext cx="433137" cy="112196"/>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B0AF52E-65D2-9085-81FB-F26C9E3B51A5}"/>
              </a:ext>
            </a:extLst>
          </p:cNvPr>
          <p:cNvSpPr txBox="1"/>
          <p:nvPr/>
        </p:nvSpPr>
        <p:spPr>
          <a:xfrm>
            <a:off x="1582689" y="2955344"/>
            <a:ext cx="1975546" cy="400110"/>
          </a:xfrm>
          <a:prstGeom prst="rect">
            <a:avLst/>
          </a:prstGeom>
          <a:noFill/>
        </p:spPr>
        <p:txBody>
          <a:bodyPr wrap="square" rtlCol="0">
            <a:spAutoFit/>
          </a:bodyPr>
          <a:lstStyle/>
          <a:p>
            <a:r>
              <a:rPr lang="ja-JP" altLang="en-US" sz="2000"/>
              <a:t>通常のイベント</a:t>
            </a:r>
            <a:endParaRPr kumimoji="1" lang="ja-JP" altLang="en-US" sz="2000"/>
          </a:p>
        </p:txBody>
      </p:sp>
    </p:spTree>
    <p:extLst>
      <p:ext uri="{BB962C8B-B14F-4D97-AF65-F5344CB8AC3E}">
        <p14:creationId xmlns:p14="http://schemas.microsoft.com/office/powerpoint/2010/main" val="2381277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4AF0634-764C-35A2-4F52-D302C8DAEACF}"/>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pPr/>
              <a:t>6</a:t>
            </a:fld>
            <a:endParaRPr kumimoji="1" lang="ja-JP" altLang="en-US" dirty="0"/>
          </a:p>
        </p:txBody>
      </p:sp>
      <p:sp>
        <p:nvSpPr>
          <p:cNvPr id="7" name="タイトル 1">
            <a:extLst>
              <a:ext uri="{FF2B5EF4-FFF2-40B4-BE49-F238E27FC236}">
                <a16:creationId xmlns:a16="http://schemas.microsoft.com/office/drawing/2014/main" id="{2C2E9F5B-5ECB-560E-B2A3-96B1BC6C1CA9}"/>
              </a:ext>
            </a:extLst>
          </p:cNvPr>
          <p:cNvSpPr>
            <a:spLocks noGrp="1"/>
          </p:cNvSpPr>
          <p:nvPr>
            <p:ph type="title"/>
          </p:nvPr>
        </p:nvSpPr>
        <p:spPr>
          <a:xfrm>
            <a:off x="455452" y="531926"/>
            <a:ext cx="6123009" cy="520068"/>
          </a:xfrm>
        </p:spPr>
        <p:txBody>
          <a:bodyPr>
            <a:normAutofit/>
          </a:bodyPr>
          <a:lstStyle/>
          <a:p>
            <a:r>
              <a:rPr lang="en-US" altLang="ja-JP" sz="2800" dirty="0"/>
              <a:t>MAGDAS</a:t>
            </a:r>
            <a:r>
              <a:rPr lang="ja-JP" altLang="en-US" sz="2800" dirty="0"/>
              <a:t>について</a:t>
            </a:r>
            <a:endParaRPr kumimoji="1" lang="ja-JP" altLang="en-US" sz="2800" dirty="0"/>
          </a:p>
        </p:txBody>
      </p:sp>
      <p:sp>
        <p:nvSpPr>
          <p:cNvPr id="9" name="テキスト ボックス 8">
            <a:extLst>
              <a:ext uri="{FF2B5EF4-FFF2-40B4-BE49-F238E27FC236}">
                <a16:creationId xmlns:a16="http://schemas.microsoft.com/office/drawing/2014/main" id="{7A74D7D3-E41D-E2FB-7830-6B23CB641226}"/>
              </a:ext>
            </a:extLst>
          </p:cNvPr>
          <p:cNvSpPr txBox="1"/>
          <p:nvPr/>
        </p:nvSpPr>
        <p:spPr>
          <a:xfrm>
            <a:off x="610398" y="4793833"/>
            <a:ext cx="10015946" cy="1876796"/>
          </a:xfrm>
          <a:prstGeom prst="rect">
            <a:avLst/>
          </a:prstGeom>
          <a:noFill/>
        </p:spPr>
        <p:txBody>
          <a:bodyPr wrap="square">
            <a:spAutoFit/>
          </a:bodyPr>
          <a:lstStyle/>
          <a:p>
            <a:pPr>
              <a:lnSpc>
                <a:spcPct val="150000"/>
              </a:lnSpc>
            </a:pPr>
            <a:r>
              <a:rPr lang="ja-JP" altLang="en-US" sz="2000" dirty="0"/>
              <a:t>・九州大学の国際宇宙惑星環境研究センターが中心となって運用する地磁気</a:t>
            </a:r>
            <a:r>
              <a:rPr lang="ja-JP" altLang="en-US" sz="2000"/>
              <a:t>観測ネットワーク</a:t>
            </a:r>
            <a:endParaRPr lang="en-US" altLang="ja-JP" sz="2000" dirty="0"/>
          </a:p>
          <a:p>
            <a:pPr>
              <a:lnSpc>
                <a:spcPct val="150000"/>
              </a:lnSpc>
            </a:pPr>
            <a:r>
              <a:rPr lang="ja-JP" altLang="en-US" sz="2000"/>
              <a:t>・</a:t>
            </a:r>
            <a:r>
              <a:rPr lang="ja-JP" altLang="en-US" sz="2000" dirty="0"/>
              <a:t>世界中に地上磁力計を設置しており、磁場データ</a:t>
            </a:r>
            <a:r>
              <a:rPr lang="ja-JP" altLang="en-US" sz="2000"/>
              <a:t>はリアルタイムに送られて</a:t>
            </a:r>
            <a:r>
              <a:rPr lang="ja-JP" altLang="en-US" sz="2000" dirty="0"/>
              <a:t>いる。</a:t>
            </a:r>
            <a:endParaRPr lang="en-US" altLang="ja-JP" sz="2000" dirty="0"/>
          </a:p>
          <a:p>
            <a:pPr>
              <a:lnSpc>
                <a:spcPct val="150000"/>
              </a:lnSpc>
            </a:pPr>
            <a:r>
              <a:rPr lang="ja-JP" altLang="en-US" sz="2000" dirty="0"/>
              <a:t>・本研究で</a:t>
            </a:r>
            <a:r>
              <a:rPr lang="ja-JP" altLang="en-US" sz="2000"/>
              <a:t>は、南米地域の</a:t>
            </a:r>
            <a:r>
              <a:rPr lang="en-US" altLang="ja-JP" sz="2000" dirty="0"/>
              <a:t>ANC, HUA, EUS</a:t>
            </a:r>
            <a:r>
              <a:rPr lang="ja-JP" altLang="en-US" sz="2000"/>
              <a:t>の </a:t>
            </a:r>
            <a:r>
              <a:rPr lang="en-US" altLang="ja-JP" sz="2000" dirty="0"/>
              <a:t>3 </a:t>
            </a:r>
            <a:r>
              <a:rPr lang="ja-JP" altLang="en-US" sz="2000" dirty="0"/>
              <a:t>観測点の磁場データ</a:t>
            </a:r>
            <a:r>
              <a:rPr lang="ja-JP" altLang="en-US" sz="2000"/>
              <a:t>を使用</a:t>
            </a:r>
            <a:endParaRPr lang="ja-JP" altLang="en-US" sz="2000" dirty="0"/>
          </a:p>
        </p:txBody>
      </p:sp>
      <p:grpSp>
        <p:nvGrpSpPr>
          <p:cNvPr id="3" name="グループ化 2">
            <a:extLst>
              <a:ext uri="{FF2B5EF4-FFF2-40B4-BE49-F238E27FC236}">
                <a16:creationId xmlns:a16="http://schemas.microsoft.com/office/drawing/2014/main" id="{B4CECF0A-550E-9196-70F2-05745D2E5288}"/>
              </a:ext>
            </a:extLst>
          </p:cNvPr>
          <p:cNvGrpSpPr/>
          <p:nvPr/>
        </p:nvGrpSpPr>
        <p:grpSpPr>
          <a:xfrm>
            <a:off x="701253" y="1125769"/>
            <a:ext cx="9160982" cy="3397949"/>
            <a:chOff x="701253" y="597449"/>
            <a:chExt cx="9160982" cy="3397949"/>
          </a:xfrm>
        </p:grpSpPr>
        <p:grpSp>
          <p:nvGrpSpPr>
            <p:cNvPr id="2" name="グループ化 1">
              <a:extLst>
                <a:ext uri="{FF2B5EF4-FFF2-40B4-BE49-F238E27FC236}">
                  <a16:creationId xmlns:a16="http://schemas.microsoft.com/office/drawing/2014/main" id="{33C23740-9DD5-168B-0200-4C6D631EAD7B}"/>
                </a:ext>
              </a:extLst>
            </p:cNvPr>
            <p:cNvGrpSpPr/>
            <p:nvPr/>
          </p:nvGrpSpPr>
          <p:grpSpPr>
            <a:xfrm>
              <a:off x="701253" y="597449"/>
              <a:ext cx="8970631" cy="3397949"/>
              <a:chOff x="701253" y="597449"/>
              <a:chExt cx="8970631" cy="3397949"/>
            </a:xfrm>
          </p:grpSpPr>
          <p:grpSp>
            <p:nvGrpSpPr>
              <p:cNvPr id="5" name="グループ化 4">
                <a:extLst>
                  <a:ext uri="{FF2B5EF4-FFF2-40B4-BE49-F238E27FC236}">
                    <a16:creationId xmlns:a16="http://schemas.microsoft.com/office/drawing/2014/main" id="{768E7257-1D91-EBAE-2F1F-C408EDF38772}"/>
                  </a:ext>
                </a:extLst>
              </p:cNvPr>
              <p:cNvGrpSpPr/>
              <p:nvPr/>
            </p:nvGrpSpPr>
            <p:grpSpPr>
              <a:xfrm>
                <a:off x="6316233" y="597449"/>
                <a:ext cx="3355651" cy="3113007"/>
                <a:chOff x="22559926" y="5724135"/>
                <a:chExt cx="3355651" cy="3113007"/>
              </a:xfrm>
            </p:grpSpPr>
            <p:pic>
              <p:nvPicPr>
                <p:cNvPr id="6" name="Picture 6">
                  <a:extLst>
                    <a:ext uri="{FF2B5EF4-FFF2-40B4-BE49-F238E27FC236}">
                      <a16:creationId xmlns:a16="http://schemas.microsoft.com/office/drawing/2014/main" id="{53233D6B-2BAF-3643-836E-9F3FAB123E4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150" t="31986" r="219" b="16301"/>
                <a:stretch>
                  <a:fillRect/>
                </a:stretch>
              </p:blipFill>
              <p:spPr bwMode="auto">
                <a:xfrm>
                  <a:off x="22559926" y="5724135"/>
                  <a:ext cx="3355651" cy="3113007"/>
                </a:xfrm>
                <a:prstGeom prst="rect">
                  <a:avLst/>
                </a:prstGeom>
                <a:noFill/>
                <a:extLst>
                  <a:ext uri="{909E8E84-426E-40DD-AFC4-6F175D3DCCD1}">
                    <a14:hiddenFill xmlns:a14="http://schemas.microsoft.com/office/drawing/2010/main">
                      <a:solidFill>
                        <a:srgbClr val="FFFFFF"/>
                      </a:solidFill>
                    </a14:hiddenFill>
                  </a:ext>
                </a:extLst>
              </p:spPr>
            </p:pic>
            <p:pic>
              <p:nvPicPr>
                <p:cNvPr id="8" name="グラフィックス 7" descr="マーカー 単色塗りつぶし">
                  <a:extLst>
                    <a:ext uri="{FF2B5EF4-FFF2-40B4-BE49-F238E27FC236}">
                      <a16:creationId xmlns:a16="http://schemas.microsoft.com/office/drawing/2014/main" id="{90A406C9-D642-6CC9-20C9-B3FE5733D9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366245" y="6900215"/>
                  <a:ext cx="435435" cy="435435"/>
                </a:xfrm>
                <a:prstGeom prst="rect">
                  <a:avLst/>
                </a:prstGeom>
              </p:spPr>
            </p:pic>
            <p:pic>
              <p:nvPicPr>
                <p:cNvPr id="13" name="グラフィックス 12" descr="マーカー 単色塗りつぶし">
                  <a:extLst>
                    <a:ext uri="{FF2B5EF4-FFF2-40B4-BE49-F238E27FC236}">
                      <a16:creationId xmlns:a16="http://schemas.microsoft.com/office/drawing/2014/main" id="{6355A993-B73E-CBC6-374F-684BA2ECB3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482170" y="7221771"/>
                  <a:ext cx="435435" cy="435435"/>
                </a:xfrm>
                <a:prstGeom prst="rect">
                  <a:avLst/>
                </a:prstGeom>
              </p:spPr>
            </p:pic>
          </p:grpSp>
          <p:grpSp>
            <p:nvGrpSpPr>
              <p:cNvPr id="10" name="グループ化 9">
                <a:extLst>
                  <a:ext uri="{FF2B5EF4-FFF2-40B4-BE49-F238E27FC236}">
                    <a16:creationId xmlns:a16="http://schemas.microsoft.com/office/drawing/2014/main" id="{AB659022-557C-5256-8A83-8E01B3614617}"/>
                  </a:ext>
                </a:extLst>
              </p:cNvPr>
              <p:cNvGrpSpPr/>
              <p:nvPr/>
            </p:nvGrpSpPr>
            <p:grpSpPr>
              <a:xfrm>
                <a:off x="701253" y="845487"/>
                <a:ext cx="8211716" cy="2792967"/>
                <a:chOff x="968382" y="4026877"/>
                <a:chExt cx="8061096" cy="2519844"/>
              </a:xfrm>
            </p:grpSpPr>
            <p:grpSp>
              <p:nvGrpSpPr>
                <p:cNvPr id="47" name="グループ化 46">
                  <a:extLst>
                    <a:ext uri="{FF2B5EF4-FFF2-40B4-BE49-F238E27FC236}">
                      <a16:creationId xmlns:a16="http://schemas.microsoft.com/office/drawing/2014/main" id="{837A0240-783E-BB78-615C-A9EB93879FD6}"/>
                    </a:ext>
                  </a:extLst>
                </p:cNvPr>
                <p:cNvGrpSpPr/>
                <p:nvPr/>
              </p:nvGrpSpPr>
              <p:grpSpPr>
                <a:xfrm>
                  <a:off x="968382" y="4026877"/>
                  <a:ext cx="3994955" cy="2519844"/>
                  <a:chOff x="6096000" y="1211580"/>
                  <a:chExt cx="5185614" cy="3560795"/>
                </a:xfrm>
              </p:grpSpPr>
              <p:pic>
                <p:nvPicPr>
                  <p:cNvPr id="48" name="図 47" descr="グラフ, マップ&#10;&#10;自動的に生成された説明">
                    <a:extLst>
                      <a:ext uri="{FF2B5EF4-FFF2-40B4-BE49-F238E27FC236}">
                        <a16:creationId xmlns:a16="http://schemas.microsoft.com/office/drawing/2014/main" id="{6CC36506-0869-7253-6656-3A9077AF3C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1211580"/>
                    <a:ext cx="5185614" cy="3560795"/>
                  </a:xfrm>
                  <a:prstGeom prst="rect">
                    <a:avLst/>
                  </a:prstGeom>
                </p:spPr>
              </p:pic>
              <p:sp>
                <p:nvSpPr>
                  <p:cNvPr id="49" name="楕円 48">
                    <a:extLst>
                      <a:ext uri="{FF2B5EF4-FFF2-40B4-BE49-F238E27FC236}">
                        <a16:creationId xmlns:a16="http://schemas.microsoft.com/office/drawing/2014/main" id="{7AF197A0-F675-80BE-D404-1478EE1E90A6}"/>
                      </a:ext>
                    </a:extLst>
                  </p:cNvPr>
                  <p:cNvSpPr/>
                  <p:nvPr/>
                </p:nvSpPr>
                <p:spPr>
                  <a:xfrm rot="996566">
                    <a:off x="10461599" y="3102356"/>
                    <a:ext cx="670526" cy="631905"/>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59" name="直線コネクタ 58">
                  <a:extLst>
                    <a:ext uri="{FF2B5EF4-FFF2-40B4-BE49-F238E27FC236}">
                      <a16:creationId xmlns:a16="http://schemas.microsoft.com/office/drawing/2014/main" id="{C42E4783-04F5-61E3-4BC4-02C5974FA8C4}"/>
                    </a:ext>
                  </a:extLst>
                </p:cNvPr>
                <p:cNvCxnSpPr/>
                <p:nvPr/>
              </p:nvCxnSpPr>
              <p:spPr>
                <a:xfrm flipV="1">
                  <a:off x="4599284" y="4645372"/>
                  <a:ext cx="4430194" cy="702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273F00FB-12D0-3FB4-1896-FC9710750F27}"/>
                    </a:ext>
                  </a:extLst>
                </p:cNvPr>
                <p:cNvCxnSpPr/>
                <p:nvPr/>
              </p:nvCxnSpPr>
              <p:spPr>
                <a:xfrm flipV="1">
                  <a:off x="4446102" y="5730339"/>
                  <a:ext cx="4583375" cy="568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テキスト ボックス 10">
                <a:extLst>
                  <a:ext uri="{FF2B5EF4-FFF2-40B4-BE49-F238E27FC236}">
                    <a16:creationId xmlns:a16="http://schemas.microsoft.com/office/drawing/2014/main" id="{9829CD4C-E4EA-A1E2-4B40-DF32F2789093}"/>
                  </a:ext>
                </a:extLst>
              </p:cNvPr>
              <p:cNvSpPr txBox="1"/>
              <p:nvPr/>
            </p:nvSpPr>
            <p:spPr>
              <a:xfrm>
                <a:off x="1441743" y="3656844"/>
                <a:ext cx="3271654" cy="338554"/>
              </a:xfrm>
              <a:prstGeom prst="rect">
                <a:avLst/>
              </a:prstGeom>
              <a:noFill/>
            </p:spPr>
            <p:txBody>
              <a:bodyPr wrap="square" rtlCol="0">
                <a:spAutoFit/>
              </a:bodyPr>
              <a:lstStyle/>
              <a:p>
                <a:r>
                  <a:rPr kumimoji="1" lang="ja-JP" altLang="en-US" sz="1600"/>
                  <a:t>図</a:t>
                </a:r>
                <a:r>
                  <a:rPr kumimoji="1" lang="en-US" altLang="ja-JP" sz="1600" dirty="0"/>
                  <a:t>5</a:t>
                </a:r>
                <a:r>
                  <a:rPr kumimoji="1" lang="ja-JP" altLang="en-US" sz="1600"/>
                  <a:t>　</a:t>
                </a:r>
                <a:r>
                  <a:rPr kumimoji="1" lang="en-US" altLang="ja-JP" sz="1600" dirty="0"/>
                  <a:t>MAGDAS</a:t>
                </a:r>
                <a:r>
                  <a:rPr kumimoji="1" lang="ja-JP" altLang="en-US" sz="1600" dirty="0"/>
                  <a:t>観測ネットワーク</a:t>
                </a:r>
              </a:p>
            </p:txBody>
          </p:sp>
        </p:grpSp>
        <p:sp>
          <p:nvSpPr>
            <p:cNvPr id="64" name="楕円 63">
              <a:extLst>
                <a:ext uri="{FF2B5EF4-FFF2-40B4-BE49-F238E27FC236}">
                  <a16:creationId xmlns:a16="http://schemas.microsoft.com/office/drawing/2014/main" id="{811FA91D-9D2C-2ECB-1AD7-2CFC57BED606}"/>
                </a:ext>
              </a:extLst>
            </p:cNvPr>
            <p:cNvSpPr/>
            <p:nvPr/>
          </p:nvSpPr>
          <p:spPr>
            <a:xfrm rot="21428165">
              <a:off x="8150425" y="1542015"/>
              <a:ext cx="1711810" cy="1155153"/>
            </a:xfrm>
            <a:prstGeom prst="ellipse">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grpSp>
    </p:spTree>
    <p:extLst>
      <p:ext uri="{BB962C8B-B14F-4D97-AF65-F5344CB8AC3E}">
        <p14:creationId xmlns:p14="http://schemas.microsoft.com/office/powerpoint/2010/main" val="2691654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DA11B-F8C0-E3D9-6D69-EB91B03F63EC}"/>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47D1F740-68C8-2C0C-35B4-08817D6219D6}"/>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7</a:t>
            </a:fld>
            <a:endParaRPr kumimoji="1" lang="ja-JP" altLang="en-US"/>
          </a:p>
        </p:txBody>
      </p:sp>
      <p:sp>
        <p:nvSpPr>
          <p:cNvPr id="4" name="テキスト ボックス 3">
            <a:extLst>
              <a:ext uri="{FF2B5EF4-FFF2-40B4-BE49-F238E27FC236}">
                <a16:creationId xmlns:a16="http://schemas.microsoft.com/office/drawing/2014/main" id="{4B6D934D-E847-1F31-CC0C-240370674F2B}"/>
              </a:ext>
            </a:extLst>
          </p:cNvPr>
          <p:cNvSpPr txBox="1"/>
          <p:nvPr/>
        </p:nvSpPr>
        <p:spPr>
          <a:xfrm>
            <a:off x="5935609" y="5174272"/>
            <a:ext cx="5072692" cy="1384995"/>
          </a:xfrm>
          <a:prstGeom prst="rect">
            <a:avLst/>
          </a:prstGeom>
          <a:noFill/>
        </p:spPr>
        <p:txBody>
          <a:bodyPr wrap="square" rtlCol="0">
            <a:spAutoFit/>
          </a:bodyPr>
          <a:lstStyle/>
          <a:p>
            <a:r>
              <a:rPr lang="ja-JP" altLang="en-US" sz="2400" b="1">
                <a:latin typeface="Hiragino Kaku Gothic Pro W3" panose="020B0300000000000000" pitchFamily="34" charset="-128"/>
                <a:ea typeface="Hiragino Kaku Gothic Pro W3" panose="020B0300000000000000" pitchFamily="34" charset="-128"/>
              </a:rPr>
              <a:t>突発型</a:t>
            </a:r>
            <a:endParaRPr lang="en-US" altLang="ja-JP" sz="2400" b="1" dirty="0">
              <a:latin typeface="Hiragino Kaku Gothic Pro W3" panose="020B0300000000000000" pitchFamily="34" charset="-128"/>
              <a:ea typeface="Hiragino Kaku Gothic Pro W3" panose="020B0300000000000000" pitchFamily="34" charset="-128"/>
            </a:endParaRPr>
          </a:p>
          <a:p>
            <a:r>
              <a:rPr lang="ja-JP" altLang="en-US" sz="2000">
                <a:latin typeface="Hiragino Kaku Gothic Pro W3" panose="020B0300000000000000" pitchFamily="34" charset="-128"/>
                <a:ea typeface="Hiragino Kaku Gothic Pro W3" panose="020B0300000000000000" pitchFamily="34" charset="-128"/>
              </a:rPr>
              <a:t> </a:t>
            </a:r>
            <a:r>
              <a:rPr lang="en-US" altLang="ja-JP" sz="2000" dirty="0">
                <a:latin typeface="Hiragino Kaku Gothic Pro W3" panose="020B0300000000000000" pitchFamily="34" charset="-128"/>
                <a:ea typeface="Hiragino Kaku Gothic Pro W3" panose="020B0300000000000000" pitchFamily="34" charset="-128"/>
              </a:rPr>
              <a:t>EEJ</a:t>
            </a:r>
            <a:r>
              <a:rPr lang="ja-JP" altLang="en-US" sz="2000">
                <a:latin typeface="Hiragino Kaku Gothic Pro W3" panose="020B0300000000000000" pitchFamily="34" charset="-128"/>
                <a:ea typeface="Hiragino Kaku Gothic Pro W3" panose="020B0300000000000000" pitchFamily="34" charset="-128"/>
              </a:rPr>
              <a:t>が本来卓越する時間帯</a:t>
            </a:r>
            <a:r>
              <a:rPr lang="en-US" altLang="ja-JP" sz="2000" dirty="0">
                <a:latin typeface="Hiragino Kaku Gothic Pro W3" panose="020B0300000000000000" pitchFamily="34" charset="-128"/>
                <a:ea typeface="Hiragino Kaku Gothic Pro W3" panose="020B0300000000000000" pitchFamily="34" charset="-128"/>
              </a:rPr>
              <a:t>(12:00LT)</a:t>
            </a:r>
            <a:r>
              <a:rPr lang="ja-JP" altLang="en-US" sz="2000">
                <a:latin typeface="Hiragino Kaku Gothic Pro W3" panose="020B0300000000000000" pitchFamily="34" charset="-128"/>
                <a:ea typeface="Hiragino Kaku Gothic Pro W3" panose="020B0300000000000000" pitchFamily="34" charset="-128"/>
              </a:rPr>
              <a:t>で赤道付近のステーションの</a:t>
            </a:r>
            <a:r>
              <a:rPr lang="en-US" altLang="ja-JP" sz="2000" dirty="0">
                <a:latin typeface="Hiragino Kaku Gothic Pro W3" panose="020B0300000000000000" pitchFamily="34" charset="-128"/>
                <a:ea typeface="Hiragino Kaku Gothic Pro W3" panose="020B0300000000000000" pitchFamily="34" charset="-128"/>
              </a:rPr>
              <a:t>EUEL</a:t>
            </a:r>
            <a:r>
              <a:rPr lang="ja-JP" altLang="en-US" sz="2000">
                <a:latin typeface="Hiragino Kaku Gothic Pro W3" panose="020B0300000000000000" pitchFamily="34" charset="-128"/>
                <a:ea typeface="Hiragino Kaku Gothic Pro W3" panose="020B0300000000000000" pitchFamily="34" charset="-128"/>
              </a:rPr>
              <a:t>の値が大きな落ち込みを見せる形状</a:t>
            </a:r>
            <a:endParaRPr kumimoji="1" lang="ja-JP" altLang="en-US" sz="2000"/>
          </a:p>
        </p:txBody>
      </p:sp>
      <p:sp>
        <p:nvSpPr>
          <p:cNvPr id="7" name="テキスト ボックス 6">
            <a:extLst>
              <a:ext uri="{FF2B5EF4-FFF2-40B4-BE49-F238E27FC236}">
                <a16:creationId xmlns:a16="http://schemas.microsoft.com/office/drawing/2014/main" id="{AFDD12D1-25B7-7579-AF7F-885930483A45}"/>
              </a:ext>
            </a:extLst>
          </p:cNvPr>
          <p:cNvSpPr txBox="1"/>
          <p:nvPr/>
        </p:nvSpPr>
        <p:spPr>
          <a:xfrm>
            <a:off x="660146" y="5174272"/>
            <a:ext cx="4416720" cy="1384995"/>
          </a:xfrm>
          <a:prstGeom prst="rect">
            <a:avLst/>
          </a:prstGeom>
          <a:noFill/>
        </p:spPr>
        <p:txBody>
          <a:bodyPr wrap="square" rtlCol="0">
            <a:spAutoFit/>
          </a:bodyPr>
          <a:lstStyle/>
          <a:p>
            <a:r>
              <a:rPr lang="ja-JP" altLang="en-US" sz="2400" b="1">
                <a:latin typeface="Hiragino Kaku Gothic Pro W3" panose="020B0300000000000000" pitchFamily="34" charset="-128"/>
                <a:ea typeface="Hiragino Kaku Gothic Pro W3" panose="020B0300000000000000" pitchFamily="34" charset="-128"/>
              </a:rPr>
              <a:t>未発達型</a:t>
            </a:r>
            <a:endParaRPr lang="en-US" altLang="ja-JP" sz="2400" b="1" dirty="0">
              <a:latin typeface="Hiragino Kaku Gothic Pro W3" panose="020B0300000000000000" pitchFamily="34" charset="-128"/>
              <a:ea typeface="Hiragino Kaku Gothic Pro W3" panose="020B0300000000000000" pitchFamily="34" charset="-128"/>
            </a:endParaRPr>
          </a:p>
          <a:p>
            <a:r>
              <a:rPr lang="en-US" altLang="ja-JP" sz="2000" dirty="0">
                <a:latin typeface="Hiragino Kaku Gothic Pro W3" panose="020B0300000000000000" pitchFamily="34" charset="-128"/>
                <a:ea typeface="Hiragino Kaku Gothic Pro W3" panose="020B0300000000000000" pitchFamily="34" charset="-128"/>
              </a:rPr>
              <a:t>EEJ</a:t>
            </a:r>
            <a:r>
              <a:rPr lang="ja-JP" altLang="en-US" sz="2000">
                <a:latin typeface="Hiragino Kaku Gothic Pro W3" panose="020B0300000000000000" pitchFamily="34" charset="-128"/>
                <a:ea typeface="Hiragino Kaku Gothic Pro W3" panose="020B0300000000000000" pitchFamily="34" charset="-128"/>
              </a:rPr>
              <a:t>が発達しておらず、赤道付近のステーションの電流が赤道外のステーションの</a:t>
            </a:r>
            <a:r>
              <a:rPr lang="en-US" altLang="ja-JP" sz="2000" dirty="0">
                <a:latin typeface="Hiragino Kaku Gothic Pro W3" panose="020B0300000000000000" pitchFamily="34" charset="-128"/>
                <a:ea typeface="Hiragino Kaku Gothic Pro W3" panose="020B0300000000000000" pitchFamily="34" charset="-128"/>
              </a:rPr>
              <a:t>Sq</a:t>
            </a:r>
            <a:r>
              <a:rPr lang="ja-JP" altLang="en-US" sz="2000">
                <a:latin typeface="Hiragino Kaku Gothic Pro W3" panose="020B0300000000000000" pitchFamily="34" charset="-128"/>
                <a:ea typeface="Hiragino Kaku Gothic Pro W3" panose="020B0300000000000000" pitchFamily="34" charset="-128"/>
              </a:rPr>
              <a:t>電流と同程度の形状</a:t>
            </a:r>
            <a:endParaRPr kumimoji="1" lang="ja-JP" altLang="en-US" sz="2000">
              <a:latin typeface="Hiragino Kaku Gothic Pro W3" panose="020B0300000000000000" pitchFamily="34" charset="-128"/>
              <a:ea typeface="Hiragino Kaku Gothic Pro W3" panose="020B0300000000000000" pitchFamily="34" charset="-128"/>
            </a:endParaRPr>
          </a:p>
        </p:txBody>
      </p:sp>
      <p:grpSp>
        <p:nvGrpSpPr>
          <p:cNvPr id="8" name="グループ化 7">
            <a:extLst>
              <a:ext uri="{FF2B5EF4-FFF2-40B4-BE49-F238E27FC236}">
                <a16:creationId xmlns:a16="http://schemas.microsoft.com/office/drawing/2014/main" id="{143626E9-B292-76CF-20DC-99FB827C48F1}"/>
              </a:ext>
            </a:extLst>
          </p:cNvPr>
          <p:cNvGrpSpPr/>
          <p:nvPr/>
        </p:nvGrpSpPr>
        <p:grpSpPr>
          <a:xfrm>
            <a:off x="518361" y="955040"/>
            <a:ext cx="4975509" cy="4341152"/>
            <a:chOff x="9244970" y="18287938"/>
            <a:chExt cx="3024000" cy="2617636"/>
          </a:xfrm>
        </p:grpSpPr>
        <p:pic>
          <p:nvPicPr>
            <p:cNvPr id="10" name="図 9">
              <a:extLst>
                <a:ext uri="{FF2B5EF4-FFF2-40B4-BE49-F238E27FC236}">
                  <a16:creationId xmlns:a16="http://schemas.microsoft.com/office/drawing/2014/main" id="{DFE85A5E-8D36-E6FC-7A94-EF79A9299659}"/>
                </a:ext>
              </a:extLst>
            </p:cNvPr>
            <p:cNvPicPr>
              <a:picLocks noChangeAspect="1"/>
            </p:cNvPicPr>
            <p:nvPr/>
          </p:nvPicPr>
          <p:blipFill>
            <a:blip r:embed="rId3"/>
            <a:stretch>
              <a:fillRect/>
            </a:stretch>
          </p:blipFill>
          <p:spPr>
            <a:xfrm>
              <a:off x="9244970" y="18287938"/>
              <a:ext cx="3024000" cy="2268000"/>
            </a:xfrm>
            <a:prstGeom prst="rect">
              <a:avLst/>
            </a:prstGeom>
          </p:spPr>
        </p:pic>
        <p:sp>
          <p:nvSpPr>
            <p:cNvPr id="11" name="正方形/長方形 10">
              <a:extLst>
                <a:ext uri="{FF2B5EF4-FFF2-40B4-BE49-F238E27FC236}">
                  <a16:creationId xmlns:a16="http://schemas.microsoft.com/office/drawing/2014/main" id="{6B7D1163-D358-937C-053A-DEB956C6358D}"/>
                </a:ext>
              </a:extLst>
            </p:cNvPr>
            <p:cNvSpPr/>
            <p:nvPr/>
          </p:nvSpPr>
          <p:spPr>
            <a:xfrm>
              <a:off x="9444516" y="20505464"/>
              <a:ext cx="2574851" cy="400110"/>
            </a:xfrm>
            <a:prstGeom prst="rect">
              <a:avLst/>
            </a:prstGeom>
          </p:spPr>
          <p:txBody>
            <a:bodyPr wrap="square">
              <a:spAutoFit/>
            </a:bodyPr>
            <a:lstStyle/>
            <a:p>
              <a:r>
                <a:rPr lang="ja-JP" altLang="en-US" sz="2000">
                  <a:solidFill>
                    <a:srgbClr val="000000"/>
                  </a:solidFill>
                  <a:latin typeface="Hiragino Kaku Gothic Pro W3" panose="020B0300000000000000" pitchFamily="34" charset="-128"/>
                  <a:ea typeface="Hiragino Kaku Gothic Pro W3" panose="020B0300000000000000" pitchFamily="34" charset="-128"/>
                </a:rPr>
                <a:t>図</a:t>
              </a:r>
              <a:r>
                <a:rPr lang="en-US" altLang="ja-JP" sz="2000" dirty="0">
                  <a:solidFill>
                    <a:srgbClr val="000000"/>
                  </a:solidFill>
                  <a:latin typeface="Hiragino Kaku Gothic Pro W3" panose="020B0300000000000000" pitchFamily="34" charset="-128"/>
                  <a:ea typeface="Hiragino Kaku Gothic Pro W3" panose="020B0300000000000000" pitchFamily="34" charset="-128"/>
                </a:rPr>
                <a:t>6</a:t>
              </a:r>
              <a:r>
                <a:rPr lang="da-DK" altLang="ja-JP" sz="2000" dirty="0">
                  <a:solidFill>
                    <a:srgbClr val="000000"/>
                  </a:solidFill>
                  <a:latin typeface="Hiragino Kaku Gothic Pro W3" panose="020B0300000000000000" pitchFamily="34" charset="-128"/>
                  <a:ea typeface="Hiragino Kaku Gothic Pro W3" panose="020B0300000000000000" pitchFamily="34" charset="-128"/>
                </a:rPr>
                <a:t>. </a:t>
              </a:r>
              <a:r>
                <a:rPr lang="ja-JP" altLang="en-US" sz="2000">
                  <a:solidFill>
                    <a:srgbClr val="000000"/>
                  </a:solidFill>
                  <a:latin typeface="Hiragino Kaku Gothic Pro W3" panose="020B0300000000000000" pitchFamily="34" charset="-128"/>
                  <a:ea typeface="Hiragino Kaku Gothic Pro W3" panose="020B0300000000000000" pitchFamily="34" charset="-128"/>
                </a:rPr>
                <a:t>未発達型</a:t>
              </a:r>
              <a:endParaRPr lang="ja-JP" altLang="en-US" sz="2000" dirty="0">
                <a:latin typeface="Hiragino Kaku Gothic Pro W3" panose="020B0300000000000000" pitchFamily="34" charset="-128"/>
                <a:ea typeface="Hiragino Kaku Gothic Pro W3" panose="020B0300000000000000" pitchFamily="34" charset="-128"/>
              </a:endParaRPr>
            </a:p>
          </p:txBody>
        </p:sp>
      </p:grpSp>
      <p:grpSp>
        <p:nvGrpSpPr>
          <p:cNvPr id="12" name="グループ化 11">
            <a:extLst>
              <a:ext uri="{FF2B5EF4-FFF2-40B4-BE49-F238E27FC236}">
                <a16:creationId xmlns:a16="http://schemas.microsoft.com/office/drawing/2014/main" id="{CBE6BCA9-3014-B8DD-ED87-4F8A0105C9B9}"/>
              </a:ext>
            </a:extLst>
          </p:cNvPr>
          <p:cNvGrpSpPr/>
          <p:nvPr/>
        </p:nvGrpSpPr>
        <p:grpSpPr>
          <a:xfrm>
            <a:off x="5670362" y="905938"/>
            <a:ext cx="5120927" cy="4390254"/>
            <a:chOff x="9293036" y="20806334"/>
            <a:chExt cx="3024000" cy="2596830"/>
          </a:xfrm>
        </p:grpSpPr>
        <p:pic>
          <p:nvPicPr>
            <p:cNvPr id="13" name="図 12">
              <a:extLst>
                <a:ext uri="{FF2B5EF4-FFF2-40B4-BE49-F238E27FC236}">
                  <a16:creationId xmlns:a16="http://schemas.microsoft.com/office/drawing/2014/main" id="{D1FCC66D-043E-6B2B-F452-5303042AD2D5}"/>
                </a:ext>
              </a:extLst>
            </p:cNvPr>
            <p:cNvPicPr>
              <a:picLocks noChangeAspect="1"/>
            </p:cNvPicPr>
            <p:nvPr/>
          </p:nvPicPr>
          <p:blipFill>
            <a:blip r:embed="rId4"/>
            <a:stretch>
              <a:fillRect/>
            </a:stretch>
          </p:blipFill>
          <p:spPr>
            <a:xfrm>
              <a:off x="9293036" y="20806334"/>
              <a:ext cx="3024000" cy="2268000"/>
            </a:xfrm>
            <a:prstGeom prst="rect">
              <a:avLst/>
            </a:prstGeom>
          </p:spPr>
        </p:pic>
        <p:sp>
          <p:nvSpPr>
            <p:cNvPr id="14" name="正方形/長方形 13">
              <a:extLst>
                <a:ext uri="{FF2B5EF4-FFF2-40B4-BE49-F238E27FC236}">
                  <a16:creationId xmlns:a16="http://schemas.microsoft.com/office/drawing/2014/main" id="{36921EBF-B3DE-3375-EB2E-4648DF9858E2}"/>
                </a:ext>
              </a:extLst>
            </p:cNvPr>
            <p:cNvSpPr/>
            <p:nvPr/>
          </p:nvSpPr>
          <p:spPr>
            <a:xfrm>
              <a:off x="9595528" y="23003054"/>
              <a:ext cx="2574851" cy="400110"/>
            </a:xfrm>
            <a:prstGeom prst="rect">
              <a:avLst/>
            </a:prstGeom>
          </p:spPr>
          <p:txBody>
            <a:bodyPr wrap="square">
              <a:spAutoFit/>
            </a:bodyPr>
            <a:lstStyle/>
            <a:p>
              <a:r>
                <a:rPr lang="ja-JP" altLang="en-US" sz="2000">
                  <a:solidFill>
                    <a:srgbClr val="000000"/>
                  </a:solidFill>
                  <a:latin typeface="Hiragino Kaku Gothic Pro W3" panose="020B0300000000000000" pitchFamily="34" charset="-128"/>
                  <a:ea typeface="Hiragino Kaku Gothic Pro W3" panose="020B0300000000000000" pitchFamily="34" charset="-128"/>
                </a:rPr>
                <a:t>図</a:t>
              </a:r>
              <a:r>
                <a:rPr lang="en-US" altLang="ja-JP" sz="2000" dirty="0">
                  <a:solidFill>
                    <a:srgbClr val="000000"/>
                  </a:solidFill>
                  <a:latin typeface="Hiragino Kaku Gothic Pro W3" panose="020B0300000000000000" pitchFamily="34" charset="-128"/>
                  <a:ea typeface="Hiragino Kaku Gothic Pro W3" panose="020B0300000000000000" pitchFamily="34" charset="-128"/>
                </a:rPr>
                <a:t>7</a:t>
              </a:r>
              <a:r>
                <a:rPr lang="da-DK" altLang="ja-JP" sz="2000" dirty="0">
                  <a:solidFill>
                    <a:srgbClr val="000000"/>
                  </a:solidFill>
                  <a:latin typeface="Hiragino Kaku Gothic Pro W3" panose="020B0300000000000000" pitchFamily="34" charset="-128"/>
                  <a:ea typeface="Hiragino Kaku Gothic Pro W3" panose="020B0300000000000000" pitchFamily="34" charset="-128"/>
                </a:rPr>
                <a:t>. </a:t>
              </a:r>
              <a:r>
                <a:rPr lang="ja-JP" altLang="en-US" sz="2000">
                  <a:solidFill>
                    <a:srgbClr val="000000"/>
                  </a:solidFill>
                  <a:latin typeface="Hiragino Kaku Gothic Pro W3" panose="020B0300000000000000" pitchFamily="34" charset="-128"/>
                  <a:ea typeface="Hiragino Kaku Gothic Pro W3" panose="020B0300000000000000" pitchFamily="34" charset="-128"/>
                </a:rPr>
                <a:t>突発型</a:t>
              </a:r>
              <a:endParaRPr lang="ja-JP" altLang="en-US" sz="2000" dirty="0">
                <a:latin typeface="Hiragino Kaku Gothic Pro W3" panose="020B0300000000000000" pitchFamily="34" charset="-128"/>
                <a:ea typeface="Hiragino Kaku Gothic Pro W3" panose="020B0300000000000000" pitchFamily="34" charset="-128"/>
              </a:endParaRPr>
            </a:p>
          </p:txBody>
        </p:sp>
      </p:grpSp>
      <p:sp>
        <p:nvSpPr>
          <p:cNvPr id="15" name="タイトル 14">
            <a:extLst>
              <a:ext uri="{FF2B5EF4-FFF2-40B4-BE49-F238E27FC236}">
                <a16:creationId xmlns:a16="http://schemas.microsoft.com/office/drawing/2014/main" id="{89A11DF4-5686-0AE5-9B2D-44172EC45A0E}"/>
              </a:ext>
            </a:extLst>
          </p:cNvPr>
          <p:cNvSpPr>
            <a:spLocks noGrp="1"/>
          </p:cNvSpPr>
          <p:nvPr>
            <p:ph type="title" idx="4294967295"/>
          </p:nvPr>
        </p:nvSpPr>
        <p:spPr>
          <a:xfrm>
            <a:off x="335405" y="265100"/>
            <a:ext cx="5158465" cy="640838"/>
          </a:xfrm>
        </p:spPr>
        <p:txBody>
          <a:bodyPr>
            <a:normAutofit/>
          </a:bodyPr>
          <a:lstStyle/>
          <a:p>
            <a:r>
              <a:rPr kumimoji="1" lang="ja-JP" altLang="en-US" sz="2800"/>
              <a:t>特異型</a:t>
            </a:r>
            <a:r>
              <a:rPr kumimoji="1" lang="en-US" altLang="ja-JP" sz="2800" dirty="0"/>
              <a:t>EEJ</a:t>
            </a:r>
            <a:r>
              <a:rPr kumimoji="1" lang="ja-JP" altLang="en-US" sz="2800"/>
              <a:t>の定義</a:t>
            </a:r>
          </a:p>
        </p:txBody>
      </p:sp>
    </p:spTree>
    <p:extLst>
      <p:ext uri="{BB962C8B-B14F-4D97-AF65-F5344CB8AC3E}">
        <p14:creationId xmlns:p14="http://schemas.microsoft.com/office/powerpoint/2010/main" val="518530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45F26-92E6-42B3-0DDD-86A7EA35EC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DE17610-3430-F3C7-7C0C-E6C68A017839}"/>
              </a:ext>
            </a:extLst>
          </p:cNvPr>
          <p:cNvSpPr>
            <a:spLocks noGrp="1"/>
          </p:cNvSpPr>
          <p:nvPr>
            <p:ph type="title"/>
          </p:nvPr>
        </p:nvSpPr>
        <p:spPr>
          <a:xfrm>
            <a:off x="195622" y="564187"/>
            <a:ext cx="9842115" cy="684919"/>
          </a:xfrm>
        </p:spPr>
        <p:txBody>
          <a:bodyPr>
            <a:noAutofit/>
          </a:bodyPr>
          <a:lstStyle/>
          <a:p>
            <a:r>
              <a:rPr lang="ja-JP" altLang="en-US" sz="2800"/>
              <a:t>先行研究</a:t>
            </a:r>
            <a:br>
              <a:rPr lang="en-US" altLang="ja-JP" sz="2800" dirty="0"/>
            </a:br>
            <a:r>
              <a:rPr lang="en-US" altLang="ja-JP" sz="2800" dirty="0"/>
              <a:t>	</a:t>
            </a:r>
            <a:r>
              <a:rPr lang="ja-JP" altLang="en-US" sz="2800"/>
              <a:t>特異型</a:t>
            </a:r>
            <a:r>
              <a:rPr lang="en-US" altLang="ja-JP" sz="2800" dirty="0"/>
              <a:t>EEJ</a:t>
            </a:r>
            <a:r>
              <a:rPr lang="ja-JP" altLang="en-US" sz="2800"/>
              <a:t>の調査</a:t>
            </a:r>
            <a:r>
              <a:rPr kumimoji="1" lang="ja-JP" altLang="en-US" sz="2800"/>
              <a:t>（池末修論</a:t>
            </a:r>
            <a:r>
              <a:rPr kumimoji="1" lang="ja-JP" altLang="en-US" sz="2800" dirty="0"/>
              <a:t>）</a:t>
            </a:r>
          </a:p>
        </p:txBody>
      </p:sp>
      <p:sp>
        <p:nvSpPr>
          <p:cNvPr id="3" name="スライド番号プレースホルダー 2">
            <a:extLst>
              <a:ext uri="{FF2B5EF4-FFF2-40B4-BE49-F238E27FC236}">
                <a16:creationId xmlns:a16="http://schemas.microsoft.com/office/drawing/2014/main" id="{3F5F89BE-BFDB-1EFA-638D-14108234438F}"/>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8</a:t>
            </a:fld>
            <a:endParaRPr kumimoji="1" lang="ja-JP" altLang="en-US"/>
          </a:p>
        </p:txBody>
      </p:sp>
      <p:sp>
        <p:nvSpPr>
          <p:cNvPr id="4" name="テキスト ボックス 3">
            <a:extLst>
              <a:ext uri="{FF2B5EF4-FFF2-40B4-BE49-F238E27FC236}">
                <a16:creationId xmlns:a16="http://schemas.microsoft.com/office/drawing/2014/main" id="{9373E057-8721-848B-0B4B-0E29AA4433C3}"/>
              </a:ext>
            </a:extLst>
          </p:cNvPr>
          <p:cNvSpPr txBox="1"/>
          <p:nvPr/>
        </p:nvSpPr>
        <p:spPr>
          <a:xfrm>
            <a:off x="137718" y="1446183"/>
            <a:ext cx="7173198" cy="3416320"/>
          </a:xfrm>
          <a:prstGeom prst="rect">
            <a:avLst/>
          </a:prstGeom>
          <a:noFill/>
          <a:ln>
            <a:solidFill>
              <a:schemeClr val="accent2"/>
            </a:solidFill>
          </a:ln>
        </p:spPr>
        <p:txBody>
          <a:bodyPr wrap="square" rtlCol="0">
            <a:spAutoFit/>
          </a:bodyPr>
          <a:lstStyle/>
          <a:p>
            <a:r>
              <a:rPr kumimoji="1" lang="ja-JP" altLang="en-US" dirty="0"/>
              <a:t>使用</a:t>
            </a:r>
            <a:r>
              <a:rPr kumimoji="1" lang="ja-JP" altLang="en-US"/>
              <a:t>データ：</a:t>
            </a:r>
            <a:r>
              <a:rPr kumimoji="1" lang="en-US" altLang="ja-JP" dirty="0"/>
              <a:t> </a:t>
            </a:r>
            <a:r>
              <a:rPr lang="ja-JP" altLang="en-US"/>
              <a:t>準静穏日</a:t>
            </a:r>
            <a:r>
              <a:rPr lang="en-US" altLang="ja-JP" dirty="0"/>
              <a:t>(</a:t>
            </a:r>
            <a:r>
              <a:rPr lang="en-US" altLang="ja-JP" dirty="0" err="1"/>
              <a:t>Kp</a:t>
            </a:r>
            <a:r>
              <a:rPr lang="en-US" altLang="ja-JP" dirty="0"/>
              <a:t>&lt;4</a:t>
            </a:r>
            <a:r>
              <a:rPr lang="ja-JP" altLang="en-US"/>
              <a:t>かつ</a:t>
            </a:r>
            <a:r>
              <a:rPr lang="en-US" altLang="ja-JP" dirty="0" err="1"/>
              <a:t>EDst</a:t>
            </a:r>
            <a:r>
              <a:rPr lang="en-US" altLang="ja-JP" dirty="0"/>
              <a:t>&gt;-30nT)</a:t>
            </a:r>
            <a:r>
              <a:rPr lang="ja-JP" altLang="en-US"/>
              <a:t>のもとで南米領域の</a:t>
            </a:r>
            <a:r>
              <a:rPr lang="en-US" altLang="ja-JP" dirty="0"/>
              <a:t>MAGDAS</a:t>
            </a:r>
            <a:r>
              <a:rPr lang="ja-JP" altLang="en-US"/>
              <a:t>観測点</a:t>
            </a:r>
            <a:r>
              <a:rPr lang="en-US" altLang="ja-JP" dirty="0"/>
              <a:t>(ANC, HUA,EUS)</a:t>
            </a:r>
          </a:p>
          <a:p>
            <a:r>
              <a:rPr lang="ja-JP" altLang="en-US"/>
              <a:t>解析</a:t>
            </a:r>
            <a:r>
              <a:rPr kumimoji="1" lang="ja-JP" altLang="en-US" dirty="0"/>
              <a:t>期間</a:t>
            </a:r>
            <a:r>
              <a:rPr kumimoji="1" lang="ja-JP" altLang="en-US"/>
              <a:t>：</a:t>
            </a:r>
            <a:r>
              <a:rPr lang="en-US" altLang="ja-JP" dirty="0"/>
              <a:t>2014/1/1~2020/12/31</a:t>
            </a:r>
            <a:r>
              <a:rPr lang="ja-JP" altLang="en-US"/>
              <a:t>の</a:t>
            </a:r>
            <a:r>
              <a:rPr lang="en-US" altLang="ja-JP" dirty="0"/>
              <a:t>7</a:t>
            </a:r>
            <a:r>
              <a:rPr lang="ja-JP" altLang="en-US"/>
              <a:t>年</a:t>
            </a:r>
            <a:endParaRPr lang="en-US" altLang="ja-JP" dirty="0"/>
          </a:p>
          <a:p>
            <a:endParaRPr lang="en-US" altLang="ja-JP" dirty="0"/>
          </a:p>
          <a:p>
            <a:r>
              <a:rPr lang="ja-JP" altLang="en-US" dirty="0"/>
              <a:t>解析</a:t>
            </a:r>
            <a:r>
              <a:rPr lang="ja-JP" altLang="en-US"/>
              <a:t>内容：特型</a:t>
            </a:r>
            <a:r>
              <a:rPr lang="en-US" altLang="ja-JP" dirty="0"/>
              <a:t>EEJ</a:t>
            </a:r>
            <a:r>
              <a:rPr lang="ja-JP" altLang="en-US"/>
              <a:t>を</a:t>
            </a:r>
            <a:r>
              <a:rPr lang="ja-JP" altLang="en-US" b="1"/>
              <a:t>目視</a:t>
            </a:r>
            <a:r>
              <a:rPr lang="ja-JP" altLang="en-US"/>
              <a:t>で未発達型と突発型に分類し、未発達型の月ごとの発生傾向を調査</a:t>
            </a:r>
            <a:endParaRPr lang="en-US" altLang="ja-JP" dirty="0"/>
          </a:p>
          <a:p>
            <a:endParaRPr lang="en-US" altLang="ja-JP" dirty="0"/>
          </a:p>
          <a:p>
            <a:r>
              <a:rPr lang="ja-JP" altLang="en-US"/>
              <a:t>結果</a:t>
            </a:r>
            <a:r>
              <a:rPr lang="en-US" altLang="ja-JP" dirty="0"/>
              <a:t>:</a:t>
            </a:r>
            <a:r>
              <a:rPr lang="ja-JP" altLang="en-US"/>
              <a:t> </a:t>
            </a:r>
            <a:r>
              <a:rPr lang="ja-JP" altLang="en-US" b="1"/>
              <a:t>未発達型は</a:t>
            </a:r>
            <a:r>
              <a:rPr lang="en-US" altLang="ja-JP" b="1" dirty="0"/>
              <a:t>J-solstice</a:t>
            </a:r>
            <a:r>
              <a:rPr lang="ja-JP" altLang="en-US" b="1"/>
              <a:t>に多い傾向を示唆</a:t>
            </a:r>
            <a:endParaRPr lang="en-US" altLang="ja-JP" b="1" dirty="0"/>
          </a:p>
          <a:p>
            <a:endParaRPr lang="en-US" altLang="ja-JP" dirty="0"/>
          </a:p>
          <a:p>
            <a:r>
              <a:rPr lang="en-US" altLang="ja-JP" dirty="0"/>
              <a:t>Lunar age = 6~9,</a:t>
            </a:r>
            <a:r>
              <a:rPr lang="ja-JP" altLang="en-US"/>
              <a:t> </a:t>
            </a:r>
            <a:r>
              <a:rPr lang="en-US" altLang="ja-JP" dirty="0"/>
              <a:t>18~21</a:t>
            </a:r>
            <a:r>
              <a:rPr lang="ja-JP" altLang="en-US"/>
              <a:t>において、昼間側では、平均よりも</a:t>
            </a:r>
            <a:r>
              <a:rPr lang="en-US" altLang="ja-JP" dirty="0"/>
              <a:t>EUEL</a:t>
            </a:r>
            <a:r>
              <a:rPr lang="ja-JP" altLang="en-US"/>
              <a:t>の値が小さく、西向き電流が流れていることがわかり、潮汐効果との対応関係を示唆</a:t>
            </a:r>
            <a:endParaRPr lang="ja-JP" altLang="en-US" dirty="0"/>
          </a:p>
        </p:txBody>
      </p:sp>
      <p:pic>
        <p:nvPicPr>
          <p:cNvPr id="10" name="図 9" descr="グラフ, ヒストグラム&#10;&#10;AI 生成コンテンツは誤りを含む可能性があります。">
            <a:extLst>
              <a:ext uri="{FF2B5EF4-FFF2-40B4-BE49-F238E27FC236}">
                <a16:creationId xmlns:a16="http://schemas.microsoft.com/office/drawing/2014/main" id="{C58F008C-F36F-4877-8839-5EFAD14449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4357" y="242451"/>
            <a:ext cx="3754135" cy="1985443"/>
          </a:xfrm>
          <a:prstGeom prst="rect">
            <a:avLst/>
          </a:prstGeom>
        </p:spPr>
      </p:pic>
      <p:sp>
        <p:nvSpPr>
          <p:cNvPr id="12" name="テキスト ボックス 11">
            <a:extLst>
              <a:ext uri="{FF2B5EF4-FFF2-40B4-BE49-F238E27FC236}">
                <a16:creationId xmlns:a16="http://schemas.microsoft.com/office/drawing/2014/main" id="{1B81CE95-B5D1-8F98-E0D6-84D56916A961}"/>
              </a:ext>
            </a:extLst>
          </p:cNvPr>
          <p:cNvSpPr txBox="1"/>
          <p:nvPr/>
        </p:nvSpPr>
        <p:spPr>
          <a:xfrm>
            <a:off x="137718" y="5059581"/>
            <a:ext cx="8834272" cy="1758815"/>
          </a:xfrm>
          <a:prstGeom prst="rect">
            <a:avLst/>
          </a:prstGeom>
          <a:noFill/>
        </p:spPr>
        <p:txBody>
          <a:bodyPr wrap="square">
            <a:spAutoFit/>
          </a:bodyPr>
          <a:lstStyle/>
          <a:p>
            <a:r>
              <a:rPr lang="ja-JP" altLang="en-US" sz="2800" b="1">
                <a:latin typeface="Hiragino Kaku Gothic Pro W3" panose="020B0300000000000000" pitchFamily="34" charset="-128"/>
                <a:ea typeface="Hiragino Kaku Gothic Pro W3" panose="020B0300000000000000" pitchFamily="34" charset="-128"/>
              </a:rPr>
              <a:t>本研究の目的</a:t>
            </a:r>
            <a:r>
              <a:rPr lang="en-US" altLang="ja-JP" sz="2800" b="1" dirty="0">
                <a:latin typeface="Hiragino Kaku Gothic Pro W3" panose="020B0300000000000000" pitchFamily="34" charset="-128"/>
                <a:ea typeface="Hiragino Kaku Gothic Pro W3" panose="020B0300000000000000" pitchFamily="34" charset="-128"/>
              </a:rPr>
              <a:t>:</a:t>
            </a:r>
          </a:p>
          <a:p>
            <a:endParaRPr lang="en-US" altLang="ja-JP" b="1" dirty="0">
              <a:latin typeface="Hiragino Kaku Gothic Pro W3" panose="020B0300000000000000" pitchFamily="34" charset="-128"/>
              <a:ea typeface="Hiragino Kaku Gothic Pro W3" panose="020B0300000000000000" pitchFamily="34" charset="-128"/>
            </a:endParaRPr>
          </a:p>
          <a:p>
            <a:pPr>
              <a:lnSpc>
                <a:spcPct val="150000"/>
              </a:lnSpc>
            </a:pPr>
            <a:r>
              <a:rPr lang="en-US" altLang="ja-JP" sz="2000" dirty="0">
                <a:latin typeface="Hiragino Kaku Gothic Pro W3" panose="020B0300000000000000" pitchFamily="34" charset="-128"/>
                <a:ea typeface="Hiragino Kaku Gothic Pro W3" panose="020B0300000000000000" pitchFamily="34" charset="-128"/>
              </a:rPr>
              <a:t>①</a:t>
            </a:r>
            <a:r>
              <a:rPr lang="ja-JP" altLang="en-US" sz="2000">
                <a:latin typeface="Hiragino Kaku Gothic Pro W3" panose="020B0300000000000000" pitchFamily="34" charset="-128"/>
                <a:ea typeface="Hiragino Kaku Gothic Pro W3" panose="020B0300000000000000" pitchFamily="34" charset="-128"/>
              </a:rPr>
              <a:t> 特異型</a:t>
            </a:r>
            <a:r>
              <a:rPr lang="en-US" altLang="ja-JP" sz="2000" dirty="0">
                <a:latin typeface="Hiragino Kaku Gothic Pro W3" panose="020B0300000000000000" pitchFamily="34" charset="-128"/>
                <a:ea typeface="Hiragino Kaku Gothic Pro W3" panose="020B0300000000000000" pitchFamily="34" charset="-128"/>
              </a:rPr>
              <a:t>EEJ</a:t>
            </a:r>
            <a:r>
              <a:rPr lang="ja-JP" altLang="en-US" sz="2000">
                <a:latin typeface="Hiragino Kaku Gothic Pro W3" panose="020B0300000000000000" pitchFamily="34" charset="-128"/>
                <a:ea typeface="Hiragino Kaku Gothic Pro W3" panose="020B0300000000000000" pitchFamily="34" charset="-128"/>
              </a:rPr>
              <a:t>を</a:t>
            </a:r>
            <a:r>
              <a:rPr lang="ja-JP" altLang="en-US" sz="2400" b="1">
                <a:latin typeface="Hiragino Kaku Gothic Pro W3" panose="020B0300000000000000" pitchFamily="34" charset="-128"/>
                <a:ea typeface="Hiragino Kaku Gothic Pro W3" panose="020B0300000000000000" pitchFamily="34" charset="-128"/>
              </a:rPr>
              <a:t>定量的</a:t>
            </a:r>
            <a:r>
              <a:rPr lang="ja-JP" altLang="en-US" sz="2000">
                <a:latin typeface="Hiragino Kaku Gothic Pro W3" panose="020B0300000000000000" pitchFamily="34" charset="-128"/>
                <a:ea typeface="Hiragino Kaku Gothic Pro W3" panose="020B0300000000000000" pitchFamily="34" charset="-128"/>
              </a:rPr>
              <a:t>に解析し、分類を行う</a:t>
            </a:r>
            <a:endParaRPr lang="en-US" altLang="ja-JP" sz="2000" dirty="0">
              <a:latin typeface="Hiragino Kaku Gothic Pro W3" panose="020B0300000000000000" pitchFamily="34" charset="-128"/>
              <a:ea typeface="Hiragino Kaku Gothic Pro W3" panose="020B0300000000000000" pitchFamily="34" charset="-128"/>
            </a:endParaRPr>
          </a:p>
          <a:p>
            <a:pPr>
              <a:lnSpc>
                <a:spcPct val="150000"/>
              </a:lnSpc>
            </a:pPr>
            <a:r>
              <a:rPr lang="en-US" altLang="ja-JP" sz="2000" dirty="0">
                <a:latin typeface="Hiragino Kaku Gothic Pro W3" panose="020B0300000000000000" pitchFamily="34" charset="-128"/>
                <a:ea typeface="Hiragino Kaku Gothic Pro W3" panose="020B0300000000000000" pitchFamily="34" charset="-128"/>
              </a:rPr>
              <a:t>②</a:t>
            </a:r>
            <a:r>
              <a:rPr lang="ja-JP" altLang="en-US" sz="2000">
                <a:latin typeface="Hiragino Kaku Gothic Pro W3" panose="020B0300000000000000" pitchFamily="34" charset="-128"/>
                <a:ea typeface="Hiragino Kaku Gothic Pro W3" panose="020B0300000000000000" pitchFamily="34" charset="-128"/>
              </a:rPr>
              <a:t> 分類した未発達型、突発型の季節依存性や潮汐効果の影響の調査を行う</a:t>
            </a:r>
            <a:endParaRPr lang="en-US" altLang="ja-JP" sz="2000" dirty="0">
              <a:latin typeface="Hiragino Kaku Gothic Pro W3" panose="020B0300000000000000" pitchFamily="34" charset="-128"/>
              <a:ea typeface="Hiragino Kaku Gothic Pro W3" panose="020B0300000000000000" pitchFamily="34" charset="-128"/>
            </a:endParaRPr>
          </a:p>
        </p:txBody>
      </p:sp>
      <p:sp>
        <p:nvSpPr>
          <p:cNvPr id="5" name="正方形/長方形 4">
            <a:extLst>
              <a:ext uri="{FF2B5EF4-FFF2-40B4-BE49-F238E27FC236}">
                <a16:creationId xmlns:a16="http://schemas.microsoft.com/office/drawing/2014/main" id="{8CD1D337-4279-95DB-0BD7-0EB2F5EB2973}"/>
              </a:ext>
            </a:extLst>
          </p:cNvPr>
          <p:cNvSpPr/>
          <p:nvPr/>
        </p:nvSpPr>
        <p:spPr>
          <a:xfrm>
            <a:off x="7752080" y="2129457"/>
            <a:ext cx="2844457" cy="338554"/>
          </a:xfrm>
          <a:prstGeom prst="rect">
            <a:avLst/>
          </a:prstGeom>
        </p:spPr>
        <p:txBody>
          <a:bodyPr wrap="square">
            <a:spAutoFit/>
          </a:bodyPr>
          <a:lstStyle/>
          <a:p>
            <a:r>
              <a:rPr lang="ja-JP" altLang="en-US" sz="1600">
                <a:solidFill>
                  <a:srgbClr val="000000"/>
                </a:solidFill>
                <a:latin typeface="Hiragino Kaku Gothic Pro W3" panose="020B0300000000000000" pitchFamily="34" charset="-128"/>
                <a:ea typeface="Hiragino Kaku Gothic Pro W3" panose="020B0300000000000000" pitchFamily="34" charset="-128"/>
              </a:rPr>
              <a:t>図</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8</a:t>
            </a:r>
            <a:r>
              <a:rPr lang="da-DK" altLang="ja-JP" sz="1600" dirty="0">
                <a:solidFill>
                  <a:srgbClr val="000000"/>
                </a:solidFill>
                <a:latin typeface="Hiragino Kaku Gothic Pro W3" panose="020B0300000000000000" pitchFamily="34" charset="-128"/>
                <a:ea typeface="Hiragino Kaku Gothic Pro W3" panose="020B0300000000000000" pitchFamily="34" charset="-128"/>
              </a:rPr>
              <a:t>.</a:t>
            </a:r>
            <a:r>
              <a:rPr lang="ja-JP" altLang="en-US" sz="1600">
                <a:solidFill>
                  <a:srgbClr val="000000"/>
                </a:solidFill>
                <a:latin typeface="Hiragino Kaku Gothic Pro W3" panose="020B0300000000000000" pitchFamily="34" charset="-128"/>
                <a:ea typeface="Hiragino Kaku Gothic Pro W3" panose="020B0300000000000000" pitchFamily="34" charset="-128"/>
              </a:rPr>
              <a:t> 未発達型の発生分布図</a:t>
            </a:r>
            <a:endParaRPr lang="ja-JP" altLang="en-US" sz="1600" dirty="0">
              <a:latin typeface="Hiragino Kaku Gothic Pro W3" panose="020B0300000000000000" pitchFamily="34" charset="-128"/>
              <a:ea typeface="Hiragino Kaku Gothic Pro W3" panose="020B0300000000000000" pitchFamily="34" charset="-128"/>
            </a:endParaRPr>
          </a:p>
        </p:txBody>
      </p:sp>
      <p:grpSp>
        <p:nvGrpSpPr>
          <p:cNvPr id="6" name="グループ化 5">
            <a:extLst>
              <a:ext uri="{FF2B5EF4-FFF2-40B4-BE49-F238E27FC236}">
                <a16:creationId xmlns:a16="http://schemas.microsoft.com/office/drawing/2014/main" id="{F71D522C-FCEA-9AF3-2379-D10B22CE2656}"/>
              </a:ext>
            </a:extLst>
          </p:cNvPr>
          <p:cNvGrpSpPr/>
          <p:nvPr/>
        </p:nvGrpSpPr>
        <p:grpSpPr>
          <a:xfrm>
            <a:off x="7538489" y="2678636"/>
            <a:ext cx="3660003" cy="3293060"/>
            <a:chOff x="7060980" y="4041566"/>
            <a:chExt cx="4396639" cy="3955843"/>
          </a:xfrm>
        </p:grpSpPr>
        <p:grpSp>
          <p:nvGrpSpPr>
            <p:cNvPr id="7" name="グループ化 6">
              <a:extLst>
                <a:ext uri="{FF2B5EF4-FFF2-40B4-BE49-F238E27FC236}">
                  <a16:creationId xmlns:a16="http://schemas.microsoft.com/office/drawing/2014/main" id="{BEB4B712-BCC3-20AC-2F10-DCCF8DCC72B4}"/>
                </a:ext>
              </a:extLst>
            </p:cNvPr>
            <p:cNvGrpSpPr/>
            <p:nvPr/>
          </p:nvGrpSpPr>
          <p:grpSpPr>
            <a:xfrm>
              <a:off x="7060980" y="4041566"/>
              <a:ext cx="4032504" cy="2130634"/>
              <a:chOff x="7362341" y="26923628"/>
              <a:chExt cx="5449552" cy="2879352"/>
            </a:xfrm>
          </p:grpSpPr>
          <p:pic>
            <p:nvPicPr>
              <p:cNvPr id="9" name="図 8" descr="ダイアグラム, タイムライン&#10;&#10;AI 生成コンテンツは誤りを含む可能性があります。">
                <a:extLst>
                  <a:ext uri="{FF2B5EF4-FFF2-40B4-BE49-F238E27FC236}">
                    <a16:creationId xmlns:a16="http://schemas.microsoft.com/office/drawing/2014/main" id="{82344AC2-7A3F-7643-8575-43A468AF93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2341" y="26923628"/>
                <a:ext cx="4991100" cy="2438400"/>
              </a:xfrm>
              <a:prstGeom prst="rect">
                <a:avLst/>
              </a:prstGeom>
            </p:spPr>
          </p:pic>
          <p:pic>
            <p:nvPicPr>
              <p:cNvPr id="11" name="図 10" descr="グラフ&#10;&#10;AI 生成コンテンツは誤りを含む可能性があります。">
                <a:extLst>
                  <a:ext uri="{FF2B5EF4-FFF2-40B4-BE49-F238E27FC236}">
                    <a16:creationId xmlns:a16="http://schemas.microsoft.com/office/drawing/2014/main" id="{26F4E75D-5E79-7D96-F238-8F4F292D54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33169" y="27083558"/>
                <a:ext cx="578724" cy="2571188"/>
              </a:xfrm>
              <a:prstGeom prst="rect">
                <a:avLst/>
              </a:prstGeom>
            </p:spPr>
          </p:pic>
          <p:pic>
            <p:nvPicPr>
              <p:cNvPr id="13" name="図 12" descr="テキスト&#10;&#10;AI 生成コンテンツは誤りを含む可能性があります。">
                <a:extLst>
                  <a:ext uri="{FF2B5EF4-FFF2-40B4-BE49-F238E27FC236}">
                    <a16:creationId xmlns:a16="http://schemas.microsoft.com/office/drawing/2014/main" id="{140081EF-6D25-6240-E3F1-3CFA8E025C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96045" y="29291375"/>
                <a:ext cx="4172136" cy="511605"/>
              </a:xfrm>
              <a:prstGeom prst="rect">
                <a:avLst/>
              </a:prstGeom>
            </p:spPr>
          </p:pic>
        </p:grpSp>
        <p:sp>
          <p:nvSpPr>
            <p:cNvPr id="8" name="正方形/長方形 7">
              <a:extLst>
                <a:ext uri="{FF2B5EF4-FFF2-40B4-BE49-F238E27FC236}">
                  <a16:creationId xmlns:a16="http://schemas.microsoft.com/office/drawing/2014/main" id="{90BC1BCB-EC03-9B86-2B16-6C7D1641F506}"/>
                </a:ext>
              </a:extLst>
            </p:cNvPr>
            <p:cNvSpPr/>
            <p:nvPr/>
          </p:nvSpPr>
          <p:spPr>
            <a:xfrm>
              <a:off x="7060980" y="6111829"/>
              <a:ext cx="4396639" cy="1885580"/>
            </a:xfrm>
            <a:prstGeom prst="rect">
              <a:avLst/>
            </a:prstGeom>
          </p:spPr>
          <p:txBody>
            <a:bodyPr wrap="square">
              <a:spAutoFit/>
            </a:bodyPr>
            <a:lstStyle/>
            <a:p>
              <a:r>
                <a:rPr lang="ja-JP" altLang="en-US" sz="1600">
                  <a:solidFill>
                    <a:srgbClr val="000000"/>
                  </a:solidFill>
                  <a:latin typeface="Hiragino Kaku Gothic Pro W3" panose="020B0300000000000000" pitchFamily="34" charset="-128"/>
                  <a:ea typeface="Hiragino Kaku Gothic Pro W3" panose="020B0300000000000000" pitchFamily="34" charset="-128"/>
                </a:rPr>
                <a:t>図</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9</a:t>
              </a:r>
              <a:r>
                <a:rPr lang="da-DK" altLang="ja-JP" sz="1600" dirty="0">
                  <a:solidFill>
                    <a:srgbClr val="000000"/>
                  </a:solidFill>
                  <a:latin typeface="Hiragino Kaku Gothic Pro W3" panose="020B0300000000000000" pitchFamily="34" charset="-128"/>
                  <a:ea typeface="Hiragino Kaku Gothic Pro W3" panose="020B0300000000000000" pitchFamily="34" charset="-128"/>
                </a:rPr>
                <a:t>.</a:t>
              </a:r>
              <a:r>
                <a:rPr lang="ja-JP" altLang="en-US" sz="1600">
                  <a:solidFill>
                    <a:srgbClr val="000000"/>
                  </a:solidFill>
                  <a:latin typeface="Hiragino Kaku Gothic Pro W3" panose="020B0300000000000000" pitchFamily="34" charset="-128"/>
                  <a:ea typeface="Hiragino Kaku Gothic Pro W3" panose="020B0300000000000000" pitchFamily="34" charset="-128"/>
                </a:rPr>
                <a:t> 半日周期変動の平均値の比較</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(Fujimoto et al. 2019)</a:t>
              </a:r>
            </a:p>
            <a:p>
              <a:r>
                <a:rPr lang="en-US" altLang="ja-JP" sz="1600" dirty="0"/>
                <a:t>ANC </a:t>
              </a:r>
              <a:r>
                <a:rPr lang="ja-JP" altLang="en-US" sz="1600"/>
                <a:t>における </a:t>
              </a:r>
              <a:r>
                <a:rPr lang="en-US" altLang="ja-JP" sz="1600" dirty="0"/>
                <a:t>EUEL </a:t>
              </a:r>
              <a:r>
                <a:rPr lang="ja-JP" altLang="en-US" sz="1600"/>
                <a:t>の平均値からの偏差</a:t>
              </a:r>
              <a:br>
                <a:rPr lang="ja-JP" altLang="en-US" sz="1600"/>
              </a:br>
              <a:r>
                <a:rPr lang="ja-JP" altLang="en-US" sz="1600"/>
                <a:t>赤色は平均より大きく、青色は平均より小さい</a:t>
              </a:r>
              <a:endParaRPr lang="ja-JP" altLang="en-US" sz="1600" dirty="0">
                <a:latin typeface="Hiragino Kaku Gothic Pro W3" panose="020B0300000000000000" pitchFamily="34" charset="-128"/>
                <a:ea typeface="Hiragino Kaku Gothic Pro W3" panose="020B0300000000000000" pitchFamily="34" charset="-128"/>
              </a:endParaRPr>
            </a:p>
          </p:txBody>
        </p:sp>
      </p:grpSp>
    </p:spTree>
    <p:extLst>
      <p:ext uri="{BB962C8B-B14F-4D97-AF65-F5344CB8AC3E}">
        <p14:creationId xmlns:p14="http://schemas.microsoft.com/office/powerpoint/2010/main" val="749176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D76D0-CCA1-B98F-863E-25C4E01176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B120E1-6476-556E-F539-295789B4BB57}"/>
              </a:ext>
            </a:extLst>
          </p:cNvPr>
          <p:cNvSpPr>
            <a:spLocks noGrp="1"/>
          </p:cNvSpPr>
          <p:nvPr>
            <p:ph type="title"/>
          </p:nvPr>
        </p:nvSpPr>
        <p:spPr>
          <a:xfrm>
            <a:off x="185462" y="-13721"/>
            <a:ext cx="9842115" cy="684919"/>
          </a:xfrm>
        </p:spPr>
        <p:txBody>
          <a:bodyPr>
            <a:normAutofit/>
          </a:bodyPr>
          <a:lstStyle/>
          <a:p>
            <a:r>
              <a:rPr kumimoji="1" lang="ja-JP" altLang="en-US" sz="3200"/>
              <a:t>特異型</a:t>
            </a:r>
            <a:r>
              <a:rPr kumimoji="1" lang="en-US" altLang="ja-JP" sz="3200" dirty="0"/>
              <a:t>EEJ</a:t>
            </a:r>
            <a:r>
              <a:rPr kumimoji="1" lang="ja-JP" altLang="en-US" sz="3200"/>
              <a:t>の自動判定の手法</a:t>
            </a:r>
            <a:endParaRPr kumimoji="1" lang="ja-JP" altLang="en-US" sz="3200" dirty="0"/>
          </a:p>
        </p:txBody>
      </p:sp>
      <p:sp>
        <p:nvSpPr>
          <p:cNvPr id="3" name="スライド番号プレースホルダー 2">
            <a:extLst>
              <a:ext uri="{FF2B5EF4-FFF2-40B4-BE49-F238E27FC236}">
                <a16:creationId xmlns:a16="http://schemas.microsoft.com/office/drawing/2014/main" id="{FF34DFAA-3CE7-C073-21E8-0737494D9F91}"/>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9</a:t>
            </a:fld>
            <a:endParaRPr kumimoji="1" lang="ja-JP" altLang="en-US"/>
          </a:p>
        </p:txBody>
      </p:sp>
      <p:sp>
        <p:nvSpPr>
          <p:cNvPr id="4" name="テキスト ボックス 3">
            <a:extLst>
              <a:ext uri="{FF2B5EF4-FFF2-40B4-BE49-F238E27FC236}">
                <a16:creationId xmlns:a16="http://schemas.microsoft.com/office/drawing/2014/main" id="{9DA64F85-B97E-EECC-AFF1-8C596706ADF6}"/>
              </a:ext>
            </a:extLst>
          </p:cNvPr>
          <p:cNvSpPr txBox="1"/>
          <p:nvPr/>
        </p:nvSpPr>
        <p:spPr>
          <a:xfrm>
            <a:off x="334026" y="834393"/>
            <a:ext cx="10358052" cy="1015663"/>
          </a:xfrm>
          <a:prstGeom prst="rect">
            <a:avLst/>
          </a:prstGeom>
          <a:noFill/>
          <a:ln>
            <a:solidFill>
              <a:schemeClr val="accent2"/>
            </a:solidFill>
          </a:ln>
        </p:spPr>
        <p:txBody>
          <a:bodyPr wrap="square" rtlCol="0">
            <a:spAutoFit/>
          </a:bodyPr>
          <a:lstStyle/>
          <a:p>
            <a:r>
              <a:rPr kumimoji="1" lang="ja-JP" altLang="en-US" sz="2000" dirty="0"/>
              <a:t>使用</a:t>
            </a:r>
            <a:r>
              <a:rPr kumimoji="1" lang="ja-JP" altLang="en-US" sz="2000"/>
              <a:t>データ：</a:t>
            </a:r>
            <a:r>
              <a:rPr kumimoji="1" lang="en-US" altLang="ja-JP" sz="2000" dirty="0"/>
              <a:t> </a:t>
            </a:r>
            <a:r>
              <a:rPr lang="ja-JP" altLang="en-US" sz="2000"/>
              <a:t>準静穏日</a:t>
            </a:r>
            <a:r>
              <a:rPr lang="en-US" altLang="ja-JP" sz="2000" dirty="0"/>
              <a:t>(</a:t>
            </a:r>
            <a:r>
              <a:rPr lang="en-US" altLang="ja-JP" sz="2000" dirty="0" err="1"/>
              <a:t>Kp</a:t>
            </a:r>
            <a:r>
              <a:rPr lang="en-US" altLang="ja-JP" sz="2000" dirty="0"/>
              <a:t>&lt;4</a:t>
            </a:r>
            <a:r>
              <a:rPr lang="ja-JP" altLang="en-US" sz="2000"/>
              <a:t>かつ</a:t>
            </a:r>
            <a:r>
              <a:rPr lang="en-US" altLang="ja-JP" sz="2000" dirty="0" err="1"/>
              <a:t>EDst</a:t>
            </a:r>
            <a:r>
              <a:rPr lang="en-US" altLang="ja-JP" sz="2000" dirty="0"/>
              <a:t>&gt;-30nT)</a:t>
            </a:r>
            <a:r>
              <a:rPr lang="ja-JP" altLang="en-US" sz="2000"/>
              <a:t>のもとで南米領域の</a:t>
            </a:r>
            <a:r>
              <a:rPr lang="en-US" altLang="ja-JP" sz="2000" dirty="0"/>
              <a:t>MAGDAS</a:t>
            </a:r>
            <a:r>
              <a:rPr lang="ja-JP" altLang="en-US" sz="2000"/>
              <a:t>観測点</a:t>
            </a:r>
            <a:r>
              <a:rPr lang="en-US" altLang="ja-JP" sz="2000" dirty="0"/>
              <a:t>(ANC, HUA,EUS)</a:t>
            </a:r>
          </a:p>
          <a:p>
            <a:r>
              <a:rPr lang="ja-JP" altLang="en-US" sz="2000"/>
              <a:t>解析</a:t>
            </a:r>
            <a:r>
              <a:rPr kumimoji="1" lang="ja-JP" altLang="en-US" sz="2000" dirty="0"/>
              <a:t>期間</a:t>
            </a:r>
            <a:r>
              <a:rPr kumimoji="1" lang="ja-JP" altLang="en-US" sz="2000"/>
              <a:t>：</a:t>
            </a:r>
            <a:r>
              <a:rPr lang="en-US" altLang="ja-JP" sz="2000" u="sng" dirty="0"/>
              <a:t>2009/1/1~2020/12/31</a:t>
            </a:r>
            <a:r>
              <a:rPr lang="ja-JP" altLang="en-US" sz="2000"/>
              <a:t>の</a:t>
            </a:r>
            <a:r>
              <a:rPr lang="en-US" altLang="ja-JP" sz="2000" dirty="0"/>
              <a:t>12</a:t>
            </a:r>
            <a:r>
              <a:rPr lang="ja-JP" altLang="en-US" sz="2000"/>
              <a:t>年</a:t>
            </a:r>
            <a:endParaRPr lang="en-US" altLang="ja-JP" sz="2000" dirty="0"/>
          </a:p>
        </p:txBody>
      </p:sp>
      <p:graphicFrame>
        <p:nvGraphicFramePr>
          <p:cNvPr id="6" name="表 5">
            <a:extLst>
              <a:ext uri="{FF2B5EF4-FFF2-40B4-BE49-F238E27FC236}">
                <a16:creationId xmlns:a16="http://schemas.microsoft.com/office/drawing/2014/main" id="{7147A642-B521-8189-2F16-5B15823D0832}"/>
              </a:ext>
            </a:extLst>
          </p:cNvPr>
          <p:cNvGraphicFramePr>
            <a:graphicFrameLocks noGrp="1"/>
          </p:cNvGraphicFramePr>
          <p:nvPr>
            <p:extLst>
              <p:ext uri="{D42A27DB-BD31-4B8C-83A1-F6EECF244321}">
                <p14:modId xmlns:p14="http://schemas.microsoft.com/office/powerpoint/2010/main" val="1712597319"/>
              </p:ext>
            </p:extLst>
          </p:nvPr>
        </p:nvGraphicFramePr>
        <p:xfrm>
          <a:off x="6644640" y="5438832"/>
          <a:ext cx="4648200" cy="1066800"/>
        </p:xfrm>
        <a:graphic>
          <a:graphicData uri="http://schemas.openxmlformats.org/drawingml/2006/table">
            <a:tbl>
              <a:tblPr/>
              <a:tblGrid>
                <a:gridCol w="1162050">
                  <a:extLst>
                    <a:ext uri="{9D8B030D-6E8A-4147-A177-3AD203B41FA5}">
                      <a16:colId xmlns:a16="http://schemas.microsoft.com/office/drawing/2014/main" val="3180674006"/>
                    </a:ext>
                  </a:extLst>
                </a:gridCol>
                <a:gridCol w="1162050">
                  <a:extLst>
                    <a:ext uri="{9D8B030D-6E8A-4147-A177-3AD203B41FA5}">
                      <a16:colId xmlns:a16="http://schemas.microsoft.com/office/drawing/2014/main" val="3988386129"/>
                    </a:ext>
                  </a:extLst>
                </a:gridCol>
                <a:gridCol w="1162050">
                  <a:extLst>
                    <a:ext uri="{9D8B030D-6E8A-4147-A177-3AD203B41FA5}">
                      <a16:colId xmlns:a16="http://schemas.microsoft.com/office/drawing/2014/main" val="1614435792"/>
                    </a:ext>
                  </a:extLst>
                </a:gridCol>
                <a:gridCol w="1162050">
                  <a:extLst>
                    <a:ext uri="{9D8B030D-6E8A-4147-A177-3AD203B41FA5}">
                      <a16:colId xmlns:a16="http://schemas.microsoft.com/office/drawing/2014/main" val="575986535"/>
                    </a:ext>
                  </a:extLst>
                </a:gridCol>
              </a:tblGrid>
              <a:tr h="247650">
                <a:tc>
                  <a:txBody>
                    <a:bodyPr/>
                    <a:lstStyle/>
                    <a:p>
                      <a:pPr rtl="0" fontAlgn="t">
                        <a:buNone/>
                      </a:pPr>
                      <a:r>
                        <a:rPr lang="en-US" sz="1400" b="1" i="0" u="none" strike="noStrike">
                          <a:solidFill>
                            <a:srgbClr val="FFFFFF"/>
                          </a:solidFill>
                          <a:effectLst/>
                          <a:latin typeface="游ゴシック" panose="020B0400000000000000" pitchFamily="34" charset="-128"/>
                          <a:ea typeface="游ゴシック" panose="020B0400000000000000" pitchFamily="34" charset="-128"/>
                        </a:rPr>
                        <a:t>Abbrev.</a:t>
                      </a:r>
                      <a:endParaRPr lang="en-US">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4285F4"/>
                    </a:solidFill>
                  </a:tcPr>
                </a:tc>
                <a:tc>
                  <a:txBody>
                    <a:bodyPr/>
                    <a:lstStyle/>
                    <a:p>
                      <a:pPr rtl="0" fontAlgn="t">
                        <a:buNone/>
                      </a:pPr>
                      <a:r>
                        <a:rPr lang="en-US" sz="1400" b="1" i="0" u="none" strike="noStrike">
                          <a:solidFill>
                            <a:srgbClr val="FFFFFF"/>
                          </a:solidFill>
                          <a:effectLst/>
                          <a:latin typeface="游ゴシック" panose="020B0400000000000000" pitchFamily="34" charset="-128"/>
                          <a:ea typeface="游ゴシック" panose="020B0400000000000000" pitchFamily="34" charset="-128"/>
                        </a:rPr>
                        <a:t>Name</a:t>
                      </a:r>
                      <a:endParaRPr lang="en-US">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4285F4"/>
                    </a:solidFill>
                  </a:tcPr>
                </a:tc>
                <a:tc>
                  <a:txBody>
                    <a:bodyPr/>
                    <a:lstStyle/>
                    <a:p>
                      <a:pPr rtl="0" fontAlgn="t">
                        <a:buNone/>
                      </a:pPr>
                      <a:r>
                        <a:rPr lang="en-US" sz="1400" b="1" i="0" u="none" strike="noStrike" dirty="0">
                          <a:solidFill>
                            <a:srgbClr val="FFFFFF"/>
                          </a:solidFill>
                          <a:effectLst/>
                          <a:latin typeface="游ゴシック" panose="020B0400000000000000" pitchFamily="34" charset="-128"/>
                          <a:ea typeface="游ゴシック" panose="020B0400000000000000" pitchFamily="34" charset="-128"/>
                        </a:rPr>
                        <a:t>Nation</a:t>
                      </a:r>
                      <a:endParaRPr lang="en-US" dirty="0">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4285F4"/>
                    </a:solidFill>
                  </a:tcPr>
                </a:tc>
                <a:tc>
                  <a:txBody>
                    <a:bodyPr/>
                    <a:lstStyle/>
                    <a:p>
                      <a:pPr rtl="0" fontAlgn="t">
                        <a:buNone/>
                      </a:pPr>
                      <a:r>
                        <a:rPr lang="en-US" sz="1400" b="1" i="0" u="none" strike="noStrike">
                          <a:solidFill>
                            <a:srgbClr val="FFFFFF"/>
                          </a:solidFill>
                          <a:effectLst/>
                          <a:latin typeface="游ゴシック" panose="020B0400000000000000" pitchFamily="34" charset="-128"/>
                          <a:ea typeface="游ゴシック" panose="020B0400000000000000" pitchFamily="34" charset="-128"/>
                        </a:rPr>
                        <a:t>Dip Lat.</a:t>
                      </a:r>
                      <a:endParaRPr lang="en-US">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4285F4"/>
                    </a:solidFill>
                  </a:tcPr>
                </a:tc>
                <a:extLst>
                  <a:ext uri="{0D108BD9-81ED-4DB2-BD59-A6C34878D82A}">
                    <a16:rowId xmlns:a16="http://schemas.microsoft.com/office/drawing/2014/main" val="2743585819"/>
                  </a:ext>
                </a:extLst>
              </a:tr>
              <a:tr h="257175">
                <a:tc>
                  <a:txBody>
                    <a:bodyPr/>
                    <a:lstStyle/>
                    <a:p>
                      <a:pPr rtl="0" fontAlgn="t">
                        <a:buNone/>
                      </a:pPr>
                      <a:r>
                        <a:rPr lang="en-US" sz="1200" b="0" i="0" u="none" strike="noStrike" dirty="0">
                          <a:solidFill>
                            <a:srgbClr val="000000"/>
                          </a:solidFill>
                          <a:effectLst/>
                          <a:latin typeface="游ゴシック" panose="020B0400000000000000" pitchFamily="34" charset="-128"/>
                          <a:ea typeface="游ゴシック" panose="020B0400000000000000" pitchFamily="34" charset="-128"/>
                        </a:rPr>
                        <a:t>ANC</a:t>
                      </a:r>
                      <a:endParaRPr lang="en-US" dirty="0">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AD1D8"/>
                    </a:solidFill>
                  </a:tcPr>
                </a:tc>
                <a:tc>
                  <a:txBody>
                    <a:bodyPr/>
                    <a:lstStyle/>
                    <a:p>
                      <a:pPr rtl="0" fontAlgn="t">
                        <a:buNone/>
                      </a:pPr>
                      <a:r>
                        <a:rPr lang="en-US" sz="1200" b="0" i="0" u="none" strike="noStrike">
                          <a:solidFill>
                            <a:srgbClr val="000000"/>
                          </a:solidFill>
                          <a:effectLst/>
                          <a:latin typeface="游ゴシック" panose="020B0400000000000000" pitchFamily="34" charset="-128"/>
                          <a:ea typeface="游ゴシック" panose="020B0400000000000000" pitchFamily="34" charset="-128"/>
                        </a:rPr>
                        <a:t>Ancon</a:t>
                      </a:r>
                      <a:endParaRPr lang="en-US">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AD1D8"/>
                    </a:solidFill>
                  </a:tcPr>
                </a:tc>
                <a:tc>
                  <a:txBody>
                    <a:bodyPr/>
                    <a:lstStyle/>
                    <a:p>
                      <a:pPr rtl="0" fontAlgn="t">
                        <a:buNone/>
                      </a:pPr>
                      <a:r>
                        <a:rPr lang="en-US" sz="1200" b="0" i="0" u="none" strike="noStrike">
                          <a:solidFill>
                            <a:srgbClr val="000000"/>
                          </a:solidFill>
                          <a:effectLst/>
                          <a:latin typeface="游ゴシック" panose="020B0400000000000000" pitchFamily="34" charset="-128"/>
                          <a:ea typeface="游ゴシック" panose="020B0400000000000000" pitchFamily="34" charset="-128"/>
                        </a:rPr>
                        <a:t>Peru</a:t>
                      </a:r>
                      <a:endParaRPr lang="en-US">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AD1D8"/>
                    </a:solidFill>
                  </a:tcPr>
                </a:tc>
                <a:tc>
                  <a:txBody>
                    <a:bodyPr/>
                    <a:lstStyle/>
                    <a:p>
                      <a:pPr rtl="0" fontAlgn="t">
                        <a:buNone/>
                      </a:pPr>
                      <a:r>
                        <a:rPr lang="en-US" altLang="ja-JP" sz="1200" b="0" i="0" u="none" strike="noStrike">
                          <a:solidFill>
                            <a:srgbClr val="000000"/>
                          </a:solidFill>
                          <a:effectLst/>
                          <a:latin typeface="游ゴシック" panose="020B0400000000000000" pitchFamily="34" charset="-128"/>
                          <a:ea typeface="游ゴシック" panose="020B0400000000000000" pitchFamily="34" charset="-128"/>
                        </a:rPr>
                        <a:t>0.13</a:t>
                      </a:r>
                      <a:endParaRPr lang="ja-JP" altLang="en-US">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AD1D8"/>
                    </a:solidFill>
                  </a:tcPr>
                </a:tc>
                <a:extLst>
                  <a:ext uri="{0D108BD9-81ED-4DB2-BD59-A6C34878D82A}">
                    <a16:rowId xmlns:a16="http://schemas.microsoft.com/office/drawing/2014/main" val="3442780336"/>
                  </a:ext>
                </a:extLst>
              </a:tr>
              <a:tr h="257175">
                <a:tc>
                  <a:txBody>
                    <a:bodyPr/>
                    <a:lstStyle/>
                    <a:p>
                      <a:pPr rtl="0" fontAlgn="t">
                        <a:buNone/>
                      </a:pPr>
                      <a:r>
                        <a:rPr lang="en-US" sz="1200" b="0" i="0" u="none" strike="noStrike">
                          <a:solidFill>
                            <a:srgbClr val="000000"/>
                          </a:solidFill>
                          <a:effectLst/>
                          <a:latin typeface="游ゴシック" panose="020B0400000000000000" pitchFamily="34" charset="-128"/>
                          <a:ea typeface="游ゴシック" panose="020B0400000000000000" pitchFamily="34" charset="-128"/>
                        </a:rPr>
                        <a:t>HUA</a:t>
                      </a:r>
                      <a:endParaRPr lang="en-US">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7E9EC"/>
                    </a:solidFill>
                  </a:tcPr>
                </a:tc>
                <a:tc>
                  <a:txBody>
                    <a:bodyPr/>
                    <a:lstStyle/>
                    <a:p>
                      <a:pPr rtl="0" fontAlgn="t">
                        <a:buNone/>
                      </a:pPr>
                      <a:r>
                        <a:rPr lang="en-US" sz="1200" b="0" i="0" u="none" strike="noStrike" dirty="0" err="1">
                          <a:solidFill>
                            <a:srgbClr val="000000"/>
                          </a:solidFill>
                          <a:effectLst/>
                          <a:latin typeface="游ゴシック" panose="020B0400000000000000" pitchFamily="34" charset="-128"/>
                          <a:ea typeface="游ゴシック" panose="020B0400000000000000" pitchFamily="34" charset="-128"/>
                        </a:rPr>
                        <a:t>Huancayo</a:t>
                      </a:r>
                      <a:endParaRPr lang="en-US" dirty="0">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7E9EC"/>
                    </a:solidFill>
                  </a:tcPr>
                </a:tc>
                <a:tc>
                  <a:txBody>
                    <a:bodyPr/>
                    <a:lstStyle/>
                    <a:p>
                      <a:pPr rtl="0" fontAlgn="t">
                        <a:buNone/>
                      </a:pPr>
                      <a:r>
                        <a:rPr lang="en-US" sz="1200" b="0" i="0" u="none" strike="noStrike">
                          <a:solidFill>
                            <a:srgbClr val="000000"/>
                          </a:solidFill>
                          <a:effectLst/>
                          <a:latin typeface="游ゴシック" panose="020B0400000000000000" pitchFamily="34" charset="-128"/>
                          <a:ea typeface="游ゴシック" panose="020B0400000000000000" pitchFamily="34" charset="-128"/>
                        </a:rPr>
                        <a:t>Peru</a:t>
                      </a:r>
                      <a:endParaRPr lang="en-US">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7E9EC"/>
                    </a:solidFill>
                  </a:tcPr>
                </a:tc>
                <a:tc>
                  <a:txBody>
                    <a:bodyPr/>
                    <a:lstStyle/>
                    <a:p>
                      <a:pPr rtl="0" fontAlgn="t">
                        <a:buNone/>
                      </a:pPr>
                      <a:r>
                        <a:rPr lang="en-US" altLang="ja-JP" sz="1200" b="0" i="0" u="none" strike="noStrike">
                          <a:solidFill>
                            <a:srgbClr val="000000"/>
                          </a:solidFill>
                          <a:effectLst/>
                          <a:latin typeface="游ゴシック" panose="020B0400000000000000" pitchFamily="34" charset="-128"/>
                          <a:ea typeface="游ゴシック" panose="020B0400000000000000" pitchFamily="34" charset="-128"/>
                        </a:rPr>
                        <a:t>-0.17</a:t>
                      </a:r>
                      <a:endParaRPr lang="ja-JP" altLang="en-US">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7E9EC"/>
                    </a:solidFill>
                  </a:tcPr>
                </a:tc>
                <a:extLst>
                  <a:ext uri="{0D108BD9-81ED-4DB2-BD59-A6C34878D82A}">
                    <a16:rowId xmlns:a16="http://schemas.microsoft.com/office/drawing/2014/main" val="3221177382"/>
                  </a:ext>
                </a:extLst>
              </a:tr>
              <a:tr h="257175">
                <a:tc>
                  <a:txBody>
                    <a:bodyPr/>
                    <a:lstStyle/>
                    <a:p>
                      <a:pPr rtl="0" fontAlgn="t">
                        <a:buNone/>
                      </a:pPr>
                      <a:r>
                        <a:rPr lang="en-US" sz="1200" b="0" i="0" u="none" strike="noStrike" dirty="0">
                          <a:solidFill>
                            <a:srgbClr val="000000"/>
                          </a:solidFill>
                          <a:effectLst/>
                          <a:latin typeface="游ゴシック" panose="020B0400000000000000" pitchFamily="34" charset="-128"/>
                          <a:ea typeface="游ゴシック" panose="020B0400000000000000" pitchFamily="34" charset="-128"/>
                        </a:rPr>
                        <a:t>EUS</a:t>
                      </a:r>
                      <a:endParaRPr lang="en-US" dirty="0">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AD1D8"/>
                    </a:solidFill>
                  </a:tcPr>
                </a:tc>
                <a:tc>
                  <a:txBody>
                    <a:bodyPr/>
                    <a:lstStyle/>
                    <a:p>
                      <a:pPr rtl="0" fontAlgn="t">
                        <a:buNone/>
                      </a:pPr>
                      <a:r>
                        <a:rPr lang="en-US" sz="1200" b="0" i="0" u="none" strike="noStrike" dirty="0">
                          <a:solidFill>
                            <a:srgbClr val="000000"/>
                          </a:solidFill>
                          <a:effectLst/>
                          <a:latin typeface="游ゴシック" panose="020B0400000000000000" pitchFamily="34" charset="-128"/>
                          <a:ea typeface="游ゴシック" panose="020B0400000000000000" pitchFamily="34" charset="-128"/>
                        </a:rPr>
                        <a:t>Eusebio</a:t>
                      </a:r>
                      <a:endParaRPr lang="en-US" dirty="0">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AD1D8"/>
                    </a:solidFill>
                  </a:tcPr>
                </a:tc>
                <a:tc>
                  <a:txBody>
                    <a:bodyPr/>
                    <a:lstStyle/>
                    <a:p>
                      <a:pPr rtl="0" fontAlgn="t">
                        <a:buNone/>
                      </a:pPr>
                      <a:r>
                        <a:rPr lang="en-US" sz="1200" b="0" i="0" u="none" strike="noStrike">
                          <a:solidFill>
                            <a:srgbClr val="000000"/>
                          </a:solidFill>
                          <a:effectLst/>
                          <a:latin typeface="游ゴシック" panose="020B0400000000000000" pitchFamily="34" charset="-128"/>
                          <a:ea typeface="游ゴシック" panose="020B0400000000000000" pitchFamily="34" charset="-128"/>
                        </a:rPr>
                        <a:t>Brazil</a:t>
                      </a:r>
                      <a:endParaRPr lang="en-US">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AD1D8"/>
                    </a:solidFill>
                  </a:tcPr>
                </a:tc>
                <a:tc>
                  <a:txBody>
                    <a:bodyPr/>
                    <a:lstStyle/>
                    <a:p>
                      <a:pPr rtl="0" fontAlgn="t">
                        <a:buNone/>
                      </a:pPr>
                      <a:r>
                        <a:rPr lang="en-US" altLang="ja-JP" sz="1200" b="0" i="0" u="none" strike="noStrike" dirty="0">
                          <a:solidFill>
                            <a:srgbClr val="000000"/>
                          </a:solidFill>
                          <a:effectLst/>
                          <a:latin typeface="游ゴシック" panose="020B0400000000000000" pitchFamily="34" charset="-128"/>
                          <a:ea typeface="游ゴシック" panose="020B0400000000000000" pitchFamily="34" charset="-128"/>
                        </a:rPr>
                        <a:t>-9.41</a:t>
                      </a:r>
                      <a:endParaRPr lang="ja-JP" altLang="en-US">
                        <a:effectLst/>
                      </a:endParaRPr>
                    </a:p>
                  </a:txBody>
                  <a:tcPr marL="66675" marR="66675"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AD1D8"/>
                    </a:solidFill>
                  </a:tcPr>
                </a:tc>
                <a:extLst>
                  <a:ext uri="{0D108BD9-81ED-4DB2-BD59-A6C34878D82A}">
                    <a16:rowId xmlns:a16="http://schemas.microsoft.com/office/drawing/2014/main" val="1113410902"/>
                  </a:ext>
                </a:extLst>
              </a:tr>
            </a:tbl>
          </a:graphicData>
        </a:graphic>
      </p:graphicFrame>
      <p:sp>
        <p:nvSpPr>
          <p:cNvPr id="8" name="テキスト ボックス 7">
            <a:extLst>
              <a:ext uri="{FF2B5EF4-FFF2-40B4-BE49-F238E27FC236}">
                <a16:creationId xmlns:a16="http://schemas.microsoft.com/office/drawing/2014/main" id="{D4F7D0E9-ACEB-3584-72E0-250CCB1BBA62}"/>
              </a:ext>
            </a:extLst>
          </p:cNvPr>
          <p:cNvSpPr txBox="1"/>
          <p:nvPr/>
        </p:nvSpPr>
        <p:spPr>
          <a:xfrm>
            <a:off x="6644640" y="5086071"/>
            <a:ext cx="1889760" cy="369332"/>
          </a:xfrm>
          <a:prstGeom prst="rect">
            <a:avLst/>
          </a:prstGeom>
          <a:noFill/>
        </p:spPr>
        <p:txBody>
          <a:bodyPr wrap="square">
            <a:spAutoFit/>
          </a:bodyPr>
          <a:lstStyle/>
          <a:p>
            <a:pPr rtl="0">
              <a:buNone/>
            </a:pPr>
            <a:r>
              <a:rPr lang="ja-JP" altLang="en-US" b="1">
                <a:solidFill>
                  <a:srgbClr val="000000"/>
                </a:solidFill>
                <a:latin typeface="Arial" panose="020B0604020202020204" pitchFamily="34" charset="0"/>
              </a:rPr>
              <a:t>表</a:t>
            </a:r>
            <a:r>
              <a:rPr lang="en-US" altLang="ja-JP" b="1" dirty="0">
                <a:solidFill>
                  <a:srgbClr val="000000"/>
                </a:solidFill>
                <a:latin typeface="Arial" panose="020B0604020202020204" pitchFamily="34" charset="0"/>
              </a:rPr>
              <a:t>1:</a:t>
            </a:r>
            <a:r>
              <a:rPr lang="ja-JP" altLang="en-US" b="1">
                <a:solidFill>
                  <a:srgbClr val="000000"/>
                </a:solidFill>
                <a:latin typeface="Arial" panose="020B0604020202020204" pitchFamily="34" charset="0"/>
              </a:rPr>
              <a:t> 観測点情報</a:t>
            </a:r>
            <a:endParaRPr lang="ja-JP" altLang="en-US"/>
          </a:p>
        </p:txBody>
      </p:sp>
      <p:sp>
        <p:nvSpPr>
          <p:cNvPr id="9" name="テキスト ボックス 8">
            <a:extLst>
              <a:ext uri="{FF2B5EF4-FFF2-40B4-BE49-F238E27FC236}">
                <a16:creationId xmlns:a16="http://schemas.microsoft.com/office/drawing/2014/main" id="{6672597F-8F82-71BA-E6AF-CB6E77A9492A}"/>
              </a:ext>
            </a:extLst>
          </p:cNvPr>
          <p:cNvSpPr txBox="1"/>
          <p:nvPr/>
        </p:nvSpPr>
        <p:spPr>
          <a:xfrm>
            <a:off x="334026" y="2099845"/>
            <a:ext cx="6754674" cy="1200329"/>
          </a:xfrm>
          <a:prstGeom prst="rect">
            <a:avLst/>
          </a:prstGeom>
          <a:noFill/>
        </p:spPr>
        <p:txBody>
          <a:bodyPr wrap="square" rtlCol="0">
            <a:spAutoFit/>
          </a:bodyPr>
          <a:lstStyle/>
          <a:p>
            <a:r>
              <a:rPr lang="en-US" altLang="ja-JP" b="1" dirty="0">
                <a:latin typeface="Hiragino Kaku Gothic Pro W3" panose="020B0300000000000000" pitchFamily="34" charset="-128"/>
                <a:ea typeface="Hiragino Kaku Gothic Pro W3" panose="020B0300000000000000" pitchFamily="34" charset="-128"/>
              </a:rPr>
              <a:t>1. </a:t>
            </a:r>
            <a:r>
              <a:rPr lang="ja-JP" altLang="en-US" b="1">
                <a:latin typeface="Hiragino Kaku Gothic Pro W3" panose="020B0300000000000000" pitchFamily="34" charset="-128"/>
                <a:ea typeface="Hiragino Kaku Gothic Pro W3" panose="020B0300000000000000" pitchFamily="34" charset="-128"/>
              </a:rPr>
              <a:t>指標の定義</a:t>
            </a:r>
          </a:p>
          <a:p>
            <a:r>
              <a:rPr lang="ja-JP" altLang="en-US">
                <a:latin typeface="Hiragino Kaku Gothic Pro W3" panose="020B0300000000000000" pitchFamily="34" charset="-128"/>
                <a:ea typeface="Hiragino Kaku Gothic Pro W3" panose="020B0300000000000000" pitchFamily="34" charset="-128"/>
              </a:rPr>
              <a:t>準静穏日における </a:t>
            </a:r>
            <a:r>
              <a:rPr lang="en-US" altLang="ja-JP" dirty="0">
                <a:latin typeface="Hiragino Kaku Gothic Pro W3" panose="020B0300000000000000" pitchFamily="34" charset="-128"/>
                <a:ea typeface="Hiragino Kaku Gothic Pro W3" panose="020B0300000000000000" pitchFamily="34" charset="-128"/>
              </a:rPr>
              <a:t>Dip(ANC, HUA)</a:t>
            </a:r>
            <a:r>
              <a:rPr lang="ja-JP" altLang="en-US">
                <a:latin typeface="Hiragino Kaku Gothic Pro W3" panose="020B0300000000000000" pitchFamily="34" charset="-128"/>
                <a:ea typeface="Hiragino Kaku Gothic Pro W3" panose="020B0300000000000000" pitchFamily="34" charset="-128"/>
              </a:rPr>
              <a:t>および</a:t>
            </a:r>
            <a:r>
              <a:rPr lang="en-US" altLang="ja-JP" dirty="0">
                <a:latin typeface="Hiragino Kaku Gothic Pro W3" panose="020B0300000000000000" pitchFamily="34" charset="-128"/>
                <a:ea typeface="Hiragino Kaku Gothic Pro W3" panose="020B0300000000000000" pitchFamily="34" charset="-128"/>
              </a:rPr>
              <a:t> </a:t>
            </a:r>
            <a:r>
              <a:rPr lang="en-US" altLang="ja-JP" dirty="0" err="1">
                <a:latin typeface="Hiragino Kaku Gothic Pro W3" panose="020B0300000000000000" pitchFamily="34" charset="-128"/>
                <a:ea typeface="Hiragino Kaku Gothic Pro W3" panose="020B0300000000000000" pitchFamily="34" charset="-128"/>
              </a:rPr>
              <a:t>Offdip</a:t>
            </a:r>
            <a:r>
              <a:rPr lang="en-US" altLang="ja-JP" dirty="0">
                <a:latin typeface="Hiragino Kaku Gothic Pro W3" panose="020B0300000000000000" pitchFamily="34" charset="-128"/>
                <a:ea typeface="Hiragino Kaku Gothic Pro W3" panose="020B0300000000000000" pitchFamily="34" charset="-128"/>
              </a:rPr>
              <a:t>(EUS)</a:t>
            </a:r>
            <a:r>
              <a:rPr lang="ja-JP" altLang="en-US">
                <a:latin typeface="Hiragino Kaku Gothic Pro W3" panose="020B0300000000000000" pitchFamily="34" charset="-128"/>
                <a:ea typeface="Hiragino Kaku Gothic Pro W3" panose="020B0300000000000000" pitchFamily="34" charset="-128"/>
              </a:rPr>
              <a:t>の</a:t>
            </a:r>
            <a:r>
              <a:rPr lang="en-US" altLang="ja-JP" dirty="0">
                <a:latin typeface="Hiragino Kaku Gothic Pro W3" panose="020B0300000000000000" pitchFamily="34" charset="-128"/>
                <a:ea typeface="Hiragino Kaku Gothic Pro W3" panose="020B0300000000000000" pitchFamily="34" charset="-128"/>
              </a:rPr>
              <a:t>EUEL</a:t>
            </a:r>
            <a:r>
              <a:rPr lang="ja-JP" altLang="en-US">
                <a:latin typeface="Hiragino Kaku Gothic Pro W3" panose="020B0300000000000000" pitchFamily="34" charset="-128"/>
                <a:ea typeface="Hiragino Kaku Gothic Pro W3" panose="020B0300000000000000" pitchFamily="34" charset="-128"/>
              </a:rPr>
              <a:t>ピーク値差</a:t>
            </a:r>
            <a:endParaRPr lang="en-US" altLang="ja-JP" dirty="0">
              <a:latin typeface="Hiragino Kaku Gothic Pro W3" panose="020B0300000000000000" pitchFamily="34" charset="-128"/>
              <a:ea typeface="Hiragino Kaku Gothic Pro W3" panose="020B0300000000000000" pitchFamily="34" charset="-128"/>
            </a:endParaRPr>
          </a:p>
          <a:p>
            <a:r>
              <a:rPr lang="en-US" altLang="ja-JP" dirty="0">
                <a:latin typeface="Hiragino Kaku Gothic Pro W3" panose="020B0300000000000000" pitchFamily="34" charset="-128"/>
                <a:ea typeface="Hiragino Kaku Gothic Pro W3" panose="020B0300000000000000" pitchFamily="34" charset="-128"/>
              </a:rPr>
              <a:t>(Dip EUEL − </a:t>
            </a:r>
            <a:r>
              <a:rPr lang="en-US" altLang="ja-JP" dirty="0" err="1">
                <a:latin typeface="Hiragino Kaku Gothic Pro W3" panose="020B0300000000000000" pitchFamily="34" charset="-128"/>
                <a:ea typeface="Hiragino Kaku Gothic Pro W3" panose="020B0300000000000000" pitchFamily="34" charset="-128"/>
              </a:rPr>
              <a:t>Offdip</a:t>
            </a:r>
            <a:r>
              <a:rPr lang="en-US" altLang="ja-JP" dirty="0">
                <a:latin typeface="Hiragino Kaku Gothic Pro W3" panose="020B0300000000000000" pitchFamily="34" charset="-128"/>
                <a:ea typeface="Hiragino Kaku Gothic Pro W3" panose="020B0300000000000000" pitchFamily="34" charset="-128"/>
              </a:rPr>
              <a:t> EUEL)</a:t>
            </a:r>
            <a:r>
              <a:rPr lang="ja-JP" altLang="en-US">
                <a:latin typeface="Hiragino Kaku Gothic Pro W3" panose="020B0300000000000000" pitchFamily="34" charset="-128"/>
                <a:ea typeface="Hiragino Kaku Gothic Pro W3" panose="020B0300000000000000" pitchFamily="34" charset="-128"/>
              </a:rPr>
              <a:t>を算出し、その分布を作成</a:t>
            </a:r>
          </a:p>
        </p:txBody>
      </p:sp>
      <p:sp>
        <p:nvSpPr>
          <p:cNvPr id="11" name="テキスト ボックス 10">
            <a:extLst>
              <a:ext uri="{FF2B5EF4-FFF2-40B4-BE49-F238E27FC236}">
                <a16:creationId xmlns:a16="http://schemas.microsoft.com/office/drawing/2014/main" id="{BD103FCA-2984-BECF-C5CE-95ED373DC9C5}"/>
              </a:ext>
            </a:extLst>
          </p:cNvPr>
          <p:cNvSpPr txBox="1"/>
          <p:nvPr/>
        </p:nvSpPr>
        <p:spPr>
          <a:xfrm>
            <a:off x="334026" y="3412435"/>
            <a:ext cx="6754674" cy="923330"/>
          </a:xfrm>
          <a:prstGeom prst="rect">
            <a:avLst/>
          </a:prstGeom>
          <a:noFill/>
        </p:spPr>
        <p:txBody>
          <a:bodyPr wrap="square" rtlCol="0">
            <a:spAutoFit/>
          </a:bodyPr>
          <a:lstStyle/>
          <a:p>
            <a:r>
              <a:rPr lang="en-US" altLang="ja-JP" b="1" dirty="0">
                <a:latin typeface="Hiragino Kaku Gothic Pro W3" panose="020B0300000000000000" pitchFamily="34" charset="-128"/>
                <a:ea typeface="Hiragino Kaku Gothic Pro W3" panose="020B0300000000000000" pitchFamily="34" charset="-128"/>
              </a:rPr>
              <a:t>2. </a:t>
            </a:r>
            <a:r>
              <a:rPr lang="ja-JP" altLang="en-US" b="1">
                <a:latin typeface="Hiragino Kaku Gothic Pro W3" panose="020B0300000000000000" pitchFamily="34" charset="-128"/>
                <a:ea typeface="Hiragino Kaku Gothic Pro W3" panose="020B0300000000000000" pitchFamily="34" charset="-128"/>
              </a:rPr>
              <a:t>特異型</a:t>
            </a:r>
            <a:r>
              <a:rPr lang="en-US" altLang="ja-JP" b="1" dirty="0">
                <a:latin typeface="Hiragino Kaku Gothic Pro W3" panose="020B0300000000000000" pitchFamily="34" charset="-128"/>
                <a:ea typeface="Hiragino Kaku Gothic Pro W3" panose="020B0300000000000000" pitchFamily="34" charset="-128"/>
              </a:rPr>
              <a:t>EEJ</a:t>
            </a:r>
            <a:r>
              <a:rPr lang="ja-JP" altLang="en-US" b="1">
                <a:latin typeface="Hiragino Kaku Gothic Pro W3" panose="020B0300000000000000" pitchFamily="34" charset="-128"/>
                <a:ea typeface="Hiragino Kaku Gothic Pro W3" panose="020B0300000000000000" pitchFamily="34" charset="-128"/>
              </a:rPr>
              <a:t>の抽出</a:t>
            </a:r>
          </a:p>
          <a:p>
            <a:r>
              <a:rPr lang="ja-JP" altLang="en-US">
                <a:latin typeface="Hiragino Kaku Gothic Pro W3" panose="020B0300000000000000" pitchFamily="34" charset="-128"/>
                <a:ea typeface="Hiragino Kaku Gothic Pro W3" panose="020B0300000000000000" pitchFamily="34" charset="-128"/>
              </a:rPr>
              <a:t>ピーク差分布の下位</a:t>
            </a:r>
            <a:r>
              <a:rPr lang="en-US" altLang="ja-JP" dirty="0">
                <a:latin typeface="Hiragino Kaku Gothic Pro W3" panose="020B0300000000000000" pitchFamily="34" charset="-128"/>
                <a:ea typeface="Hiragino Kaku Gothic Pro W3" panose="020B0300000000000000" pitchFamily="34" charset="-128"/>
              </a:rPr>
              <a:t>10%</a:t>
            </a:r>
            <a:r>
              <a:rPr lang="ja-JP" altLang="en-US">
                <a:latin typeface="Hiragino Kaku Gothic Pro W3" panose="020B0300000000000000" pitchFamily="34" charset="-128"/>
                <a:ea typeface="Hiragino Kaku Gothic Pro W3" panose="020B0300000000000000" pitchFamily="34" charset="-128"/>
              </a:rPr>
              <a:t>に相当する値</a:t>
            </a:r>
            <a:r>
              <a:rPr lang="en-US" altLang="ja-JP" dirty="0">
                <a:latin typeface="Hiragino Kaku Gothic Pro W3" panose="020B0300000000000000" pitchFamily="34" charset="-128"/>
                <a:ea typeface="Hiragino Kaku Gothic Pro W3" panose="020B0300000000000000" pitchFamily="34" charset="-128"/>
              </a:rPr>
              <a:t>(12.8 </a:t>
            </a:r>
            <a:r>
              <a:rPr lang="en-US" altLang="ja-JP" dirty="0" err="1">
                <a:latin typeface="Hiragino Kaku Gothic Pro W3" panose="020B0300000000000000" pitchFamily="34" charset="-128"/>
                <a:ea typeface="Hiragino Kaku Gothic Pro W3" panose="020B0300000000000000" pitchFamily="34" charset="-128"/>
              </a:rPr>
              <a:t>nT</a:t>
            </a:r>
            <a:r>
              <a:rPr lang="en-US" altLang="ja-JP" dirty="0">
                <a:latin typeface="Hiragino Kaku Gothic Pro W3" panose="020B0300000000000000" pitchFamily="34" charset="-128"/>
                <a:ea typeface="Hiragino Kaku Gothic Pro W3" panose="020B0300000000000000" pitchFamily="34" charset="-128"/>
              </a:rPr>
              <a:t>)</a:t>
            </a:r>
            <a:r>
              <a:rPr lang="ja-JP" altLang="en-US">
                <a:latin typeface="Hiragino Kaku Gothic Pro W3" panose="020B0300000000000000" pitchFamily="34" charset="-128"/>
                <a:ea typeface="Hiragino Kaku Gothic Pro W3" panose="020B0300000000000000" pitchFamily="34" charset="-128"/>
              </a:rPr>
              <a:t>を閾値として設定し、この値を下回るイベントを特異型</a:t>
            </a:r>
            <a:r>
              <a:rPr lang="en-US" altLang="ja-JP" dirty="0">
                <a:latin typeface="Hiragino Kaku Gothic Pro W3" panose="020B0300000000000000" pitchFamily="34" charset="-128"/>
                <a:ea typeface="Hiragino Kaku Gothic Pro W3" panose="020B0300000000000000" pitchFamily="34" charset="-128"/>
              </a:rPr>
              <a:t>EEJ</a:t>
            </a:r>
            <a:r>
              <a:rPr lang="ja-JP" altLang="en-US">
                <a:latin typeface="Hiragino Kaku Gothic Pro W3" panose="020B0300000000000000" pitchFamily="34" charset="-128"/>
                <a:ea typeface="Hiragino Kaku Gothic Pro W3" panose="020B0300000000000000" pitchFamily="34" charset="-128"/>
              </a:rPr>
              <a:t>として定義</a:t>
            </a:r>
          </a:p>
        </p:txBody>
      </p:sp>
      <p:sp>
        <p:nvSpPr>
          <p:cNvPr id="12" name="テキスト ボックス 11">
            <a:extLst>
              <a:ext uri="{FF2B5EF4-FFF2-40B4-BE49-F238E27FC236}">
                <a16:creationId xmlns:a16="http://schemas.microsoft.com/office/drawing/2014/main" id="{1C466DAB-2F22-8897-FE41-25F19166D979}"/>
              </a:ext>
            </a:extLst>
          </p:cNvPr>
          <p:cNvSpPr txBox="1"/>
          <p:nvPr/>
        </p:nvSpPr>
        <p:spPr>
          <a:xfrm>
            <a:off x="334026" y="4635254"/>
            <a:ext cx="6179253" cy="1200329"/>
          </a:xfrm>
          <a:prstGeom prst="rect">
            <a:avLst/>
          </a:prstGeom>
          <a:noFill/>
        </p:spPr>
        <p:txBody>
          <a:bodyPr wrap="square" rtlCol="0">
            <a:spAutoFit/>
          </a:bodyPr>
          <a:lstStyle/>
          <a:p>
            <a:r>
              <a:rPr lang="en-US" altLang="ja-JP" b="1" dirty="0">
                <a:latin typeface="Hiragino Kaku Gothic Pro W3" panose="020B0300000000000000" pitchFamily="34" charset="-128"/>
                <a:ea typeface="Hiragino Kaku Gothic Pro W3" panose="020B0300000000000000" pitchFamily="34" charset="-128"/>
              </a:rPr>
              <a:t>3. </a:t>
            </a:r>
            <a:r>
              <a:rPr lang="ja-JP" altLang="en-US" b="1">
                <a:latin typeface="Hiragino Kaku Gothic Pro W3" panose="020B0300000000000000" pitchFamily="34" charset="-128"/>
                <a:ea typeface="Hiragino Kaku Gothic Pro W3" panose="020B0300000000000000" pitchFamily="34" charset="-128"/>
              </a:rPr>
              <a:t>特異型</a:t>
            </a:r>
            <a:r>
              <a:rPr lang="en-US" altLang="ja-JP" b="1" dirty="0">
                <a:latin typeface="Hiragino Kaku Gothic Pro W3" panose="020B0300000000000000" pitchFamily="34" charset="-128"/>
                <a:ea typeface="Hiragino Kaku Gothic Pro W3" panose="020B0300000000000000" pitchFamily="34" charset="-128"/>
              </a:rPr>
              <a:t>EEJ</a:t>
            </a:r>
            <a:r>
              <a:rPr lang="ja-JP" altLang="en-US" b="1">
                <a:latin typeface="Hiragino Kaku Gothic Pro W3" panose="020B0300000000000000" pitchFamily="34" charset="-128"/>
                <a:ea typeface="Hiragino Kaku Gothic Pro W3" panose="020B0300000000000000" pitchFamily="34" charset="-128"/>
              </a:rPr>
              <a:t>の分類</a:t>
            </a:r>
          </a:p>
          <a:p>
            <a:r>
              <a:rPr lang="ja-JP" altLang="en-US">
                <a:latin typeface="Hiragino Kaku Gothic Pro W3" panose="020B0300000000000000" pitchFamily="34" charset="-128"/>
                <a:ea typeface="Hiragino Kaku Gothic Pro W3" panose="020B0300000000000000" pitchFamily="34" charset="-128"/>
              </a:rPr>
              <a:t>特異型</a:t>
            </a:r>
            <a:r>
              <a:rPr lang="en-US" altLang="ja-JP" dirty="0">
                <a:latin typeface="Hiragino Kaku Gothic Pro W3" panose="020B0300000000000000" pitchFamily="34" charset="-128"/>
                <a:ea typeface="Hiragino Kaku Gothic Pro W3" panose="020B0300000000000000" pitchFamily="34" charset="-128"/>
              </a:rPr>
              <a:t>EEJ</a:t>
            </a:r>
            <a:r>
              <a:rPr lang="ja-JP" altLang="en-US">
                <a:latin typeface="Hiragino Kaku Gothic Pro W3" panose="020B0300000000000000" pitchFamily="34" charset="-128"/>
                <a:ea typeface="Hiragino Kaku Gothic Pro W3" panose="020B0300000000000000" pitchFamily="34" charset="-128"/>
              </a:rPr>
              <a:t>のうち、</a:t>
            </a:r>
            <a:r>
              <a:rPr lang="en-US" altLang="ja-JP" dirty="0">
                <a:latin typeface="Hiragino Kaku Gothic Pro W3" panose="020B0300000000000000" pitchFamily="34" charset="-128"/>
                <a:ea typeface="Hiragino Kaku Gothic Pro W3" panose="020B0300000000000000" pitchFamily="34" charset="-128"/>
              </a:rPr>
              <a:t>Dip</a:t>
            </a:r>
            <a:r>
              <a:rPr lang="ja-JP" altLang="en-US">
                <a:latin typeface="Hiragino Kaku Gothic Pro W3" panose="020B0300000000000000" pitchFamily="34" charset="-128"/>
                <a:ea typeface="Hiragino Kaku Gothic Pro W3" panose="020B0300000000000000" pitchFamily="34" charset="-128"/>
              </a:rPr>
              <a:t>と</a:t>
            </a:r>
            <a:r>
              <a:rPr lang="en-US" altLang="ja-JP" dirty="0" err="1">
                <a:latin typeface="Hiragino Kaku Gothic Pro W3" panose="020B0300000000000000" pitchFamily="34" charset="-128"/>
                <a:ea typeface="Hiragino Kaku Gothic Pro W3" panose="020B0300000000000000" pitchFamily="34" charset="-128"/>
              </a:rPr>
              <a:t>Offdip</a:t>
            </a:r>
            <a:r>
              <a:rPr lang="ja-JP" altLang="en-US">
                <a:latin typeface="Hiragino Kaku Gothic Pro W3" panose="020B0300000000000000" pitchFamily="34" charset="-128"/>
                <a:ea typeface="Hiragino Kaku Gothic Pro W3" panose="020B0300000000000000" pitchFamily="34" charset="-128"/>
              </a:rPr>
              <a:t>の</a:t>
            </a:r>
            <a:r>
              <a:rPr lang="en-US" altLang="ja-JP" dirty="0">
                <a:latin typeface="Hiragino Kaku Gothic Pro W3" panose="020B0300000000000000" pitchFamily="34" charset="-128"/>
                <a:ea typeface="Hiragino Kaku Gothic Pro W3" panose="020B0300000000000000" pitchFamily="34" charset="-128"/>
              </a:rPr>
              <a:t>EUEL</a:t>
            </a:r>
            <a:r>
              <a:rPr lang="ja-JP" altLang="en-US">
                <a:latin typeface="Hiragino Kaku Gothic Pro W3" panose="020B0300000000000000" pitchFamily="34" charset="-128"/>
                <a:ea typeface="Hiragino Kaku Gothic Pro W3" panose="020B0300000000000000" pitchFamily="34" charset="-128"/>
              </a:rPr>
              <a:t>間の相関係数が</a:t>
            </a:r>
            <a:r>
              <a:rPr lang="en-US" altLang="ja-JP" dirty="0">
                <a:latin typeface="Hiragino Kaku Gothic Pro W3" panose="020B0300000000000000" pitchFamily="34" charset="-128"/>
                <a:ea typeface="Hiragino Kaku Gothic Pro W3" panose="020B0300000000000000" pitchFamily="34" charset="-128"/>
              </a:rPr>
              <a:t>0.6</a:t>
            </a:r>
            <a:r>
              <a:rPr lang="ja-JP" altLang="en-US">
                <a:latin typeface="Hiragino Kaku Gothic Pro W3" panose="020B0300000000000000" pitchFamily="34" charset="-128"/>
                <a:ea typeface="Hiragino Kaku Gothic Pro W3" panose="020B0300000000000000" pitchFamily="34" charset="-128"/>
              </a:rPr>
              <a:t>以上のイベントを「未発達型」、</a:t>
            </a:r>
            <a:r>
              <a:rPr lang="en-US" altLang="ja-JP" dirty="0">
                <a:latin typeface="Hiragino Kaku Gothic Pro W3" panose="020B0300000000000000" pitchFamily="34" charset="-128"/>
                <a:ea typeface="Hiragino Kaku Gothic Pro W3" panose="020B0300000000000000" pitchFamily="34" charset="-128"/>
              </a:rPr>
              <a:t>0.6</a:t>
            </a:r>
            <a:r>
              <a:rPr lang="ja-JP" altLang="en-US">
                <a:latin typeface="Hiragino Kaku Gothic Pro W3" panose="020B0300000000000000" pitchFamily="34" charset="-128"/>
                <a:ea typeface="Hiragino Kaku Gothic Pro W3" panose="020B0300000000000000" pitchFamily="34" charset="-128"/>
              </a:rPr>
              <a:t>未満のイベントを「突発型」として分類</a:t>
            </a:r>
            <a:endParaRPr lang="en-US" altLang="ja-JP" dirty="0">
              <a:latin typeface="Hiragino Kaku Gothic Pro W3" panose="020B0300000000000000" pitchFamily="34" charset="-128"/>
              <a:ea typeface="Hiragino Kaku Gothic Pro W3" panose="020B0300000000000000" pitchFamily="34" charset="-128"/>
            </a:endParaRPr>
          </a:p>
        </p:txBody>
      </p:sp>
      <p:pic>
        <p:nvPicPr>
          <p:cNvPr id="13" name="図 12" descr="グラフ, ヒストグラム&#10;&#10;AI 生成コンテンツは誤りを含む可能性があります。">
            <a:extLst>
              <a:ext uri="{FF2B5EF4-FFF2-40B4-BE49-F238E27FC236}">
                <a16:creationId xmlns:a16="http://schemas.microsoft.com/office/drawing/2014/main" id="{8766C915-EE83-7E45-66A2-96AA5B8A81C9}"/>
              </a:ext>
            </a:extLst>
          </p:cNvPr>
          <p:cNvPicPr>
            <a:picLocks noChangeAspect="1"/>
          </p:cNvPicPr>
          <p:nvPr/>
        </p:nvPicPr>
        <p:blipFill>
          <a:blip r:embed="rId3">
            <a:extLst>
              <a:ext uri="{28A0092B-C50C-407E-A947-70E740481C1C}">
                <a14:useLocalDpi xmlns:a14="http://schemas.microsoft.com/office/drawing/2010/main" val="0"/>
              </a:ext>
            </a:extLst>
          </a:blip>
          <a:srcRect l="5792" t="11504" r="8167"/>
          <a:stretch>
            <a:fillRect/>
          </a:stretch>
        </p:blipFill>
        <p:spPr>
          <a:xfrm>
            <a:off x="7349871" y="2222746"/>
            <a:ext cx="3784771" cy="2412508"/>
          </a:xfrm>
          <a:prstGeom prst="rect">
            <a:avLst/>
          </a:prstGeom>
        </p:spPr>
      </p:pic>
      <p:sp>
        <p:nvSpPr>
          <p:cNvPr id="5" name="正方形/長方形 4">
            <a:extLst>
              <a:ext uri="{FF2B5EF4-FFF2-40B4-BE49-F238E27FC236}">
                <a16:creationId xmlns:a16="http://schemas.microsoft.com/office/drawing/2014/main" id="{5602FABF-FDCB-5AD2-0B19-6C2A2435BA0E}"/>
              </a:ext>
            </a:extLst>
          </p:cNvPr>
          <p:cNvSpPr/>
          <p:nvPr/>
        </p:nvSpPr>
        <p:spPr>
          <a:xfrm>
            <a:off x="7508240" y="4584551"/>
            <a:ext cx="3626402" cy="338554"/>
          </a:xfrm>
          <a:prstGeom prst="rect">
            <a:avLst/>
          </a:prstGeom>
        </p:spPr>
        <p:txBody>
          <a:bodyPr wrap="square">
            <a:spAutoFit/>
          </a:bodyPr>
          <a:lstStyle/>
          <a:p>
            <a:r>
              <a:rPr lang="ja-JP" altLang="en-US" sz="1600">
                <a:solidFill>
                  <a:srgbClr val="000000"/>
                </a:solidFill>
                <a:latin typeface="Hiragino Kaku Gothic Pro W3" panose="020B0300000000000000" pitchFamily="34" charset="-128"/>
                <a:ea typeface="Hiragino Kaku Gothic Pro W3" panose="020B0300000000000000" pitchFamily="34" charset="-128"/>
              </a:rPr>
              <a:t>図</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10</a:t>
            </a:r>
            <a:r>
              <a:rPr lang="da-DK" altLang="ja-JP" sz="1600" dirty="0">
                <a:solidFill>
                  <a:srgbClr val="000000"/>
                </a:solidFill>
                <a:latin typeface="Hiragino Kaku Gothic Pro W3" panose="020B0300000000000000" pitchFamily="34" charset="-128"/>
                <a:ea typeface="Hiragino Kaku Gothic Pro W3" panose="020B0300000000000000" pitchFamily="34" charset="-128"/>
              </a:rPr>
              <a:t>.</a:t>
            </a:r>
            <a:r>
              <a:rPr lang="ja-JP" altLang="en-US" sz="1600">
                <a:solidFill>
                  <a:srgbClr val="000000"/>
                </a:solidFill>
                <a:latin typeface="Hiragino Kaku Gothic Pro W3" panose="020B0300000000000000" pitchFamily="34" charset="-128"/>
                <a:ea typeface="Hiragino Kaku Gothic Pro W3" panose="020B0300000000000000" pitchFamily="34" charset="-128"/>
              </a:rPr>
              <a:t> </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EUEL</a:t>
            </a:r>
            <a:r>
              <a:rPr lang="ja-JP" altLang="en-US" sz="1600">
                <a:solidFill>
                  <a:srgbClr val="000000"/>
                </a:solidFill>
                <a:latin typeface="Hiragino Kaku Gothic Pro W3" panose="020B0300000000000000" pitchFamily="34" charset="-128"/>
                <a:ea typeface="Hiragino Kaku Gothic Pro W3" panose="020B0300000000000000" pitchFamily="34" charset="-128"/>
              </a:rPr>
              <a:t>ピーク差のヒストグラム</a:t>
            </a:r>
            <a:endParaRPr lang="ja-JP" altLang="en-US" sz="1600" dirty="0">
              <a:latin typeface="Hiragino Kaku Gothic Pro W3" panose="020B0300000000000000" pitchFamily="34" charset="-128"/>
              <a:ea typeface="Hiragino Kaku Gothic Pro W3" panose="020B0300000000000000" pitchFamily="34" charset="-128"/>
            </a:endParaRPr>
          </a:p>
        </p:txBody>
      </p:sp>
    </p:spTree>
    <p:extLst>
      <p:ext uri="{BB962C8B-B14F-4D97-AF65-F5344CB8AC3E}">
        <p14:creationId xmlns:p14="http://schemas.microsoft.com/office/powerpoint/2010/main" val="2916938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B02D285-1022-2DED-2A81-68BAA4277715}"/>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10</a:t>
            </a:fld>
            <a:endParaRPr kumimoji="1" lang="ja-JP" altLang="en-US"/>
          </a:p>
        </p:txBody>
      </p:sp>
      <p:sp>
        <p:nvSpPr>
          <p:cNvPr id="3" name="テキスト ボックス 2">
            <a:extLst>
              <a:ext uri="{FF2B5EF4-FFF2-40B4-BE49-F238E27FC236}">
                <a16:creationId xmlns:a16="http://schemas.microsoft.com/office/drawing/2014/main" id="{9694911C-A2E7-B739-5BD3-231686D283D6}"/>
              </a:ext>
            </a:extLst>
          </p:cNvPr>
          <p:cNvSpPr txBox="1"/>
          <p:nvPr/>
        </p:nvSpPr>
        <p:spPr>
          <a:xfrm>
            <a:off x="462337" y="195209"/>
            <a:ext cx="7376845" cy="461665"/>
          </a:xfrm>
          <a:prstGeom prst="rect">
            <a:avLst/>
          </a:prstGeom>
          <a:noFill/>
        </p:spPr>
        <p:txBody>
          <a:bodyPr wrap="square" rtlCol="0">
            <a:spAutoFit/>
          </a:bodyPr>
          <a:lstStyle/>
          <a:p>
            <a:r>
              <a:rPr kumimoji="1" lang="ja-JP" altLang="en-US" sz="2400"/>
              <a:t>自動判定の結果</a:t>
            </a:r>
            <a:endParaRPr kumimoji="1" lang="ja-JP" altLang="en-US" sz="2400" dirty="0"/>
          </a:p>
        </p:txBody>
      </p:sp>
      <p:graphicFrame>
        <p:nvGraphicFramePr>
          <p:cNvPr id="4" name="表 3">
            <a:extLst>
              <a:ext uri="{FF2B5EF4-FFF2-40B4-BE49-F238E27FC236}">
                <a16:creationId xmlns:a16="http://schemas.microsoft.com/office/drawing/2014/main" id="{0B322CA1-40B3-31D6-FF79-889264304B11}"/>
              </a:ext>
            </a:extLst>
          </p:cNvPr>
          <p:cNvGraphicFramePr>
            <a:graphicFrameLocks noGrp="1" noChangeAspect="1"/>
          </p:cNvGraphicFramePr>
          <p:nvPr>
            <p:extLst>
              <p:ext uri="{D42A27DB-BD31-4B8C-83A1-F6EECF244321}">
                <p14:modId xmlns:p14="http://schemas.microsoft.com/office/powerpoint/2010/main" val="3470583293"/>
              </p:ext>
            </p:extLst>
          </p:nvPr>
        </p:nvGraphicFramePr>
        <p:xfrm>
          <a:off x="553294" y="1020876"/>
          <a:ext cx="6033015" cy="1083183"/>
        </p:xfrm>
        <a:graphic>
          <a:graphicData uri="http://schemas.openxmlformats.org/drawingml/2006/table">
            <a:tbl>
              <a:tblPr>
                <a:tableStyleId>{5C22544A-7EE6-4342-B048-85BDC9FD1C3A}</a:tableStyleId>
              </a:tblPr>
              <a:tblGrid>
                <a:gridCol w="1206603">
                  <a:extLst>
                    <a:ext uri="{9D8B030D-6E8A-4147-A177-3AD203B41FA5}">
                      <a16:colId xmlns:a16="http://schemas.microsoft.com/office/drawing/2014/main" val="3446782380"/>
                    </a:ext>
                  </a:extLst>
                </a:gridCol>
                <a:gridCol w="1206603">
                  <a:extLst>
                    <a:ext uri="{9D8B030D-6E8A-4147-A177-3AD203B41FA5}">
                      <a16:colId xmlns:a16="http://schemas.microsoft.com/office/drawing/2014/main" val="2740298193"/>
                    </a:ext>
                  </a:extLst>
                </a:gridCol>
                <a:gridCol w="1206603">
                  <a:extLst>
                    <a:ext uri="{9D8B030D-6E8A-4147-A177-3AD203B41FA5}">
                      <a16:colId xmlns:a16="http://schemas.microsoft.com/office/drawing/2014/main" val="3176327034"/>
                    </a:ext>
                  </a:extLst>
                </a:gridCol>
                <a:gridCol w="1206603">
                  <a:extLst>
                    <a:ext uri="{9D8B030D-6E8A-4147-A177-3AD203B41FA5}">
                      <a16:colId xmlns:a16="http://schemas.microsoft.com/office/drawing/2014/main" val="1531668394"/>
                    </a:ext>
                  </a:extLst>
                </a:gridCol>
                <a:gridCol w="1206603">
                  <a:extLst>
                    <a:ext uri="{9D8B030D-6E8A-4147-A177-3AD203B41FA5}">
                      <a16:colId xmlns:a16="http://schemas.microsoft.com/office/drawing/2014/main" val="651042204"/>
                    </a:ext>
                  </a:extLst>
                </a:gridCol>
              </a:tblGrid>
              <a:tr h="336157">
                <a:tc rowSpan="2">
                  <a:txBody>
                    <a:bodyPr/>
                    <a:lstStyle/>
                    <a:p>
                      <a:pPr algn="ctr"/>
                      <a:endParaRPr kumimoji="1" lang="ja-JP" altLang="en-US" sz="2400">
                        <a:solidFill>
                          <a:schemeClr val="tx1"/>
                        </a:solidFill>
                        <a:latin typeface="Hiragino Kaku Gothic Pro W3" panose="020B0300000000000000" pitchFamily="34" charset="-128"/>
                        <a:ea typeface="Hiragino Kaku Gothic Pro W3" panose="020B0300000000000000" pitchFamily="34" charset="-128"/>
                      </a:endParaRPr>
                    </a:p>
                  </a:txBody>
                  <a:tcPr marL="77575" marR="77575" marT="38787" marB="387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gridSpan="2">
                  <a:txBody>
                    <a:bodyPr/>
                    <a:lstStyle/>
                    <a:p>
                      <a:pPr algn="ctr"/>
                      <a:r>
                        <a:rPr kumimoji="1" lang="ja-JP" altLang="en-US" sz="1700">
                          <a:solidFill>
                            <a:schemeClr val="tx1"/>
                          </a:solidFill>
                          <a:latin typeface="Hiragino Kaku Gothic Pro W3" panose="020B0300000000000000" pitchFamily="34" charset="-128"/>
                          <a:ea typeface="Hiragino Kaku Gothic Pro W3" panose="020B0300000000000000" pitchFamily="34" charset="-128"/>
                        </a:rPr>
                        <a:t>特異型</a:t>
                      </a:r>
                      <a:r>
                        <a:rPr kumimoji="1" lang="en-US" altLang="ja-JP" sz="1700" dirty="0">
                          <a:solidFill>
                            <a:schemeClr val="tx1"/>
                          </a:solidFill>
                          <a:latin typeface="Hiragino Kaku Gothic Pro W3" panose="020B0300000000000000" pitchFamily="34" charset="-128"/>
                          <a:ea typeface="Hiragino Kaku Gothic Pro W3" panose="020B0300000000000000" pitchFamily="34" charset="-128"/>
                        </a:rPr>
                        <a:t>EEJ</a:t>
                      </a:r>
                      <a:endParaRPr kumimoji="1" lang="ja-JP" altLang="en-US" sz="1700">
                        <a:solidFill>
                          <a:schemeClr val="tx1"/>
                        </a:solidFill>
                        <a:latin typeface="Hiragino Kaku Gothic Pro W3" panose="020B0300000000000000" pitchFamily="34" charset="-128"/>
                        <a:ea typeface="Hiragino Kaku Gothic Pro W3" panose="020B0300000000000000" pitchFamily="34" charset="-128"/>
                      </a:endParaRPr>
                    </a:p>
                  </a:txBody>
                  <a:tcPr marL="77575" marR="77575" marT="38787" marB="387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hMerge="1">
                  <a:txBody>
                    <a:bodyPr/>
                    <a:lstStyle/>
                    <a:p>
                      <a:endParaRPr dirty="0"/>
                    </a:p>
                  </a:txBody>
                  <a:tcPr>
                    <a:solidFill>
                      <a:schemeClr val="tx2">
                        <a:lumMod val="50000"/>
                        <a:lumOff val="50000"/>
                      </a:schemeClr>
                    </a:solidFill>
                  </a:tcPr>
                </a:tc>
                <a:tc rowSpan="2">
                  <a:txBody>
                    <a:bodyPr/>
                    <a:lstStyle/>
                    <a:p>
                      <a:pPr algn="ctr"/>
                      <a:endParaRPr kumimoji="1" lang="en-US" altLang="ja-JP" sz="1700" dirty="0">
                        <a:solidFill>
                          <a:schemeClr val="tx1"/>
                        </a:solidFill>
                        <a:latin typeface="Hiragino Kaku Gothic Pro W3" panose="020B0300000000000000" pitchFamily="34" charset="-128"/>
                        <a:ea typeface="Hiragino Kaku Gothic Pro W3" panose="020B0300000000000000" pitchFamily="34" charset="-128"/>
                      </a:endParaRPr>
                    </a:p>
                    <a:p>
                      <a:pPr algn="ctr"/>
                      <a:r>
                        <a:rPr kumimoji="1" lang="ja-JP" altLang="en-US" sz="1700">
                          <a:solidFill>
                            <a:schemeClr val="tx1"/>
                          </a:solidFill>
                          <a:latin typeface="Hiragino Kaku Gothic Pro W3" panose="020B0300000000000000" pitchFamily="34" charset="-128"/>
                          <a:ea typeface="Hiragino Kaku Gothic Pro W3" panose="020B0300000000000000" pitchFamily="34" charset="-128"/>
                        </a:rPr>
                        <a:t>通常</a:t>
                      </a:r>
                      <a:r>
                        <a:rPr kumimoji="1" lang="en-US" altLang="ja-JP" sz="1700" dirty="0">
                          <a:solidFill>
                            <a:schemeClr val="tx1"/>
                          </a:solidFill>
                          <a:latin typeface="Hiragino Kaku Gothic Pro W3" panose="020B0300000000000000" pitchFamily="34" charset="-128"/>
                          <a:ea typeface="Hiragino Kaku Gothic Pro W3" panose="020B0300000000000000" pitchFamily="34" charset="-128"/>
                        </a:rPr>
                        <a:t>EEJ</a:t>
                      </a:r>
                      <a:endParaRPr kumimoji="1" lang="ja-JP" altLang="en-US" sz="1700">
                        <a:solidFill>
                          <a:schemeClr val="tx1"/>
                        </a:solidFill>
                        <a:latin typeface="Hiragino Kaku Gothic Pro W3" panose="020B0300000000000000" pitchFamily="34" charset="-128"/>
                        <a:ea typeface="Hiragino Kaku Gothic Pro W3" panose="020B0300000000000000" pitchFamily="34" charset="-128"/>
                      </a:endParaRPr>
                    </a:p>
                  </a:txBody>
                  <a:tcPr marL="77575" marR="77575" marT="38787" marB="387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rowSpan="2">
                  <a:txBody>
                    <a:bodyPr/>
                    <a:lstStyle/>
                    <a:p>
                      <a:pPr algn="ctr"/>
                      <a:endParaRPr kumimoji="1" lang="en-US" altLang="ja-JP" sz="1700" dirty="0">
                        <a:solidFill>
                          <a:schemeClr val="tx1"/>
                        </a:solidFill>
                        <a:latin typeface="Hiragino Kaku Gothic Pro W3" panose="020B0300000000000000" pitchFamily="34" charset="-128"/>
                        <a:ea typeface="Hiragino Kaku Gothic Pro W3" panose="020B0300000000000000" pitchFamily="34" charset="-128"/>
                      </a:endParaRPr>
                    </a:p>
                    <a:p>
                      <a:pPr algn="ctr"/>
                      <a:r>
                        <a:rPr kumimoji="1" lang="en-US" altLang="ja-JP" sz="1700" dirty="0">
                          <a:solidFill>
                            <a:schemeClr val="tx1"/>
                          </a:solidFill>
                          <a:latin typeface="Hiragino Kaku Gothic Pro W3" panose="020B0300000000000000" pitchFamily="34" charset="-128"/>
                          <a:ea typeface="Hiragino Kaku Gothic Pro W3" panose="020B0300000000000000" pitchFamily="34" charset="-128"/>
                        </a:rPr>
                        <a:t>Total</a:t>
                      </a:r>
                      <a:endParaRPr kumimoji="1" lang="ja-JP" altLang="en-US" sz="1700">
                        <a:solidFill>
                          <a:schemeClr val="tx1"/>
                        </a:solidFill>
                        <a:latin typeface="Hiragino Kaku Gothic Pro W3" panose="020B0300000000000000" pitchFamily="34" charset="-128"/>
                        <a:ea typeface="Hiragino Kaku Gothic Pro W3" panose="020B0300000000000000" pitchFamily="34" charset="-128"/>
                      </a:endParaRPr>
                    </a:p>
                  </a:txBody>
                  <a:tcPr marL="77575" marR="77575" marT="38787" marB="387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16040929"/>
                  </a:ext>
                </a:extLst>
              </a:tr>
              <a:tr h="258582">
                <a:tc vMerge="1">
                  <a:txBody>
                    <a:bodyPr/>
                    <a:lstStyle/>
                    <a:p>
                      <a:pPr algn="ctr"/>
                      <a:endParaRPr kumimoji="1" lang="ja-JP" altLang="en-US" sz="2800"/>
                    </a:p>
                  </a:txBody>
                  <a:tcPr>
                    <a:solidFill>
                      <a:schemeClr val="tx2">
                        <a:lumMod val="50000"/>
                        <a:lumOff val="50000"/>
                      </a:schemeClr>
                    </a:solidFill>
                  </a:tcPr>
                </a:tc>
                <a:tc>
                  <a:txBody>
                    <a:bodyPr/>
                    <a:lstStyle/>
                    <a:p>
                      <a:pPr marL="0" marR="0" lvl="0" indent="0" algn="ctr" defTabSz="12268666" rtl="0" eaLnBrk="1" fontAlgn="auto" latinLnBrk="0" hangingPunct="1">
                        <a:lnSpc>
                          <a:spcPct val="100000"/>
                        </a:lnSpc>
                        <a:spcBef>
                          <a:spcPts val="0"/>
                        </a:spcBef>
                        <a:spcAft>
                          <a:spcPts val="0"/>
                        </a:spcAft>
                        <a:buClrTx/>
                        <a:buSzTx/>
                        <a:buFontTx/>
                        <a:buNone/>
                        <a:tabLst/>
                        <a:defRPr/>
                      </a:pPr>
                      <a:r>
                        <a:rPr kumimoji="1" lang="ja-JP" altLang="en-US" sz="1200">
                          <a:solidFill>
                            <a:schemeClr val="tx1"/>
                          </a:solidFill>
                          <a:latin typeface="Hiragino Kaku Gothic Pro W3" panose="020B0300000000000000" pitchFamily="34" charset="-128"/>
                          <a:ea typeface="Hiragino Kaku Gothic Pro W3" panose="020B0300000000000000" pitchFamily="34" charset="-128"/>
                        </a:rPr>
                        <a:t>未発達型</a:t>
                      </a:r>
                    </a:p>
                  </a:txBody>
                  <a:tcPr marL="77575" marR="77575" marT="38787" marB="387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12268666" rtl="0" eaLnBrk="1" fontAlgn="auto" latinLnBrk="0" hangingPunct="1">
                        <a:lnSpc>
                          <a:spcPct val="100000"/>
                        </a:lnSpc>
                        <a:spcBef>
                          <a:spcPts val="0"/>
                        </a:spcBef>
                        <a:spcAft>
                          <a:spcPts val="0"/>
                        </a:spcAft>
                        <a:buClrTx/>
                        <a:buSzTx/>
                        <a:buFontTx/>
                        <a:buNone/>
                        <a:tabLst/>
                        <a:defRPr/>
                      </a:pPr>
                      <a:r>
                        <a:rPr kumimoji="1" lang="ja-JP" altLang="en-US" sz="1200">
                          <a:solidFill>
                            <a:schemeClr val="tx1"/>
                          </a:solidFill>
                          <a:latin typeface="Hiragino Kaku Gothic Pro W3" panose="020B0300000000000000" pitchFamily="34" charset="-128"/>
                          <a:ea typeface="Hiragino Kaku Gothic Pro W3" panose="020B0300000000000000" pitchFamily="34" charset="-128"/>
                        </a:rPr>
                        <a:t>突発型</a:t>
                      </a:r>
                    </a:p>
                  </a:txBody>
                  <a:tcPr marL="77575" marR="77575" marT="38787" marB="387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vMerge="1">
                  <a:txBody>
                    <a:bodyPr/>
                    <a:lstStyle/>
                    <a:p>
                      <a:pPr algn="ctr"/>
                      <a:endParaRPr kumimoji="1" lang="ja-JP" altLang="en-US" sz="2000"/>
                    </a:p>
                  </a:txBody>
                  <a:tcPr>
                    <a:solidFill>
                      <a:schemeClr val="tx2">
                        <a:lumMod val="50000"/>
                        <a:lumOff val="50000"/>
                      </a:schemeClr>
                    </a:solidFill>
                  </a:tcPr>
                </a:tc>
                <a:tc vMerge="1">
                  <a:txBody>
                    <a:bodyPr/>
                    <a:lstStyle/>
                    <a:p>
                      <a:pPr algn="ctr"/>
                      <a:endParaRPr kumimoji="1" lang="ja-JP" altLang="en-US" sz="2000"/>
                    </a:p>
                  </a:txBody>
                  <a:tcPr>
                    <a:solidFill>
                      <a:schemeClr val="tx2">
                        <a:lumMod val="50000"/>
                        <a:lumOff val="50000"/>
                      </a:schemeClr>
                    </a:solidFill>
                  </a:tcPr>
                </a:tc>
                <a:extLst>
                  <a:ext uri="{0D108BD9-81ED-4DB2-BD59-A6C34878D82A}">
                    <a16:rowId xmlns:a16="http://schemas.microsoft.com/office/drawing/2014/main" val="3075918267"/>
                  </a:ext>
                </a:extLst>
              </a:tr>
              <a:tr h="486075">
                <a:tc>
                  <a:txBody>
                    <a:bodyPr/>
                    <a:lstStyle/>
                    <a:p>
                      <a:pPr algn="ctr"/>
                      <a:r>
                        <a:rPr kumimoji="1" lang="en-US" altLang="ja-JP" sz="2400" dirty="0">
                          <a:latin typeface="Hiragino Kaku Gothic Pro W3" panose="020B0300000000000000" pitchFamily="34" charset="-128"/>
                          <a:ea typeface="Hiragino Kaku Gothic Pro W3" panose="020B0300000000000000" pitchFamily="34" charset="-128"/>
                        </a:rPr>
                        <a:t>Event</a:t>
                      </a:r>
                      <a:endParaRPr kumimoji="1" lang="ja-JP" altLang="en-US" sz="2400">
                        <a:latin typeface="Hiragino Kaku Gothic Pro W3" panose="020B0300000000000000" pitchFamily="34" charset="-128"/>
                        <a:ea typeface="Hiragino Kaku Gothic Pro W3" panose="020B0300000000000000" pitchFamily="34" charset="-128"/>
                      </a:endParaRPr>
                    </a:p>
                  </a:txBody>
                  <a:tcPr marL="77575" marR="77575" marT="38787" marB="387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kumimoji="1" lang="en-US" altLang="ja-JP" sz="2400" dirty="0">
                          <a:latin typeface="Hiragino Kaku Gothic Pro W3" panose="020B0300000000000000" pitchFamily="34" charset="-128"/>
                          <a:ea typeface="Hiragino Kaku Gothic Pro W3" panose="020B0300000000000000" pitchFamily="34" charset="-128"/>
                        </a:rPr>
                        <a:t>40</a:t>
                      </a:r>
                      <a:endParaRPr kumimoji="1" lang="ja-JP" altLang="en-US" sz="2400">
                        <a:latin typeface="Hiragino Kaku Gothic Pro W3" panose="020B0300000000000000" pitchFamily="34" charset="-128"/>
                        <a:ea typeface="Hiragino Kaku Gothic Pro W3" panose="020B0300000000000000" pitchFamily="34" charset="-128"/>
                      </a:endParaRPr>
                    </a:p>
                  </a:txBody>
                  <a:tcPr marL="77575" marR="77575" marT="38787" marB="387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kumimoji="1" lang="en-US" altLang="ja-JP" sz="2400" dirty="0">
                          <a:latin typeface="Hiragino Kaku Gothic Pro W3" panose="020B0300000000000000" pitchFamily="34" charset="-128"/>
                          <a:ea typeface="Hiragino Kaku Gothic Pro W3" panose="020B0300000000000000" pitchFamily="34" charset="-128"/>
                        </a:rPr>
                        <a:t>48</a:t>
                      </a:r>
                      <a:endParaRPr kumimoji="1" lang="ja-JP" altLang="en-US" sz="2400">
                        <a:latin typeface="Hiragino Kaku Gothic Pro W3" panose="020B0300000000000000" pitchFamily="34" charset="-128"/>
                        <a:ea typeface="Hiragino Kaku Gothic Pro W3" panose="020B0300000000000000" pitchFamily="34" charset="-128"/>
                      </a:endParaRPr>
                    </a:p>
                  </a:txBody>
                  <a:tcPr marL="77575" marR="77575" marT="38787" marB="387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kumimoji="1" lang="en-US" altLang="ja-JP" sz="2400" dirty="0">
                          <a:latin typeface="Hiragino Kaku Gothic Pro W3" panose="020B0300000000000000" pitchFamily="34" charset="-128"/>
                          <a:ea typeface="Hiragino Kaku Gothic Pro W3" panose="020B0300000000000000" pitchFamily="34" charset="-128"/>
                        </a:rPr>
                        <a:t>1448</a:t>
                      </a:r>
                      <a:endParaRPr kumimoji="1" lang="ja-JP" altLang="en-US" sz="2400">
                        <a:latin typeface="Hiragino Kaku Gothic Pro W3" panose="020B0300000000000000" pitchFamily="34" charset="-128"/>
                        <a:ea typeface="Hiragino Kaku Gothic Pro W3" panose="020B0300000000000000" pitchFamily="34" charset="-128"/>
                      </a:endParaRPr>
                    </a:p>
                  </a:txBody>
                  <a:tcPr marL="77575" marR="77575" marT="38787" marB="387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kumimoji="1" lang="en-US" altLang="ja-JP" sz="2400" dirty="0">
                          <a:latin typeface="Hiragino Kaku Gothic Pro W3" panose="020B0300000000000000" pitchFamily="34" charset="-128"/>
                          <a:ea typeface="Hiragino Kaku Gothic Pro W3" panose="020B0300000000000000" pitchFamily="34" charset="-128"/>
                        </a:rPr>
                        <a:t>1536</a:t>
                      </a:r>
                    </a:p>
                  </a:txBody>
                  <a:tcPr marL="77575" marR="77575" marT="38787" marB="387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662704649"/>
                  </a:ext>
                </a:extLst>
              </a:tr>
            </a:tbl>
          </a:graphicData>
        </a:graphic>
      </p:graphicFrame>
      <p:sp>
        <p:nvSpPr>
          <p:cNvPr id="5" name="テキスト ボックス 4">
            <a:extLst>
              <a:ext uri="{FF2B5EF4-FFF2-40B4-BE49-F238E27FC236}">
                <a16:creationId xmlns:a16="http://schemas.microsoft.com/office/drawing/2014/main" id="{935B23BA-3F29-7021-85C3-1FD66771FABB}"/>
              </a:ext>
            </a:extLst>
          </p:cNvPr>
          <p:cNvSpPr txBox="1"/>
          <p:nvPr/>
        </p:nvSpPr>
        <p:spPr>
          <a:xfrm>
            <a:off x="462337" y="2389411"/>
            <a:ext cx="3943966" cy="523220"/>
          </a:xfrm>
          <a:prstGeom prst="rect">
            <a:avLst/>
          </a:prstGeom>
          <a:noFill/>
        </p:spPr>
        <p:txBody>
          <a:bodyPr wrap="square" rtlCol="0">
            <a:spAutoFit/>
          </a:bodyPr>
          <a:lstStyle/>
          <a:p>
            <a:r>
              <a:rPr lang="ja-JP" altLang="en-US" sz="2800" b="1">
                <a:latin typeface="Hiragino Kaku Gothic Pro W3" panose="020B0300000000000000" pitchFamily="34" charset="-128"/>
                <a:ea typeface="Hiragino Kaku Gothic Pro W3" panose="020B0300000000000000" pitchFamily="34" charset="-128"/>
              </a:rPr>
              <a:t>未発達型のイベント例</a:t>
            </a:r>
            <a:r>
              <a:rPr lang="en-US" altLang="ja-JP" sz="2800" b="1" dirty="0">
                <a:latin typeface="Hiragino Kaku Gothic Pro W3" panose="020B0300000000000000" pitchFamily="34" charset="-128"/>
                <a:ea typeface="Hiragino Kaku Gothic Pro W3" panose="020B0300000000000000" pitchFamily="34" charset="-128"/>
              </a:rPr>
              <a:t>:</a:t>
            </a:r>
            <a:endParaRPr kumimoji="1" lang="ja-JP" altLang="en-US" sz="2800" b="1">
              <a:latin typeface="Hiragino Kaku Gothic Pro W3" panose="020B0300000000000000" pitchFamily="34" charset="-128"/>
              <a:ea typeface="Hiragino Kaku Gothic Pro W3" panose="020B0300000000000000" pitchFamily="34" charset="-128"/>
            </a:endParaRPr>
          </a:p>
        </p:txBody>
      </p:sp>
      <p:grpSp>
        <p:nvGrpSpPr>
          <p:cNvPr id="16" name="グループ化 15">
            <a:extLst>
              <a:ext uri="{FF2B5EF4-FFF2-40B4-BE49-F238E27FC236}">
                <a16:creationId xmlns:a16="http://schemas.microsoft.com/office/drawing/2014/main" id="{DC6A8D4F-E938-C368-51C3-955E4760BF3E}"/>
              </a:ext>
            </a:extLst>
          </p:cNvPr>
          <p:cNvGrpSpPr/>
          <p:nvPr/>
        </p:nvGrpSpPr>
        <p:grpSpPr>
          <a:xfrm>
            <a:off x="922319" y="3115600"/>
            <a:ext cx="3483984" cy="3368904"/>
            <a:chOff x="13247882" y="19400735"/>
            <a:chExt cx="6052194" cy="4601832"/>
          </a:xfrm>
        </p:grpSpPr>
        <p:pic>
          <p:nvPicPr>
            <p:cNvPr id="17" name="図 16">
              <a:extLst>
                <a:ext uri="{FF2B5EF4-FFF2-40B4-BE49-F238E27FC236}">
                  <a16:creationId xmlns:a16="http://schemas.microsoft.com/office/drawing/2014/main" id="{6C6F1684-FA43-AEE1-79D5-9235ADE80B86}"/>
                </a:ext>
              </a:extLst>
            </p:cNvPr>
            <p:cNvPicPr>
              <a:picLocks noChangeAspect="1"/>
            </p:cNvPicPr>
            <p:nvPr/>
          </p:nvPicPr>
          <p:blipFill>
            <a:blip r:embed="rId3"/>
            <a:stretch>
              <a:fillRect/>
            </a:stretch>
          </p:blipFill>
          <p:spPr>
            <a:xfrm>
              <a:off x="13247882" y="19400735"/>
              <a:ext cx="3024000" cy="2268000"/>
            </a:xfrm>
            <a:prstGeom prst="rect">
              <a:avLst/>
            </a:prstGeom>
          </p:spPr>
        </p:pic>
        <p:pic>
          <p:nvPicPr>
            <p:cNvPr id="18" name="図 17">
              <a:extLst>
                <a:ext uri="{FF2B5EF4-FFF2-40B4-BE49-F238E27FC236}">
                  <a16:creationId xmlns:a16="http://schemas.microsoft.com/office/drawing/2014/main" id="{438C91C8-9840-8239-D04B-6E6B78736F2B}"/>
                </a:ext>
              </a:extLst>
            </p:cNvPr>
            <p:cNvPicPr>
              <a:picLocks noChangeAspect="1"/>
            </p:cNvPicPr>
            <p:nvPr/>
          </p:nvPicPr>
          <p:blipFill>
            <a:blip r:embed="rId4"/>
            <a:stretch>
              <a:fillRect/>
            </a:stretch>
          </p:blipFill>
          <p:spPr>
            <a:xfrm>
              <a:off x="16276076" y="19408436"/>
              <a:ext cx="3024000" cy="2268000"/>
            </a:xfrm>
            <a:prstGeom prst="rect">
              <a:avLst/>
            </a:prstGeom>
          </p:spPr>
        </p:pic>
        <p:pic>
          <p:nvPicPr>
            <p:cNvPr id="19" name="図 18">
              <a:extLst>
                <a:ext uri="{FF2B5EF4-FFF2-40B4-BE49-F238E27FC236}">
                  <a16:creationId xmlns:a16="http://schemas.microsoft.com/office/drawing/2014/main" id="{38B422E5-885B-7DE4-4239-029EF74FFB7B}"/>
                </a:ext>
              </a:extLst>
            </p:cNvPr>
            <p:cNvPicPr>
              <a:picLocks noChangeAspect="1"/>
            </p:cNvPicPr>
            <p:nvPr/>
          </p:nvPicPr>
          <p:blipFill>
            <a:blip r:embed="rId5"/>
            <a:stretch>
              <a:fillRect/>
            </a:stretch>
          </p:blipFill>
          <p:spPr>
            <a:xfrm>
              <a:off x="13252075" y="21734567"/>
              <a:ext cx="3024000" cy="2268000"/>
            </a:xfrm>
            <a:prstGeom prst="rect">
              <a:avLst/>
            </a:prstGeom>
          </p:spPr>
        </p:pic>
        <p:pic>
          <p:nvPicPr>
            <p:cNvPr id="20" name="図 19">
              <a:extLst>
                <a:ext uri="{FF2B5EF4-FFF2-40B4-BE49-F238E27FC236}">
                  <a16:creationId xmlns:a16="http://schemas.microsoft.com/office/drawing/2014/main" id="{94A12140-B354-34FE-930D-40972AF7293D}"/>
                </a:ext>
              </a:extLst>
            </p:cNvPr>
            <p:cNvPicPr>
              <a:picLocks noChangeAspect="1"/>
            </p:cNvPicPr>
            <p:nvPr/>
          </p:nvPicPr>
          <p:blipFill>
            <a:blip r:embed="rId6"/>
            <a:stretch>
              <a:fillRect/>
            </a:stretch>
          </p:blipFill>
          <p:spPr>
            <a:xfrm>
              <a:off x="16276076" y="21734567"/>
              <a:ext cx="3024000" cy="2268000"/>
            </a:xfrm>
            <a:prstGeom prst="rect">
              <a:avLst/>
            </a:prstGeom>
          </p:spPr>
        </p:pic>
      </p:grpSp>
      <p:grpSp>
        <p:nvGrpSpPr>
          <p:cNvPr id="21" name="グループ化 20">
            <a:extLst>
              <a:ext uri="{FF2B5EF4-FFF2-40B4-BE49-F238E27FC236}">
                <a16:creationId xmlns:a16="http://schemas.microsoft.com/office/drawing/2014/main" id="{D5D12B78-196E-EF76-9BAF-E0EDA34FC147}"/>
              </a:ext>
            </a:extLst>
          </p:cNvPr>
          <p:cNvGrpSpPr/>
          <p:nvPr/>
        </p:nvGrpSpPr>
        <p:grpSpPr>
          <a:xfrm>
            <a:off x="6147088" y="3115600"/>
            <a:ext cx="3699159" cy="3273346"/>
            <a:chOff x="19574527" y="19497835"/>
            <a:chExt cx="6003447" cy="4660091"/>
          </a:xfrm>
        </p:grpSpPr>
        <p:pic>
          <p:nvPicPr>
            <p:cNvPr id="22" name="図 21">
              <a:extLst>
                <a:ext uri="{FF2B5EF4-FFF2-40B4-BE49-F238E27FC236}">
                  <a16:creationId xmlns:a16="http://schemas.microsoft.com/office/drawing/2014/main" id="{00FA5BF9-0316-FCBF-191E-581508E0ADC6}"/>
                </a:ext>
              </a:extLst>
            </p:cNvPr>
            <p:cNvPicPr>
              <a:picLocks noChangeAspect="1"/>
            </p:cNvPicPr>
            <p:nvPr/>
          </p:nvPicPr>
          <p:blipFill>
            <a:blip r:embed="rId7"/>
            <a:stretch>
              <a:fillRect/>
            </a:stretch>
          </p:blipFill>
          <p:spPr>
            <a:xfrm>
              <a:off x="19576154" y="19504983"/>
              <a:ext cx="3024000" cy="2268000"/>
            </a:xfrm>
            <a:prstGeom prst="rect">
              <a:avLst/>
            </a:prstGeom>
          </p:spPr>
        </p:pic>
        <p:pic>
          <p:nvPicPr>
            <p:cNvPr id="23" name="図 22">
              <a:extLst>
                <a:ext uri="{FF2B5EF4-FFF2-40B4-BE49-F238E27FC236}">
                  <a16:creationId xmlns:a16="http://schemas.microsoft.com/office/drawing/2014/main" id="{5C02FD82-B9BD-55C9-D93E-31CBB77BF2C4}"/>
                </a:ext>
              </a:extLst>
            </p:cNvPr>
            <p:cNvPicPr>
              <a:picLocks noChangeAspect="1"/>
            </p:cNvPicPr>
            <p:nvPr/>
          </p:nvPicPr>
          <p:blipFill>
            <a:blip r:embed="rId8"/>
            <a:stretch>
              <a:fillRect/>
            </a:stretch>
          </p:blipFill>
          <p:spPr>
            <a:xfrm>
              <a:off x="22553974" y="19497835"/>
              <a:ext cx="3024000" cy="2268000"/>
            </a:xfrm>
            <a:prstGeom prst="rect">
              <a:avLst/>
            </a:prstGeom>
          </p:spPr>
        </p:pic>
        <p:pic>
          <p:nvPicPr>
            <p:cNvPr id="24" name="図 23">
              <a:extLst>
                <a:ext uri="{FF2B5EF4-FFF2-40B4-BE49-F238E27FC236}">
                  <a16:creationId xmlns:a16="http://schemas.microsoft.com/office/drawing/2014/main" id="{2AFFB6BD-D11F-8C84-E75D-2008257A3C16}"/>
                </a:ext>
              </a:extLst>
            </p:cNvPr>
            <p:cNvPicPr>
              <a:picLocks noChangeAspect="1"/>
            </p:cNvPicPr>
            <p:nvPr/>
          </p:nvPicPr>
          <p:blipFill>
            <a:blip r:embed="rId9"/>
            <a:stretch>
              <a:fillRect/>
            </a:stretch>
          </p:blipFill>
          <p:spPr>
            <a:xfrm>
              <a:off x="19574527" y="21889926"/>
              <a:ext cx="3024000" cy="2268000"/>
            </a:xfrm>
            <a:prstGeom prst="rect">
              <a:avLst/>
            </a:prstGeom>
          </p:spPr>
        </p:pic>
        <p:pic>
          <p:nvPicPr>
            <p:cNvPr id="25" name="図 24">
              <a:extLst>
                <a:ext uri="{FF2B5EF4-FFF2-40B4-BE49-F238E27FC236}">
                  <a16:creationId xmlns:a16="http://schemas.microsoft.com/office/drawing/2014/main" id="{6E6A1E9B-4B9A-DF1A-793B-3D0B82C23686}"/>
                </a:ext>
              </a:extLst>
            </p:cNvPr>
            <p:cNvPicPr>
              <a:picLocks noChangeAspect="1"/>
            </p:cNvPicPr>
            <p:nvPr/>
          </p:nvPicPr>
          <p:blipFill>
            <a:blip r:embed="rId10"/>
            <a:stretch>
              <a:fillRect/>
            </a:stretch>
          </p:blipFill>
          <p:spPr>
            <a:xfrm>
              <a:off x="22508441" y="21889926"/>
              <a:ext cx="3024000" cy="2268000"/>
            </a:xfrm>
            <a:prstGeom prst="rect">
              <a:avLst/>
            </a:prstGeom>
          </p:spPr>
        </p:pic>
      </p:grpSp>
      <p:sp>
        <p:nvSpPr>
          <p:cNvPr id="31" name="テキスト ボックス 30">
            <a:extLst>
              <a:ext uri="{FF2B5EF4-FFF2-40B4-BE49-F238E27FC236}">
                <a16:creationId xmlns:a16="http://schemas.microsoft.com/office/drawing/2014/main" id="{9929F49E-8DEB-C2FB-971A-6146AD4A3AFE}"/>
              </a:ext>
            </a:extLst>
          </p:cNvPr>
          <p:cNvSpPr txBox="1"/>
          <p:nvPr/>
        </p:nvSpPr>
        <p:spPr>
          <a:xfrm>
            <a:off x="6096000" y="2398509"/>
            <a:ext cx="4589417" cy="523220"/>
          </a:xfrm>
          <a:prstGeom prst="rect">
            <a:avLst/>
          </a:prstGeom>
          <a:noFill/>
        </p:spPr>
        <p:txBody>
          <a:bodyPr wrap="square" rtlCol="0">
            <a:spAutoFit/>
          </a:bodyPr>
          <a:lstStyle/>
          <a:p>
            <a:r>
              <a:rPr lang="ja-JP" altLang="en-US" sz="2800" b="1">
                <a:latin typeface="Hiragino Kaku Gothic Pro W3" panose="020B0300000000000000" pitchFamily="34" charset="-128"/>
                <a:ea typeface="Hiragino Kaku Gothic Pro W3" panose="020B0300000000000000" pitchFamily="34" charset="-128"/>
              </a:rPr>
              <a:t>突発型のイベント例</a:t>
            </a:r>
            <a:r>
              <a:rPr lang="en-US" altLang="ja-JP" sz="2800" b="1" dirty="0">
                <a:latin typeface="Hiragino Kaku Gothic Pro W3" panose="020B0300000000000000" pitchFamily="34" charset="-128"/>
                <a:ea typeface="Hiragino Kaku Gothic Pro W3" panose="020B0300000000000000" pitchFamily="34" charset="-128"/>
              </a:rPr>
              <a:t>:</a:t>
            </a:r>
            <a:endParaRPr kumimoji="1" lang="ja-JP" altLang="en-US" sz="2800" b="1">
              <a:latin typeface="Hiragino Kaku Gothic Pro W3" panose="020B0300000000000000" pitchFamily="34" charset="-128"/>
              <a:ea typeface="Hiragino Kaku Gothic Pro W3" panose="020B0300000000000000" pitchFamily="34" charset="-128"/>
            </a:endParaRPr>
          </a:p>
        </p:txBody>
      </p:sp>
      <p:sp>
        <p:nvSpPr>
          <p:cNvPr id="6" name="正方形/長方形 5">
            <a:extLst>
              <a:ext uri="{FF2B5EF4-FFF2-40B4-BE49-F238E27FC236}">
                <a16:creationId xmlns:a16="http://schemas.microsoft.com/office/drawing/2014/main" id="{E45565B3-F146-32BC-9C9D-72D7EFC13984}"/>
              </a:ext>
            </a:extLst>
          </p:cNvPr>
          <p:cNvSpPr/>
          <p:nvPr/>
        </p:nvSpPr>
        <p:spPr>
          <a:xfrm>
            <a:off x="1029376" y="6527060"/>
            <a:ext cx="3267456" cy="338554"/>
          </a:xfrm>
          <a:prstGeom prst="rect">
            <a:avLst/>
          </a:prstGeom>
        </p:spPr>
        <p:txBody>
          <a:bodyPr wrap="square">
            <a:spAutoFit/>
          </a:bodyPr>
          <a:lstStyle/>
          <a:p>
            <a:r>
              <a:rPr lang="ja-JP" altLang="en-US" sz="1600">
                <a:solidFill>
                  <a:srgbClr val="000000"/>
                </a:solidFill>
                <a:latin typeface="Hiragino Kaku Gothic Pro W3" panose="020B0300000000000000" pitchFamily="34" charset="-128"/>
                <a:ea typeface="Hiragino Kaku Gothic Pro W3" panose="020B0300000000000000" pitchFamily="34" charset="-128"/>
              </a:rPr>
              <a:t>図</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11</a:t>
            </a:r>
            <a:r>
              <a:rPr lang="da-DK" altLang="ja-JP" sz="1600" dirty="0">
                <a:solidFill>
                  <a:srgbClr val="000000"/>
                </a:solidFill>
                <a:latin typeface="Hiragino Kaku Gothic Pro W3" panose="020B0300000000000000" pitchFamily="34" charset="-128"/>
                <a:ea typeface="Hiragino Kaku Gothic Pro W3" panose="020B0300000000000000" pitchFamily="34" charset="-128"/>
              </a:rPr>
              <a:t>.</a:t>
            </a:r>
            <a:r>
              <a:rPr lang="ja-JP" altLang="en-US" sz="1600">
                <a:solidFill>
                  <a:srgbClr val="000000"/>
                </a:solidFill>
                <a:latin typeface="Hiragino Kaku Gothic Pro W3" panose="020B0300000000000000" pitchFamily="34" charset="-128"/>
                <a:ea typeface="Hiragino Kaku Gothic Pro W3" panose="020B0300000000000000" pitchFamily="34" charset="-128"/>
              </a:rPr>
              <a:t> 未発達型のイベント例</a:t>
            </a:r>
            <a:endParaRPr lang="ja-JP" altLang="en-US" sz="1600" dirty="0">
              <a:latin typeface="Hiragino Kaku Gothic Pro W3" panose="020B0300000000000000" pitchFamily="34" charset="-128"/>
              <a:ea typeface="Hiragino Kaku Gothic Pro W3" panose="020B0300000000000000" pitchFamily="34" charset="-128"/>
            </a:endParaRPr>
          </a:p>
        </p:txBody>
      </p:sp>
      <p:sp>
        <p:nvSpPr>
          <p:cNvPr id="7" name="正方形/長方形 6">
            <a:extLst>
              <a:ext uri="{FF2B5EF4-FFF2-40B4-BE49-F238E27FC236}">
                <a16:creationId xmlns:a16="http://schemas.microsoft.com/office/drawing/2014/main" id="{2DAE0239-882F-74B8-3D0D-0DB606CC1B62}"/>
              </a:ext>
            </a:extLst>
          </p:cNvPr>
          <p:cNvSpPr/>
          <p:nvPr/>
        </p:nvSpPr>
        <p:spPr>
          <a:xfrm>
            <a:off x="6486996" y="6469062"/>
            <a:ext cx="3267456" cy="338554"/>
          </a:xfrm>
          <a:prstGeom prst="rect">
            <a:avLst/>
          </a:prstGeom>
        </p:spPr>
        <p:txBody>
          <a:bodyPr wrap="square">
            <a:spAutoFit/>
          </a:bodyPr>
          <a:lstStyle/>
          <a:p>
            <a:r>
              <a:rPr lang="ja-JP" altLang="en-US" sz="1600">
                <a:solidFill>
                  <a:srgbClr val="000000"/>
                </a:solidFill>
                <a:latin typeface="Hiragino Kaku Gothic Pro W3" panose="020B0300000000000000" pitchFamily="34" charset="-128"/>
                <a:ea typeface="Hiragino Kaku Gothic Pro W3" panose="020B0300000000000000" pitchFamily="34" charset="-128"/>
              </a:rPr>
              <a:t>図</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12</a:t>
            </a:r>
            <a:r>
              <a:rPr lang="da-DK" altLang="ja-JP" sz="1600" dirty="0">
                <a:solidFill>
                  <a:srgbClr val="000000"/>
                </a:solidFill>
                <a:latin typeface="Hiragino Kaku Gothic Pro W3" panose="020B0300000000000000" pitchFamily="34" charset="-128"/>
                <a:ea typeface="Hiragino Kaku Gothic Pro W3" panose="020B0300000000000000" pitchFamily="34" charset="-128"/>
              </a:rPr>
              <a:t>.</a:t>
            </a:r>
            <a:r>
              <a:rPr lang="ja-JP" altLang="en-US" sz="1600">
                <a:solidFill>
                  <a:srgbClr val="000000"/>
                </a:solidFill>
                <a:latin typeface="Hiragino Kaku Gothic Pro W3" panose="020B0300000000000000" pitchFamily="34" charset="-128"/>
                <a:ea typeface="Hiragino Kaku Gothic Pro W3" panose="020B0300000000000000" pitchFamily="34" charset="-128"/>
              </a:rPr>
              <a:t> 突発型のイベント例</a:t>
            </a:r>
            <a:endParaRPr lang="ja-JP" altLang="en-US" sz="1600" dirty="0">
              <a:latin typeface="Hiragino Kaku Gothic Pro W3" panose="020B0300000000000000" pitchFamily="34" charset="-128"/>
              <a:ea typeface="Hiragino Kaku Gothic Pro W3" panose="020B0300000000000000" pitchFamily="34" charset="-128"/>
            </a:endParaRPr>
          </a:p>
        </p:txBody>
      </p:sp>
    </p:spTree>
    <p:extLst>
      <p:ext uri="{BB962C8B-B14F-4D97-AF65-F5344CB8AC3E}">
        <p14:creationId xmlns:p14="http://schemas.microsoft.com/office/powerpoint/2010/main" val="491369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B02D285-1022-2DED-2A81-68BAA4277715}"/>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11</a:t>
            </a:fld>
            <a:endParaRPr kumimoji="1" lang="ja-JP" altLang="en-US"/>
          </a:p>
        </p:txBody>
      </p:sp>
      <p:sp>
        <p:nvSpPr>
          <p:cNvPr id="3" name="テキスト ボックス 2">
            <a:extLst>
              <a:ext uri="{FF2B5EF4-FFF2-40B4-BE49-F238E27FC236}">
                <a16:creationId xmlns:a16="http://schemas.microsoft.com/office/drawing/2014/main" id="{9694911C-A2E7-B739-5BD3-231686D283D6}"/>
              </a:ext>
            </a:extLst>
          </p:cNvPr>
          <p:cNvSpPr txBox="1"/>
          <p:nvPr/>
        </p:nvSpPr>
        <p:spPr>
          <a:xfrm>
            <a:off x="457200" y="450928"/>
            <a:ext cx="4685015" cy="461665"/>
          </a:xfrm>
          <a:prstGeom prst="rect">
            <a:avLst/>
          </a:prstGeom>
          <a:noFill/>
        </p:spPr>
        <p:txBody>
          <a:bodyPr wrap="square" rtlCol="0">
            <a:spAutoFit/>
          </a:bodyPr>
          <a:lstStyle/>
          <a:p>
            <a:r>
              <a:rPr lang="ja-JP" altLang="en-US" sz="2400"/>
              <a:t>自動判定の</a:t>
            </a:r>
            <a:r>
              <a:rPr kumimoji="1" lang="ja-JP" altLang="en-US" sz="2400"/>
              <a:t>結果</a:t>
            </a:r>
            <a:r>
              <a:rPr kumimoji="1" lang="en-US" altLang="ja-JP" sz="2400" dirty="0"/>
              <a:t>:</a:t>
            </a:r>
            <a:r>
              <a:rPr kumimoji="1" lang="ja-JP" altLang="en-US" sz="2400"/>
              <a:t> 未発達型</a:t>
            </a:r>
            <a:endParaRPr kumimoji="1" lang="ja-JP" altLang="en-US" sz="2400" dirty="0"/>
          </a:p>
        </p:txBody>
      </p:sp>
      <p:grpSp>
        <p:nvGrpSpPr>
          <p:cNvPr id="11" name="グループ化 10">
            <a:extLst>
              <a:ext uri="{FF2B5EF4-FFF2-40B4-BE49-F238E27FC236}">
                <a16:creationId xmlns:a16="http://schemas.microsoft.com/office/drawing/2014/main" id="{98732FF5-226F-8285-D0DB-FC685E901D6A}"/>
              </a:ext>
            </a:extLst>
          </p:cNvPr>
          <p:cNvGrpSpPr/>
          <p:nvPr/>
        </p:nvGrpSpPr>
        <p:grpSpPr>
          <a:xfrm>
            <a:off x="9408158" y="137253"/>
            <a:ext cx="1763116" cy="1554518"/>
            <a:chOff x="9244970" y="18287938"/>
            <a:chExt cx="3024000" cy="2666224"/>
          </a:xfrm>
        </p:grpSpPr>
        <p:pic>
          <p:nvPicPr>
            <p:cNvPr id="13" name="図 12">
              <a:extLst>
                <a:ext uri="{FF2B5EF4-FFF2-40B4-BE49-F238E27FC236}">
                  <a16:creationId xmlns:a16="http://schemas.microsoft.com/office/drawing/2014/main" id="{D68E77CF-3E34-FF36-E505-1858049D7CFB}"/>
                </a:ext>
              </a:extLst>
            </p:cNvPr>
            <p:cNvPicPr>
              <a:picLocks noChangeAspect="1"/>
            </p:cNvPicPr>
            <p:nvPr/>
          </p:nvPicPr>
          <p:blipFill>
            <a:blip r:embed="rId3"/>
            <a:stretch>
              <a:fillRect/>
            </a:stretch>
          </p:blipFill>
          <p:spPr>
            <a:xfrm>
              <a:off x="9244970" y="18287938"/>
              <a:ext cx="3024000" cy="2268000"/>
            </a:xfrm>
            <a:prstGeom prst="rect">
              <a:avLst/>
            </a:prstGeom>
          </p:spPr>
        </p:pic>
        <p:sp>
          <p:nvSpPr>
            <p:cNvPr id="14" name="正方形/長方形 13">
              <a:extLst>
                <a:ext uri="{FF2B5EF4-FFF2-40B4-BE49-F238E27FC236}">
                  <a16:creationId xmlns:a16="http://schemas.microsoft.com/office/drawing/2014/main" id="{AA91C9C4-D293-073F-30B2-728DE4BEA41A}"/>
                </a:ext>
              </a:extLst>
            </p:cNvPr>
            <p:cNvSpPr/>
            <p:nvPr/>
          </p:nvSpPr>
          <p:spPr>
            <a:xfrm>
              <a:off x="9444517" y="20505463"/>
              <a:ext cx="2574851" cy="448699"/>
            </a:xfrm>
            <a:prstGeom prst="rect">
              <a:avLst/>
            </a:prstGeom>
          </p:spPr>
          <p:txBody>
            <a:bodyPr wrap="square">
              <a:spAutoFit/>
            </a:bodyPr>
            <a:lstStyle/>
            <a:p>
              <a:r>
                <a:rPr lang="da-DK" altLang="ja-JP" sz="1100" dirty="0">
                  <a:solidFill>
                    <a:srgbClr val="000000"/>
                  </a:solidFill>
                  <a:latin typeface="Hiragino Kaku Gothic Pro W3" panose="020B0300000000000000" pitchFamily="34" charset="-128"/>
                  <a:ea typeface="Hiragino Kaku Gothic Pro W3" panose="020B0300000000000000" pitchFamily="34" charset="-128"/>
                </a:rPr>
                <a:t>Fig3. </a:t>
              </a:r>
              <a:r>
                <a:rPr lang="ja-JP" altLang="en-US" sz="1100">
                  <a:solidFill>
                    <a:srgbClr val="000000"/>
                  </a:solidFill>
                  <a:latin typeface="Hiragino Kaku Gothic Pro W3" panose="020B0300000000000000" pitchFamily="34" charset="-128"/>
                  <a:ea typeface="Hiragino Kaku Gothic Pro W3" panose="020B0300000000000000" pitchFamily="34" charset="-128"/>
                </a:rPr>
                <a:t>未発達型</a:t>
              </a:r>
              <a:endParaRPr lang="ja-JP" altLang="en-US" sz="1100" dirty="0">
                <a:latin typeface="Hiragino Kaku Gothic Pro W3" panose="020B0300000000000000" pitchFamily="34" charset="-128"/>
                <a:ea typeface="Hiragino Kaku Gothic Pro W3" panose="020B0300000000000000" pitchFamily="34" charset="-128"/>
              </a:endParaRPr>
            </a:p>
          </p:txBody>
        </p:sp>
      </p:grpSp>
      <p:cxnSp>
        <p:nvCxnSpPr>
          <p:cNvPr id="19" name="直線矢印コネクタ 18">
            <a:extLst>
              <a:ext uri="{FF2B5EF4-FFF2-40B4-BE49-F238E27FC236}">
                <a16:creationId xmlns:a16="http://schemas.microsoft.com/office/drawing/2014/main" id="{3B0F3BE1-385E-3A37-C97B-4FFC621F0EF8}"/>
              </a:ext>
            </a:extLst>
          </p:cNvPr>
          <p:cNvCxnSpPr>
            <a:cxnSpLocks/>
          </p:cNvCxnSpPr>
          <p:nvPr/>
        </p:nvCxnSpPr>
        <p:spPr>
          <a:xfrm>
            <a:off x="6459700" y="4116823"/>
            <a:ext cx="700052" cy="21246"/>
          </a:xfrm>
          <a:prstGeom prst="straightConnector1">
            <a:avLst/>
          </a:prstGeom>
          <a:ln w="6032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4" name="グループ化 23">
            <a:extLst>
              <a:ext uri="{FF2B5EF4-FFF2-40B4-BE49-F238E27FC236}">
                <a16:creationId xmlns:a16="http://schemas.microsoft.com/office/drawing/2014/main" id="{E6EE6EF6-A7D8-14EA-4A4E-1D8C30EA2332}"/>
              </a:ext>
            </a:extLst>
          </p:cNvPr>
          <p:cNvGrpSpPr/>
          <p:nvPr/>
        </p:nvGrpSpPr>
        <p:grpSpPr>
          <a:xfrm>
            <a:off x="400729" y="1301646"/>
            <a:ext cx="5916797" cy="3823738"/>
            <a:chOff x="403831" y="1446668"/>
            <a:chExt cx="5916797" cy="3823738"/>
          </a:xfrm>
        </p:grpSpPr>
        <p:sp>
          <p:nvSpPr>
            <p:cNvPr id="35" name="テキスト ボックス 34">
              <a:extLst>
                <a:ext uri="{FF2B5EF4-FFF2-40B4-BE49-F238E27FC236}">
                  <a16:creationId xmlns:a16="http://schemas.microsoft.com/office/drawing/2014/main" id="{2023432F-DC1C-C03C-1A07-13BDD08EED88}"/>
                </a:ext>
              </a:extLst>
            </p:cNvPr>
            <p:cNvSpPr txBox="1"/>
            <p:nvPr/>
          </p:nvSpPr>
          <p:spPr>
            <a:xfrm>
              <a:off x="651587" y="1446668"/>
              <a:ext cx="3487436" cy="400110"/>
            </a:xfrm>
            <a:prstGeom prst="rect">
              <a:avLst/>
            </a:prstGeom>
            <a:noFill/>
          </p:spPr>
          <p:txBody>
            <a:bodyPr wrap="square">
              <a:spAutoFit/>
            </a:bodyPr>
            <a:lstStyle/>
            <a:p>
              <a:r>
                <a:rPr lang="ja-JP" altLang="en-US" sz="2000">
                  <a:latin typeface="Hiragino Kaku Gothic Pro W3" panose="020B0300000000000000" pitchFamily="34" charset="-128"/>
                  <a:ea typeface="Hiragino Kaku Gothic Pro W3" panose="020B0300000000000000" pitchFamily="34" charset="-128"/>
                </a:rPr>
                <a:t>月ごとの未発達型の発生率</a:t>
              </a:r>
              <a:endParaRPr lang="ja-JP" altLang="en-US" sz="2000"/>
            </a:p>
          </p:txBody>
        </p:sp>
        <p:grpSp>
          <p:nvGrpSpPr>
            <p:cNvPr id="39" name="グループ化 38">
              <a:extLst>
                <a:ext uri="{FF2B5EF4-FFF2-40B4-BE49-F238E27FC236}">
                  <a16:creationId xmlns:a16="http://schemas.microsoft.com/office/drawing/2014/main" id="{94C9E6EB-7565-7478-ECFC-440A4C8548DF}"/>
                </a:ext>
              </a:extLst>
            </p:cNvPr>
            <p:cNvGrpSpPr/>
            <p:nvPr/>
          </p:nvGrpSpPr>
          <p:grpSpPr>
            <a:xfrm>
              <a:off x="403831" y="1587594"/>
              <a:ext cx="5916797" cy="3682812"/>
              <a:chOff x="436245" y="2789202"/>
              <a:chExt cx="4045776" cy="2518226"/>
            </a:xfrm>
          </p:grpSpPr>
          <p:grpSp>
            <p:nvGrpSpPr>
              <p:cNvPr id="22" name="グループ化 21">
                <a:extLst>
                  <a:ext uri="{FF2B5EF4-FFF2-40B4-BE49-F238E27FC236}">
                    <a16:creationId xmlns:a16="http://schemas.microsoft.com/office/drawing/2014/main" id="{C4B7B997-C24B-8E05-3490-4212B153EE3D}"/>
                  </a:ext>
                </a:extLst>
              </p:cNvPr>
              <p:cNvGrpSpPr/>
              <p:nvPr/>
            </p:nvGrpSpPr>
            <p:grpSpPr>
              <a:xfrm>
                <a:off x="436245" y="2789202"/>
                <a:ext cx="3393283" cy="2352590"/>
                <a:chOff x="540383" y="2063003"/>
                <a:chExt cx="4223641" cy="2928284"/>
              </a:xfrm>
            </p:grpSpPr>
            <p:pic>
              <p:nvPicPr>
                <p:cNvPr id="6" name="図 5">
                  <a:extLst>
                    <a:ext uri="{FF2B5EF4-FFF2-40B4-BE49-F238E27FC236}">
                      <a16:creationId xmlns:a16="http://schemas.microsoft.com/office/drawing/2014/main" id="{EE1C3486-40D5-26F8-EF4F-84A752EA38EE}"/>
                    </a:ext>
                  </a:extLst>
                </p:cNvPr>
                <p:cNvPicPr>
                  <a:picLocks noChangeAspect="1"/>
                </p:cNvPicPr>
                <p:nvPr/>
              </p:nvPicPr>
              <p:blipFill>
                <a:blip r:embed="rId4"/>
                <a:stretch>
                  <a:fillRect/>
                </a:stretch>
              </p:blipFill>
              <p:spPr>
                <a:xfrm>
                  <a:off x="540383" y="2300310"/>
                  <a:ext cx="4223641" cy="2534184"/>
                </a:xfrm>
                <a:prstGeom prst="rect">
                  <a:avLst/>
                </a:prstGeom>
              </p:spPr>
            </p:pic>
            <p:sp>
              <p:nvSpPr>
                <p:cNvPr id="15" name="円/楕円 14">
                  <a:extLst>
                    <a:ext uri="{FF2B5EF4-FFF2-40B4-BE49-F238E27FC236}">
                      <a16:creationId xmlns:a16="http://schemas.microsoft.com/office/drawing/2014/main" id="{090BDE23-349E-079D-E18E-884799387F0C}"/>
                    </a:ext>
                  </a:extLst>
                </p:cNvPr>
                <p:cNvSpPr/>
                <p:nvPr/>
              </p:nvSpPr>
              <p:spPr>
                <a:xfrm rot="60000">
                  <a:off x="2169520" y="2063003"/>
                  <a:ext cx="965368" cy="2928284"/>
                </a:xfrm>
                <a:prstGeom prst="ellipse">
                  <a:avLst/>
                </a:prstGeom>
                <a:noFill/>
                <a:ln w="31750">
                  <a:solidFill>
                    <a:srgbClr val="FF0000">
                      <a:alpha val="57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0" name="直線矢印コネクタ 19">
                <a:extLst>
                  <a:ext uri="{FF2B5EF4-FFF2-40B4-BE49-F238E27FC236}">
                    <a16:creationId xmlns:a16="http://schemas.microsoft.com/office/drawing/2014/main" id="{6C978A6B-3A07-8838-C391-952B1C46025B}"/>
                  </a:ext>
                </a:extLst>
              </p:cNvPr>
              <p:cNvCxnSpPr>
                <a:cxnSpLocks/>
              </p:cNvCxnSpPr>
              <p:nvPr/>
            </p:nvCxnSpPr>
            <p:spPr>
              <a:xfrm>
                <a:off x="1797971" y="4278088"/>
                <a:ext cx="654035" cy="8535"/>
              </a:xfrm>
              <a:prstGeom prst="straightConnector1">
                <a:avLst/>
              </a:prstGeom>
              <a:ln w="6032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85A64962-59BD-2176-EAB4-75F64DA8B977}"/>
                  </a:ext>
                </a:extLst>
              </p:cNvPr>
              <p:cNvSpPr txBox="1"/>
              <p:nvPr/>
            </p:nvSpPr>
            <p:spPr>
              <a:xfrm>
                <a:off x="2288178" y="4907318"/>
                <a:ext cx="2193843" cy="400110"/>
              </a:xfrm>
              <a:prstGeom prst="rect">
                <a:avLst/>
              </a:prstGeom>
              <a:noFill/>
            </p:spPr>
            <p:txBody>
              <a:bodyPr wrap="square" rtlCol="0">
                <a:spAutoFit/>
              </a:bodyPr>
              <a:lstStyle/>
              <a:p>
                <a:r>
                  <a:rPr kumimoji="1" lang="en-US" altLang="ja-JP" sz="2000" dirty="0">
                    <a:solidFill>
                      <a:srgbClr val="FF0000"/>
                    </a:solidFill>
                    <a:latin typeface="Hiragino Kaku Gothic Pro W3" panose="020B0300000000000000" pitchFamily="34" charset="-128"/>
                    <a:ea typeface="Hiragino Kaku Gothic Pro W3" panose="020B0300000000000000" pitchFamily="34" charset="-128"/>
                  </a:rPr>
                  <a:t>J-solstice</a:t>
                </a:r>
                <a:r>
                  <a:rPr kumimoji="1" lang="ja-JP" altLang="en-US" sz="2000">
                    <a:solidFill>
                      <a:srgbClr val="FF0000"/>
                    </a:solidFill>
                    <a:latin typeface="Hiragino Kaku Gothic Pro W3" panose="020B0300000000000000" pitchFamily="34" charset="-128"/>
                    <a:ea typeface="Hiragino Kaku Gothic Pro W3" panose="020B0300000000000000" pitchFamily="34" charset="-128"/>
                  </a:rPr>
                  <a:t>で卓越</a:t>
                </a:r>
              </a:p>
            </p:txBody>
          </p:sp>
        </p:grpSp>
      </p:grpSp>
      <p:sp>
        <p:nvSpPr>
          <p:cNvPr id="4" name="正方形/長方形 3">
            <a:extLst>
              <a:ext uri="{FF2B5EF4-FFF2-40B4-BE49-F238E27FC236}">
                <a16:creationId xmlns:a16="http://schemas.microsoft.com/office/drawing/2014/main" id="{E3311B6F-93C4-0506-2E5F-CEE968F3A14E}"/>
              </a:ext>
            </a:extLst>
          </p:cNvPr>
          <p:cNvSpPr/>
          <p:nvPr/>
        </p:nvSpPr>
        <p:spPr>
          <a:xfrm>
            <a:off x="834975" y="5179702"/>
            <a:ext cx="4307240" cy="369332"/>
          </a:xfrm>
          <a:prstGeom prst="rect">
            <a:avLst/>
          </a:prstGeom>
        </p:spPr>
        <p:txBody>
          <a:bodyPr wrap="square">
            <a:spAutoFit/>
          </a:bodyPr>
          <a:lstStyle/>
          <a:p>
            <a:r>
              <a:rPr lang="ja-JP" altLang="en-US">
                <a:solidFill>
                  <a:srgbClr val="000000"/>
                </a:solidFill>
                <a:latin typeface="Hiragino Kaku Gothic Pro W3" panose="020B0300000000000000" pitchFamily="34" charset="-128"/>
                <a:ea typeface="Hiragino Kaku Gothic Pro W3" panose="020B0300000000000000" pitchFamily="34" charset="-128"/>
              </a:rPr>
              <a:t>図</a:t>
            </a:r>
            <a:r>
              <a:rPr lang="en-US" altLang="ja-JP" dirty="0">
                <a:solidFill>
                  <a:srgbClr val="000000"/>
                </a:solidFill>
                <a:latin typeface="Hiragino Kaku Gothic Pro W3" panose="020B0300000000000000" pitchFamily="34" charset="-128"/>
                <a:ea typeface="Hiragino Kaku Gothic Pro W3" panose="020B0300000000000000" pitchFamily="34" charset="-128"/>
              </a:rPr>
              <a:t>13</a:t>
            </a:r>
            <a:r>
              <a:rPr lang="da-DK" altLang="ja-JP" dirty="0">
                <a:solidFill>
                  <a:srgbClr val="000000"/>
                </a:solidFill>
                <a:latin typeface="Hiragino Kaku Gothic Pro W3" panose="020B0300000000000000" pitchFamily="34" charset="-128"/>
                <a:ea typeface="Hiragino Kaku Gothic Pro W3" panose="020B0300000000000000" pitchFamily="34" charset="-128"/>
              </a:rPr>
              <a:t>.</a:t>
            </a:r>
            <a:r>
              <a:rPr lang="ja-JP" altLang="en-US">
                <a:solidFill>
                  <a:srgbClr val="000000"/>
                </a:solidFill>
                <a:latin typeface="Hiragino Kaku Gothic Pro W3" panose="020B0300000000000000" pitchFamily="34" charset="-128"/>
                <a:ea typeface="Hiragino Kaku Gothic Pro W3" panose="020B0300000000000000" pitchFamily="34" charset="-128"/>
              </a:rPr>
              <a:t> 月ごとの未発達型</a:t>
            </a:r>
            <a:r>
              <a:rPr lang="en-US" altLang="ja-JP" dirty="0">
                <a:solidFill>
                  <a:srgbClr val="000000"/>
                </a:solidFill>
                <a:latin typeface="Hiragino Kaku Gothic Pro W3" panose="020B0300000000000000" pitchFamily="34" charset="-128"/>
                <a:ea typeface="Hiragino Kaku Gothic Pro W3" panose="020B0300000000000000" pitchFamily="34" charset="-128"/>
              </a:rPr>
              <a:t>EEJ</a:t>
            </a:r>
            <a:r>
              <a:rPr lang="ja-JP" altLang="en-US">
                <a:solidFill>
                  <a:srgbClr val="000000"/>
                </a:solidFill>
                <a:latin typeface="Hiragino Kaku Gothic Pro W3" panose="020B0300000000000000" pitchFamily="34" charset="-128"/>
                <a:ea typeface="Hiragino Kaku Gothic Pro W3" panose="020B0300000000000000" pitchFamily="34" charset="-128"/>
              </a:rPr>
              <a:t>の発生割合</a:t>
            </a:r>
            <a:endParaRPr lang="ja-JP" altLang="en-US" dirty="0">
              <a:latin typeface="Hiragino Kaku Gothic Pro W3" panose="020B0300000000000000" pitchFamily="34" charset="-128"/>
              <a:ea typeface="Hiragino Kaku Gothic Pro W3" panose="020B0300000000000000" pitchFamily="34" charset="-128"/>
            </a:endParaRPr>
          </a:p>
        </p:txBody>
      </p:sp>
      <p:sp>
        <p:nvSpPr>
          <p:cNvPr id="5" name="正方形/長方形 4">
            <a:extLst>
              <a:ext uri="{FF2B5EF4-FFF2-40B4-BE49-F238E27FC236}">
                <a16:creationId xmlns:a16="http://schemas.microsoft.com/office/drawing/2014/main" id="{D0347375-D67E-02AF-B38F-E3274832B0B2}"/>
              </a:ext>
            </a:extLst>
          </p:cNvPr>
          <p:cNvSpPr/>
          <p:nvPr/>
        </p:nvSpPr>
        <p:spPr>
          <a:xfrm>
            <a:off x="6126601" y="5243442"/>
            <a:ext cx="4068220" cy="338554"/>
          </a:xfrm>
          <a:prstGeom prst="rect">
            <a:avLst/>
          </a:prstGeom>
        </p:spPr>
        <p:txBody>
          <a:bodyPr wrap="square">
            <a:spAutoFit/>
          </a:bodyPr>
          <a:lstStyle/>
          <a:p>
            <a:r>
              <a:rPr lang="ja-JP" altLang="en-US" sz="1600">
                <a:solidFill>
                  <a:srgbClr val="000000"/>
                </a:solidFill>
                <a:latin typeface="Hiragino Kaku Gothic Pro W3" panose="020B0300000000000000" pitchFamily="34" charset="-128"/>
                <a:ea typeface="Hiragino Kaku Gothic Pro W3" panose="020B0300000000000000" pitchFamily="34" charset="-128"/>
              </a:rPr>
              <a:t>図</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14</a:t>
            </a:r>
            <a:r>
              <a:rPr lang="da-DK" altLang="ja-JP" sz="1600" dirty="0">
                <a:solidFill>
                  <a:srgbClr val="000000"/>
                </a:solidFill>
                <a:latin typeface="Hiragino Kaku Gothic Pro W3" panose="020B0300000000000000" pitchFamily="34" charset="-128"/>
                <a:ea typeface="Hiragino Kaku Gothic Pro W3" panose="020B0300000000000000" pitchFamily="34" charset="-128"/>
              </a:rPr>
              <a:t>.</a:t>
            </a:r>
            <a:r>
              <a:rPr lang="ja-JP" altLang="en-US" sz="1600">
                <a:solidFill>
                  <a:srgbClr val="000000"/>
                </a:solidFill>
                <a:latin typeface="Hiragino Kaku Gothic Pro W3" panose="020B0300000000000000" pitchFamily="34" charset="-128"/>
                <a:ea typeface="Hiragino Kaku Gothic Pro W3" panose="020B0300000000000000" pitchFamily="34" charset="-128"/>
              </a:rPr>
              <a:t> 月齢ごとの未発達型</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EEJ</a:t>
            </a:r>
            <a:r>
              <a:rPr lang="ja-JP" altLang="en-US" sz="1600">
                <a:solidFill>
                  <a:srgbClr val="000000"/>
                </a:solidFill>
                <a:latin typeface="Hiragino Kaku Gothic Pro W3" panose="020B0300000000000000" pitchFamily="34" charset="-128"/>
                <a:ea typeface="Hiragino Kaku Gothic Pro W3" panose="020B0300000000000000" pitchFamily="34" charset="-128"/>
              </a:rPr>
              <a:t>の発生割合</a:t>
            </a:r>
            <a:endParaRPr lang="ja-JP" altLang="en-US" sz="1600" dirty="0">
              <a:latin typeface="Hiragino Kaku Gothic Pro W3" panose="020B0300000000000000" pitchFamily="34" charset="-128"/>
              <a:ea typeface="Hiragino Kaku Gothic Pro W3" panose="020B0300000000000000" pitchFamily="34" charset="-128"/>
            </a:endParaRPr>
          </a:p>
        </p:txBody>
      </p:sp>
      <p:grpSp>
        <p:nvGrpSpPr>
          <p:cNvPr id="25" name="グループ化 24">
            <a:extLst>
              <a:ext uri="{FF2B5EF4-FFF2-40B4-BE49-F238E27FC236}">
                <a16:creationId xmlns:a16="http://schemas.microsoft.com/office/drawing/2014/main" id="{CBCBFB2E-E4FD-ECF6-16B8-246DC4229A64}"/>
              </a:ext>
            </a:extLst>
          </p:cNvPr>
          <p:cNvGrpSpPr/>
          <p:nvPr/>
        </p:nvGrpSpPr>
        <p:grpSpPr>
          <a:xfrm>
            <a:off x="5466447" y="1324313"/>
            <a:ext cx="6283593" cy="3801071"/>
            <a:chOff x="5504576" y="1529275"/>
            <a:chExt cx="6283593" cy="3801071"/>
          </a:xfrm>
        </p:grpSpPr>
        <p:sp>
          <p:nvSpPr>
            <p:cNvPr id="37" name="テキスト ボックス 36">
              <a:extLst>
                <a:ext uri="{FF2B5EF4-FFF2-40B4-BE49-F238E27FC236}">
                  <a16:creationId xmlns:a16="http://schemas.microsoft.com/office/drawing/2014/main" id="{B9BB7378-B43F-5ED7-8919-F45EE882AD1D}"/>
                </a:ext>
              </a:extLst>
            </p:cNvPr>
            <p:cNvSpPr txBox="1"/>
            <p:nvPr/>
          </p:nvSpPr>
          <p:spPr>
            <a:xfrm>
              <a:off x="6055692" y="1529275"/>
              <a:ext cx="3594663" cy="400110"/>
            </a:xfrm>
            <a:prstGeom prst="rect">
              <a:avLst/>
            </a:prstGeom>
            <a:noFill/>
          </p:spPr>
          <p:txBody>
            <a:bodyPr wrap="square">
              <a:spAutoFit/>
            </a:bodyPr>
            <a:lstStyle/>
            <a:p>
              <a:r>
                <a:rPr lang="ja-JP" altLang="en-US" sz="2000">
                  <a:latin typeface="Hiragino Kaku Gothic Pro W3" panose="020B0300000000000000" pitchFamily="34" charset="-128"/>
                  <a:ea typeface="Hiragino Kaku Gothic Pro W3" panose="020B0300000000000000" pitchFamily="34" charset="-128"/>
                </a:rPr>
                <a:t>月齢ごとの未発達型の発生率</a:t>
              </a:r>
              <a:endParaRPr lang="ja-JP" altLang="en-US" sz="2000"/>
            </a:p>
          </p:txBody>
        </p:sp>
        <p:grpSp>
          <p:nvGrpSpPr>
            <p:cNvPr id="9" name="グループ化 8">
              <a:extLst>
                <a:ext uri="{FF2B5EF4-FFF2-40B4-BE49-F238E27FC236}">
                  <a16:creationId xmlns:a16="http://schemas.microsoft.com/office/drawing/2014/main" id="{A7BB773C-8AC0-F65D-A34A-A005E17EE1ED}"/>
                </a:ext>
              </a:extLst>
            </p:cNvPr>
            <p:cNvGrpSpPr/>
            <p:nvPr/>
          </p:nvGrpSpPr>
          <p:grpSpPr>
            <a:xfrm>
              <a:off x="5504576" y="1790021"/>
              <a:ext cx="6283593" cy="3540325"/>
              <a:chOff x="5583179" y="2370516"/>
              <a:chExt cx="6283593" cy="3540325"/>
            </a:xfrm>
          </p:grpSpPr>
          <p:grpSp>
            <p:nvGrpSpPr>
              <p:cNvPr id="41" name="グループ化 40">
                <a:extLst>
                  <a:ext uri="{FF2B5EF4-FFF2-40B4-BE49-F238E27FC236}">
                    <a16:creationId xmlns:a16="http://schemas.microsoft.com/office/drawing/2014/main" id="{65339A40-393C-6A19-DC15-B25CBF03F9A0}"/>
                  </a:ext>
                </a:extLst>
              </p:cNvPr>
              <p:cNvGrpSpPr/>
              <p:nvPr/>
            </p:nvGrpSpPr>
            <p:grpSpPr>
              <a:xfrm>
                <a:off x="5583179" y="2370516"/>
                <a:ext cx="6283593" cy="3540325"/>
                <a:chOff x="6071971" y="2695861"/>
                <a:chExt cx="4953775" cy="2791074"/>
              </a:xfrm>
            </p:grpSpPr>
            <p:sp>
              <p:nvSpPr>
                <p:cNvPr id="28" name="テキスト ボックス 27">
                  <a:extLst>
                    <a:ext uri="{FF2B5EF4-FFF2-40B4-BE49-F238E27FC236}">
                      <a16:creationId xmlns:a16="http://schemas.microsoft.com/office/drawing/2014/main" id="{4D455E6E-958E-381C-1C62-BE7FFAE44CB0}"/>
                    </a:ext>
                  </a:extLst>
                </p:cNvPr>
                <p:cNvSpPr txBox="1"/>
                <p:nvPr/>
              </p:nvSpPr>
              <p:spPr>
                <a:xfrm>
                  <a:off x="7090991" y="5148381"/>
                  <a:ext cx="3934755" cy="338554"/>
                </a:xfrm>
                <a:prstGeom prst="rect">
                  <a:avLst/>
                </a:prstGeom>
                <a:noFill/>
              </p:spPr>
              <p:txBody>
                <a:bodyPr wrap="square" rtlCol="0">
                  <a:spAutoFit/>
                </a:bodyPr>
                <a:lstStyle/>
                <a:p>
                  <a:r>
                    <a:rPr kumimoji="1" lang="en-US" altLang="ja-JP" sz="1600" dirty="0">
                      <a:solidFill>
                        <a:srgbClr val="FF0000"/>
                      </a:solidFill>
                      <a:latin typeface="Hiragino Kaku Gothic Pro W3" panose="020B0300000000000000" pitchFamily="34" charset="-128"/>
                      <a:ea typeface="Hiragino Kaku Gothic Pro W3" panose="020B0300000000000000" pitchFamily="34" charset="-128"/>
                    </a:rPr>
                    <a:t>Lunar Age= 6~8, 15~21</a:t>
                  </a:r>
                  <a:r>
                    <a:rPr kumimoji="1" lang="ja-JP" altLang="en-US" sz="1600">
                      <a:solidFill>
                        <a:srgbClr val="FF0000"/>
                      </a:solidFill>
                      <a:latin typeface="Hiragino Kaku Gothic Pro W3" panose="020B0300000000000000" pitchFamily="34" charset="-128"/>
                      <a:ea typeface="Hiragino Kaku Gothic Pro W3" panose="020B0300000000000000" pitchFamily="34" charset="-128"/>
                    </a:rPr>
                    <a:t>で卓越</a:t>
                  </a:r>
                </a:p>
              </p:txBody>
            </p:sp>
            <p:grpSp>
              <p:nvGrpSpPr>
                <p:cNvPr id="26" name="グループ化 25">
                  <a:extLst>
                    <a:ext uri="{FF2B5EF4-FFF2-40B4-BE49-F238E27FC236}">
                      <a16:creationId xmlns:a16="http://schemas.microsoft.com/office/drawing/2014/main" id="{6AEC410A-7C0D-0A10-E34C-4BE79D854ED4}"/>
                    </a:ext>
                  </a:extLst>
                </p:cNvPr>
                <p:cNvGrpSpPr/>
                <p:nvPr/>
              </p:nvGrpSpPr>
              <p:grpSpPr>
                <a:xfrm>
                  <a:off x="6071971" y="2695861"/>
                  <a:ext cx="3920984" cy="2453597"/>
                  <a:chOff x="5443457" y="2320787"/>
                  <a:chExt cx="3920984" cy="2453597"/>
                </a:xfrm>
              </p:grpSpPr>
              <p:pic>
                <p:nvPicPr>
                  <p:cNvPr id="8" name="図 7">
                    <a:extLst>
                      <a:ext uri="{FF2B5EF4-FFF2-40B4-BE49-F238E27FC236}">
                        <a16:creationId xmlns:a16="http://schemas.microsoft.com/office/drawing/2014/main" id="{50E367C9-CEE3-C78D-E16C-B847DB698225}"/>
                      </a:ext>
                    </a:extLst>
                  </p:cNvPr>
                  <p:cNvPicPr>
                    <a:picLocks noChangeAspect="1"/>
                  </p:cNvPicPr>
                  <p:nvPr/>
                </p:nvPicPr>
                <p:blipFill>
                  <a:blip r:embed="rId5"/>
                  <a:stretch>
                    <a:fillRect/>
                  </a:stretch>
                </p:blipFill>
                <p:spPr>
                  <a:xfrm>
                    <a:off x="5443457" y="2391920"/>
                    <a:ext cx="3920984" cy="2352590"/>
                  </a:xfrm>
                  <a:prstGeom prst="rect">
                    <a:avLst/>
                  </a:prstGeom>
                </p:spPr>
              </p:pic>
              <p:sp>
                <p:nvSpPr>
                  <p:cNvPr id="17" name="円/楕円 16">
                    <a:extLst>
                      <a:ext uri="{FF2B5EF4-FFF2-40B4-BE49-F238E27FC236}">
                        <a16:creationId xmlns:a16="http://schemas.microsoft.com/office/drawing/2014/main" id="{61F806F0-68FC-B365-ABE9-B1902B8B7E1E}"/>
                      </a:ext>
                    </a:extLst>
                  </p:cNvPr>
                  <p:cNvSpPr/>
                  <p:nvPr/>
                </p:nvSpPr>
                <p:spPr>
                  <a:xfrm rot="60000">
                    <a:off x="6344467" y="2529312"/>
                    <a:ext cx="878895" cy="2072577"/>
                  </a:xfrm>
                  <a:prstGeom prst="ellipse">
                    <a:avLst/>
                  </a:prstGeom>
                  <a:noFill/>
                  <a:ln w="31750">
                    <a:solidFill>
                      <a:srgbClr val="FF0000">
                        <a:alpha val="57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a:extLst>
                      <a:ext uri="{FF2B5EF4-FFF2-40B4-BE49-F238E27FC236}">
                        <a16:creationId xmlns:a16="http://schemas.microsoft.com/office/drawing/2014/main" id="{62FF227F-5615-29D1-8C76-D418E5796706}"/>
                      </a:ext>
                    </a:extLst>
                  </p:cNvPr>
                  <p:cNvSpPr/>
                  <p:nvPr/>
                </p:nvSpPr>
                <p:spPr>
                  <a:xfrm rot="60000">
                    <a:off x="8216488" y="2320787"/>
                    <a:ext cx="558444" cy="2453597"/>
                  </a:xfrm>
                  <a:prstGeom prst="ellipse">
                    <a:avLst/>
                  </a:prstGeom>
                  <a:noFill/>
                  <a:ln w="31750">
                    <a:solidFill>
                      <a:srgbClr val="FF0000">
                        <a:alpha val="57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矢印コネクタ 20">
                    <a:extLst>
                      <a:ext uri="{FF2B5EF4-FFF2-40B4-BE49-F238E27FC236}">
                        <a16:creationId xmlns:a16="http://schemas.microsoft.com/office/drawing/2014/main" id="{88AF3AF5-F4BB-568E-AF3C-A371C75E39B7}"/>
                      </a:ext>
                    </a:extLst>
                  </p:cNvPr>
                  <p:cNvCxnSpPr>
                    <a:cxnSpLocks/>
                  </p:cNvCxnSpPr>
                  <p:nvPr/>
                </p:nvCxnSpPr>
                <p:spPr>
                  <a:xfrm>
                    <a:off x="8183880" y="4127446"/>
                    <a:ext cx="558607" cy="10623"/>
                  </a:xfrm>
                  <a:prstGeom prst="straightConnector1">
                    <a:avLst/>
                  </a:prstGeom>
                  <a:ln w="6032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40" name="直線矢印コネクタ 39">
                  <a:extLst>
                    <a:ext uri="{FF2B5EF4-FFF2-40B4-BE49-F238E27FC236}">
                      <a16:creationId xmlns:a16="http://schemas.microsoft.com/office/drawing/2014/main" id="{C7F5F1AE-F0E4-96E7-E936-F9D264CBCE54}"/>
                    </a:ext>
                  </a:extLst>
                </p:cNvPr>
                <p:cNvCxnSpPr>
                  <a:cxnSpLocks/>
                </p:cNvCxnSpPr>
                <p:nvPr/>
              </p:nvCxnSpPr>
              <p:spPr>
                <a:xfrm>
                  <a:off x="7167931" y="4522081"/>
                  <a:ext cx="558607" cy="10623"/>
                </a:xfrm>
                <a:prstGeom prst="straightConnector1">
                  <a:avLst/>
                </a:prstGeom>
                <a:ln w="6032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7" name="正方形/長方形 6">
                <a:extLst>
                  <a:ext uri="{FF2B5EF4-FFF2-40B4-BE49-F238E27FC236}">
                    <a16:creationId xmlns:a16="http://schemas.microsoft.com/office/drawing/2014/main" id="{8CBF6C56-4EE1-86F8-A270-5C2CC0FB512D}"/>
                  </a:ext>
                </a:extLst>
              </p:cNvPr>
              <p:cNvSpPr/>
              <p:nvPr/>
            </p:nvSpPr>
            <p:spPr>
              <a:xfrm>
                <a:off x="7922255" y="5230494"/>
                <a:ext cx="634118" cy="86009"/>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grpSp>
      </p:grpSp>
      <p:sp>
        <p:nvSpPr>
          <p:cNvPr id="16" name="テキスト ボックス 15">
            <a:extLst>
              <a:ext uri="{FF2B5EF4-FFF2-40B4-BE49-F238E27FC236}">
                <a16:creationId xmlns:a16="http://schemas.microsoft.com/office/drawing/2014/main" id="{2E7FAF0A-2854-CD8C-5F1C-194B8DB815F5}"/>
              </a:ext>
            </a:extLst>
          </p:cNvPr>
          <p:cNvSpPr txBox="1"/>
          <p:nvPr/>
        </p:nvSpPr>
        <p:spPr>
          <a:xfrm>
            <a:off x="134370" y="5720196"/>
            <a:ext cx="5415280" cy="1015663"/>
          </a:xfrm>
          <a:prstGeom prst="rect">
            <a:avLst/>
          </a:prstGeom>
          <a:noFill/>
        </p:spPr>
        <p:txBody>
          <a:bodyPr wrap="square" rtlCol="0">
            <a:spAutoFit/>
          </a:bodyPr>
          <a:lstStyle/>
          <a:p>
            <a:r>
              <a:rPr lang="en-US" altLang="ja-JP" sz="2000" dirty="0">
                <a:solidFill>
                  <a:srgbClr val="FF0000"/>
                </a:solidFill>
              </a:rPr>
              <a:t>J-solstice</a:t>
            </a:r>
            <a:r>
              <a:rPr lang="ja-JP" altLang="en-US" sz="2000">
                <a:solidFill>
                  <a:srgbClr val="FF0000"/>
                </a:solidFill>
              </a:rPr>
              <a:t>で卓越した要因</a:t>
            </a:r>
            <a:r>
              <a:rPr lang="en-US" altLang="ja-JP" sz="2000" dirty="0">
                <a:solidFill>
                  <a:srgbClr val="FF0000"/>
                </a:solidFill>
              </a:rPr>
              <a:t>:</a:t>
            </a:r>
            <a:endParaRPr kumimoji="1" lang="en-US" altLang="ja-JP" sz="2000" dirty="0">
              <a:solidFill>
                <a:srgbClr val="FF0000"/>
              </a:solidFill>
            </a:endParaRPr>
          </a:p>
          <a:p>
            <a:r>
              <a:rPr lang="en-US" altLang="ja-JP" sz="2000" dirty="0"/>
              <a:t>→J-solstice</a:t>
            </a:r>
            <a:r>
              <a:rPr lang="ja-JP" altLang="en-US" sz="2000"/>
              <a:t>において</a:t>
            </a:r>
            <a:r>
              <a:rPr lang="en-US" altLang="ja-JP" sz="2000" dirty="0"/>
              <a:t>Sq</a:t>
            </a:r>
            <a:r>
              <a:rPr lang="ja-JP" altLang="en-US" sz="2000"/>
              <a:t>電流が弱く、</a:t>
            </a:r>
            <a:r>
              <a:rPr lang="en-US" altLang="ja-JP" sz="2000" dirty="0"/>
              <a:t>dip</a:t>
            </a:r>
            <a:r>
              <a:rPr lang="ja-JP" altLang="en-US" sz="2000"/>
              <a:t>観測点の</a:t>
            </a:r>
            <a:r>
              <a:rPr lang="en-US" altLang="ja-JP" sz="2000" dirty="0"/>
              <a:t>EUEL</a:t>
            </a:r>
            <a:r>
              <a:rPr lang="ja-JP" altLang="en-US" sz="2000"/>
              <a:t>が発達しなかった</a:t>
            </a:r>
            <a:endParaRPr kumimoji="1" lang="ja-JP" altLang="en-US" sz="2000"/>
          </a:p>
        </p:txBody>
      </p:sp>
      <p:sp>
        <p:nvSpPr>
          <p:cNvPr id="23" name="テキスト ボックス 22">
            <a:extLst>
              <a:ext uri="{FF2B5EF4-FFF2-40B4-BE49-F238E27FC236}">
                <a16:creationId xmlns:a16="http://schemas.microsoft.com/office/drawing/2014/main" id="{8ADE68FC-07CF-C90C-3B1C-BC63050664B2}"/>
              </a:ext>
            </a:extLst>
          </p:cNvPr>
          <p:cNvSpPr txBox="1"/>
          <p:nvPr/>
        </p:nvSpPr>
        <p:spPr>
          <a:xfrm>
            <a:off x="5658953" y="5729843"/>
            <a:ext cx="5633887" cy="1015663"/>
          </a:xfrm>
          <a:prstGeom prst="rect">
            <a:avLst/>
          </a:prstGeom>
          <a:noFill/>
        </p:spPr>
        <p:txBody>
          <a:bodyPr wrap="square" rtlCol="0">
            <a:spAutoFit/>
          </a:bodyPr>
          <a:lstStyle/>
          <a:p>
            <a:r>
              <a:rPr lang="en-US" altLang="ja-JP" sz="2000" dirty="0">
                <a:solidFill>
                  <a:srgbClr val="FF0000"/>
                </a:solidFill>
              </a:rPr>
              <a:t>Lunar Age=6~8,15~21</a:t>
            </a:r>
            <a:r>
              <a:rPr lang="ja-JP" altLang="en-US" sz="2000">
                <a:solidFill>
                  <a:srgbClr val="FF0000"/>
                </a:solidFill>
              </a:rPr>
              <a:t>で卓越した要因</a:t>
            </a:r>
            <a:r>
              <a:rPr lang="en-US" altLang="ja-JP" sz="2000" dirty="0">
                <a:solidFill>
                  <a:srgbClr val="FF0000"/>
                </a:solidFill>
              </a:rPr>
              <a:t>:</a:t>
            </a:r>
            <a:endParaRPr kumimoji="1" lang="en-US" altLang="ja-JP" sz="2000" dirty="0">
              <a:solidFill>
                <a:srgbClr val="FF0000"/>
              </a:solidFill>
            </a:endParaRPr>
          </a:p>
          <a:p>
            <a:r>
              <a:rPr lang="en-US" altLang="ja-JP" sz="2000" dirty="0"/>
              <a:t>→</a:t>
            </a:r>
            <a:r>
              <a:rPr lang="ja-JP" altLang="en-US" sz="2000"/>
              <a:t>潮汐効果により</a:t>
            </a:r>
            <a:r>
              <a:rPr lang="en-US" altLang="ja-JP" sz="2000" dirty="0"/>
              <a:t>dip</a:t>
            </a:r>
            <a:r>
              <a:rPr lang="ja-JP" altLang="en-US" sz="2000"/>
              <a:t>観測点の</a:t>
            </a:r>
            <a:r>
              <a:rPr lang="en-US" altLang="ja-JP" sz="2000" dirty="0"/>
              <a:t>EUEL</a:t>
            </a:r>
            <a:r>
              <a:rPr lang="ja-JP" altLang="en-US" sz="2000"/>
              <a:t>を押し下げられた</a:t>
            </a:r>
            <a:endParaRPr kumimoji="1" lang="ja-JP" altLang="en-US" sz="2000"/>
          </a:p>
        </p:txBody>
      </p:sp>
    </p:spTree>
    <p:extLst>
      <p:ext uri="{BB962C8B-B14F-4D97-AF65-F5344CB8AC3E}">
        <p14:creationId xmlns:p14="http://schemas.microsoft.com/office/powerpoint/2010/main" val="404484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56064-38AA-F31C-D799-C9180BF167BF}"/>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EFED628-B52E-C2F6-70CD-07ADFB95AEF7}"/>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12</a:t>
            </a:fld>
            <a:endParaRPr kumimoji="1" lang="ja-JP" altLang="en-US"/>
          </a:p>
        </p:txBody>
      </p:sp>
      <p:sp>
        <p:nvSpPr>
          <p:cNvPr id="3" name="テキスト ボックス 2">
            <a:extLst>
              <a:ext uri="{FF2B5EF4-FFF2-40B4-BE49-F238E27FC236}">
                <a16:creationId xmlns:a16="http://schemas.microsoft.com/office/drawing/2014/main" id="{4BE5C1B6-CCB4-2CE5-4359-A49880121A87}"/>
              </a:ext>
            </a:extLst>
          </p:cNvPr>
          <p:cNvSpPr txBox="1"/>
          <p:nvPr/>
        </p:nvSpPr>
        <p:spPr>
          <a:xfrm>
            <a:off x="457200" y="368638"/>
            <a:ext cx="4685015" cy="461665"/>
          </a:xfrm>
          <a:prstGeom prst="rect">
            <a:avLst/>
          </a:prstGeom>
          <a:noFill/>
        </p:spPr>
        <p:txBody>
          <a:bodyPr wrap="square" rtlCol="0">
            <a:spAutoFit/>
          </a:bodyPr>
          <a:lstStyle/>
          <a:p>
            <a:r>
              <a:rPr lang="ja-JP" altLang="en-US" sz="2400"/>
              <a:t>自動判定の</a:t>
            </a:r>
            <a:r>
              <a:rPr kumimoji="1" lang="ja-JP" altLang="en-US" sz="2400"/>
              <a:t>結果</a:t>
            </a:r>
            <a:r>
              <a:rPr kumimoji="1" lang="en-US" altLang="ja-JP" sz="2400" dirty="0"/>
              <a:t>:</a:t>
            </a:r>
            <a:r>
              <a:rPr kumimoji="1" lang="ja-JP" altLang="en-US" sz="2400"/>
              <a:t> 突発型</a:t>
            </a:r>
            <a:endParaRPr kumimoji="1" lang="ja-JP" altLang="en-US" sz="2400" dirty="0"/>
          </a:p>
        </p:txBody>
      </p:sp>
      <p:grpSp>
        <p:nvGrpSpPr>
          <p:cNvPr id="4" name="グループ化 3">
            <a:extLst>
              <a:ext uri="{FF2B5EF4-FFF2-40B4-BE49-F238E27FC236}">
                <a16:creationId xmlns:a16="http://schemas.microsoft.com/office/drawing/2014/main" id="{91D6A3E9-7F53-CB6B-41D0-439A69767D3A}"/>
              </a:ext>
            </a:extLst>
          </p:cNvPr>
          <p:cNvGrpSpPr/>
          <p:nvPr/>
        </p:nvGrpSpPr>
        <p:grpSpPr>
          <a:xfrm>
            <a:off x="9452733" y="92078"/>
            <a:ext cx="1840106" cy="1560729"/>
            <a:chOff x="9293036" y="20806334"/>
            <a:chExt cx="3024000" cy="2564876"/>
          </a:xfrm>
        </p:grpSpPr>
        <p:pic>
          <p:nvPicPr>
            <p:cNvPr id="5" name="図 4">
              <a:extLst>
                <a:ext uri="{FF2B5EF4-FFF2-40B4-BE49-F238E27FC236}">
                  <a16:creationId xmlns:a16="http://schemas.microsoft.com/office/drawing/2014/main" id="{C714D866-D729-86E7-7219-823EA0D74947}"/>
                </a:ext>
              </a:extLst>
            </p:cNvPr>
            <p:cNvPicPr>
              <a:picLocks noChangeAspect="1"/>
            </p:cNvPicPr>
            <p:nvPr/>
          </p:nvPicPr>
          <p:blipFill>
            <a:blip r:embed="rId3"/>
            <a:stretch>
              <a:fillRect/>
            </a:stretch>
          </p:blipFill>
          <p:spPr>
            <a:xfrm>
              <a:off x="9293036" y="20806334"/>
              <a:ext cx="3024000" cy="2268000"/>
            </a:xfrm>
            <a:prstGeom prst="rect">
              <a:avLst/>
            </a:prstGeom>
          </p:spPr>
        </p:pic>
        <p:sp>
          <p:nvSpPr>
            <p:cNvPr id="7" name="正方形/長方形 6">
              <a:extLst>
                <a:ext uri="{FF2B5EF4-FFF2-40B4-BE49-F238E27FC236}">
                  <a16:creationId xmlns:a16="http://schemas.microsoft.com/office/drawing/2014/main" id="{FC995F79-7FA1-DB10-8D35-AFB9026D5AE8}"/>
                </a:ext>
              </a:extLst>
            </p:cNvPr>
            <p:cNvSpPr/>
            <p:nvPr/>
          </p:nvSpPr>
          <p:spPr>
            <a:xfrm>
              <a:off x="9595527" y="23003054"/>
              <a:ext cx="2574851" cy="368156"/>
            </a:xfrm>
            <a:prstGeom prst="rect">
              <a:avLst/>
            </a:prstGeom>
          </p:spPr>
          <p:txBody>
            <a:bodyPr wrap="square">
              <a:spAutoFit/>
            </a:bodyPr>
            <a:lstStyle/>
            <a:p>
              <a:r>
                <a:rPr lang="da-DK" altLang="ja-JP" sz="1100" dirty="0">
                  <a:solidFill>
                    <a:srgbClr val="000000"/>
                  </a:solidFill>
                  <a:latin typeface="Hiragino Kaku Gothic Pro W3" panose="020B0300000000000000" pitchFamily="34" charset="-128"/>
                  <a:ea typeface="Hiragino Kaku Gothic Pro W3" panose="020B0300000000000000" pitchFamily="34" charset="-128"/>
                </a:rPr>
                <a:t>Fig4. </a:t>
              </a:r>
              <a:r>
                <a:rPr lang="ja-JP" altLang="en-US" sz="1100">
                  <a:solidFill>
                    <a:srgbClr val="000000"/>
                  </a:solidFill>
                  <a:latin typeface="Hiragino Kaku Gothic Pro W3" panose="020B0300000000000000" pitchFamily="34" charset="-128"/>
                  <a:ea typeface="Hiragino Kaku Gothic Pro W3" panose="020B0300000000000000" pitchFamily="34" charset="-128"/>
                </a:rPr>
                <a:t>突発型</a:t>
              </a:r>
              <a:endParaRPr lang="ja-JP" altLang="en-US" sz="1100" dirty="0">
                <a:latin typeface="Hiragino Kaku Gothic Pro W3" panose="020B0300000000000000" pitchFamily="34" charset="-128"/>
                <a:ea typeface="Hiragino Kaku Gothic Pro W3" panose="020B0300000000000000" pitchFamily="34" charset="-128"/>
              </a:endParaRPr>
            </a:p>
          </p:txBody>
        </p:sp>
      </p:grpSp>
      <p:grpSp>
        <p:nvGrpSpPr>
          <p:cNvPr id="11" name="グループ化 10">
            <a:extLst>
              <a:ext uri="{FF2B5EF4-FFF2-40B4-BE49-F238E27FC236}">
                <a16:creationId xmlns:a16="http://schemas.microsoft.com/office/drawing/2014/main" id="{9273418E-CB33-8A7C-0B29-3415EC5AEA5A}"/>
              </a:ext>
            </a:extLst>
          </p:cNvPr>
          <p:cNvGrpSpPr/>
          <p:nvPr/>
        </p:nvGrpSpPr>
        <p:grpSpPr>
          <a:xfrm>
            <a:off x="140912" y="1237488"/>
            <a:ext cx="5402906" cy="3635182"/>
            <a:chOff x="573557" y="2798453"/>
            <a:chExt cx="4584253" cy="3084376"/>
          </a:xfrm>
        </p:grpSpPr>
        <p:pic>
          <p:nvPicPr>
            <p:cNvPr id="9" name="図 8">
              <a:extLst>
                <a:ext uri="{FF2B5EF4-FFF2-40B4-BE49-F238E27FC236}">
                  <a16:creationId xmlns:a16="http://schemas.microsoft.com/office/drawing/2014/main" id="{4A527B7F-07CC-387D-AB57-83378E0AB948}"/>
                </a:ext>
              </a:extLst>
            </p:cNvPr>
            <p:cNvPicPr>
              <a:picLocks noChangeAspect="1"/>
            </p:cNvPicPr>
            <p:nvPr/>
          </p:nvPicPr>
          <p:blipFill>
            <a:blip r:embed="rId4"/>
            <a:stretch>
              <a:fillRect/>
            </a:stretch>
          </p:blipFill>
          <p:spPr>
            <a:xfrm>
              <a:off x="573557" y="3132278"/>
              <a:ext cx="4584253" cy="2750551"/>
            </a:xfrm>
            <a:prstGeom prst="rect">
              <a:avLst/>
            </a:prstGeom>
          </p:spPr>
        </p:pic>
        <p:sp>
          <p:nvSpPr>
            <p:cNvPr id="31" name="テキスト ボックス 30">
              <a:extLst>
                <a:ext uri="{FF2B5EF4-FFF2-40B4-BE49-F238E27FC236}">
                  <a16:creationId xmlns:a16="http://schemas.microsoft.com/office/drawing/2014/main" id="{39C4941F-541D-5469-32C3-8D23FB171DC6}"/>
                </a:ext>
              </a:extLst>
            </p:cNvPr>
            <p:cNvSpPr txBox="1"/>
            <p:nvPr/>
          </p:nvSpPr>
          <p:spPr>
            <a:xfrm>
              <a:off x="940363" y="2798453"/>
              <a:ext cx="3487436" cy="400110"/>
            </a:xfrm>
            <a:prstGeom prst="rect">
              <a:avLst/>
            </a:prstGeom>
            <a:noFill/>
          </p:spPr>
          <p:txBody>
            <a:bodyPr wrap="square">
              <a:spAutoFit/>
            </a:bodyPr>
            <a:lstStyle/>
            <a:p>
              <a:r>
                <a:rPr lang="ja-JP" altLang="en-US" sz="2000">
                  <a:latin typeface="Hiragino Kaku Gothic Pro W3" panose="020B0300000000000000" pitchFamily="34" charset="-128"/>
                  <a:ea typeface="Hiragino Kaku Gothic Pro W3" panose="020B0300000000000000" pitchFamily="34" charset="-128"/>
                </a:rPr>
                <a:t>月ごとの突発型の発生率</a:t>
              </a:r>
              <a:endParaRPr lang="ja-JP" altLang="en-US" sz="2000"/>
            </a:p>
          </p:txBody>
        </p:sp>
      </p:grpSp>
      <p:grpSp>
        <p:nvGrpSpPr>
          <p:cNvPr id="12" name="グループ化 11">
            <a:extLst>
              <a:ext uri="{FF2B5EF4-FFF2-40B4-BE49-F238E27FC236}">
                <a16:creationId xmlns:a16="http://schemas.microsoft.com/office/drawing/2014/main" id="{22D432EB-E580-A32C-D843-0FCB944947A3}"/>
              </a:ext>
            </a:extLst>
          </p:cNvPr>
          <p:cNvGrpSpPr/>
          <p:nvPr/>
        </p:nvGrpSpPr>
        <p:grpSpPr>
          <a:xfrm>
            <a:off x="5400337" y="1119075"/>
            <a:ext cx="6009345" cy="3842275"/>
            <a:chOff x="5538426" y="2489652"/>
            <a:chExt cx="5425021" cy="3468668"/>
          </a:xfrm>
        </p:grpSpPr>
        <p:grpSp>
          <p:nvGrpSpPr>
            <p:cNvPr id="10" name="グループ化 9">
              <a:extLst>
                <a:ext uri="{FF2B5EF4-FFF2-40B4-BE49-F238E27FC236}">
                  <a16:creationId xmlns:a16="http://schemas.microsoft.com/office/drawing/2014/main" id="{8AD4F0E5-5499-8DC1-DB10-68A87EB3C87A}"/>
                </a:ext>
              </a:extLst>
            </p:cNvPr>
            <p:cNvGrpSpPr/>
            <p:nvPr/>
          </p:nvGrpSpPr>
          <p:grpSpPr>
            <a:xfrm>
              <a:off x="5538426" y="2913019"/>
              <a:ext cx="5425021" cy="3045301"/>
              <a:chOff x="19793923" y="27227463"/>
              <a:chExt cx="6247994" cy="3507272"/>
            </a:xfrm>
          </p:grpSpPr>
          <p:pic>
            <p:nvPicPr>
              <p:cNvPr id="16" name="図 15">
                <a:extLst>
                  <a:ext uri="{FF2B5EF4-FFF2-40B4-BE49-F238E27FC236}">
                    <a16:creationId xmlns:a16="http://schemas.microsoft.com/office/drawing/2014/main" id="{17200203-EA3C-96EE-151B-BFE8778CC095}"/>
                  </a:ext>
                </a:extLst>
              </p:cNvPr>
              <p:cNvPicPr>
                <a:picLocks noChangeAspect="1"/>
              </p:cNvPicPr>
              <p:nvPr/>
            </p:nvPicPr>
            <p:blipFill>
              <a:blip r:embed="rId5"/>
              <a:stretch>
                <a:fillRect/>
              </a:stretch>
            </p:blipFill>
            <p:spPr>
              <a:xfrm>
                <a:off x="19793923" y="27239713"/>
                <a:ext cx="5825038" cy="3495022"/>
              </a:xfrm>
              <a:prstGeom prst="rect">
                <a:avLst/>
              </a:prstGeom>
            </p:spPr>
          </p:pic>
          <p:sp>
            <p:nvSpPr>
              <p:cNvPr id="23" name="テキスト ボックス 22">
                <a:extLst>
                  <a:ext uri="{FF2B5EF4-FFF2-40B4-BE49-F238E27FC236}">
                    <a16:creationId xmlns:a16="http://schemas.microsoft.com/office/drawing/2014/main" id="{9C1705D9-772B-98A2-2E47-BB63F7C50244}"/>
                  </a:ext>
                </a:extLst>
              </p:cNvPr>
              <p:cNvSpPr txBox="1"/>
              <p:nvPr/>
            </p:nvSpPr>
            <p:spPr>
              <a:xfrm>
                <a:off x="22600370" y="27807650"/>
                <a:ext cx="3441547" cy="416000"/>
              </a:xfrm>
              <a:prstGeom prst="rect">
                <a:avLst/>
              </a:prstGeom>
              <a:noFill/>
            </p:spPr>
            <p:txBody>
              <a:bodyPr wrap="square" rtlCol="0">
                <a:spAutoFit/>
              </a:bodyPr>
              <a:lstStyle/>
              <a:p>
                <a:r>
                  <a:rPr kumimoji="1" lang="en-US" altLang="ja-JP" sz="2000" dirty="0">
                    <a:solidFill>
                      <a:srgbClr val="FF0000"/>
                    </a:solidFill>
                    <a:latin typeface="Hiragino Kaku Gothic Pro W3" panose="020B0300000000000000" pitchFamily="34" charset="-128"/>
                    <a:ea typeface="Hiragino Kaku Gothic Pro W3" panose="020B0300000000000000" pitchFamily="34" charset="-128"/>
                  </a:rPr>
                  <a:t>Lunar Age= 6~10</a:t>
                </a:r>
                <a:r>
                  <a:rPr kumimoji="1" lang="ja-JP" altLang="en-US" sz="2000">
                    <a:solidFill>
                      <a:srgbClr val="FF0000"/>
                    </a:solidFill>
                    <a:latin typeface="Hiragino Kaku Gothic Pro W3" panose="020B0300000000000000" pitchFamily="34" charset="-128"/>
                    <a:ea typeface="Hiragino Kaku Gothic Pro W3" panose="020B0300000000000000" pitchFamily="34" charset="-128"/>
                  </a:rPr>
                  <a:t>で卓越</a:t>
                </a:r>
              </a:p>
            </p:txBody>
          </p:sp>
          <p:sp>
            <p:nvSpPr>
              <p:cNvPr id="24" name="円/楕円 23">
                <a:extLst>
                  <a:ext uri="{FF2B5EF4-FFF2-40B4-BE49-F238E27FC236}">
                    <a16:creationId xmlns:a16="http://schemas.microsoft.com/office/drawing/2014/main" id="{FBB64BFF-9E8A-E831-ACA8-2AD72465FA8B}"/>
                  </a:ext>
                </a:extLst>
              </p:cNvPr>
              <p:cNvSpPr/>
              <p:nvPr/>
            </p:nvSpPr>
            <p:spPr>
              <a:xfrm rot="60000">
                <a:off x="21429664" y="27227463"/>
                <a:ext cx="1274445" cy="3311992"/>
              </a:xfrm>
              <a:prstGeom prst="ellipse">
                <a:avLst/>
              </a:prstGeom>
              <a:noFill/>
              <a:ln w="31750">
                <a:solidFill>
                  <a:srgbClr val="FF0000">
                    <a:alpha val="57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矢印コネクタ 24">
                <a:extLst>
                  <a:ext uri="{FF2B5EF4-FFF2-40B4-BE49-F238E27FC236}">
                    <a16:creationId xmlns:a16="http://schemas.microsoft.com/office/drawing/2014/main" id="{DE705A07-675D-11BB-C501-CEB8E1E0B873}"/>
                  </a:ext>
                </a:extLst>
              </p:cNvPr>
              <p:cNvCxnSpPr>
                <a:cxnSpLocks/>
              </p:cNvCxnSpPr>
              <p:nvPr/>
            </p:nvCxnSpPr>
            <p:spPr>
              <a:xfrm>
                <a:off x="21664942" y="29930178"/>
                <a:ext cx="722495" cy="0"/>
              </a:xfrm>
              <a:prstGeom prst="straightConnector1">
                <a:avLst/>
              </a:prstGeom>
              <a:ln w="6032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D4912512-672B-35A1-8B81-152EC1183427}"/>
                  </a:ext>
                </a:extLst>
              </p:cNvPr>
              <p:cNvCxnSpPr>
                <a:cxnSpLocks/>
              </p:cNvCxnSpPr>
              <p:nvPr/>
            </p:nvCxnSpPr>
            <p:spPr>
              <a:xfrm>
                <a:off x="23907482" y="29941680"/>
                <a:ext cx="722495" cy="0"/>
              </a:xfrm>
              <a:prstGeom prst="straightConnector1">
                <a:avLst/>
              </a:prstGeom>
              <a:ln w="6032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2" name="テキスト ボックス 31">
              <a:extLst>
                <a:ext uri="{FF2B5EF4-FFF2-40B4-BE49-F238E27FC236}">
                  <a16:creationId xmlns:a16="http://schemas.microsoft.com/office/drawing/2014/main" id="{776F0C4C-53DD-940A-FD88-F9331C688C5D}"/>
                </a:ext>
              </a:extLst>
            </p:cNvPr>
            <p:cNvSpPr txBox="1"/>
            <p:nvPr/>
          </p:nvSpPr>
          <p:spPr>
            <a:xfrm>
              <a:off x="6177883" y="2489652"/>
              <a:ext cx="3594663" cy="400110"/>
            </a:xfrm>
            <a:prstGeom prst="rect">
              <a:avLst/>
            </a:prstGeom>
            <a:noFill/>
          </p:spPr>
          <p:txBody>
            <a:bodyPr wrap="square">
              <a:spAutoFit/>
            </a:bodyPr>
            <a:lstStyle/>
            <a:p>
              <a:r>
                <a:rPr lang="ja-JP" altLang="en-US" sz="2000">
                  <a:latin typeface="Hiragino Kaku Gothic Pro W3" panose="020B0300000000000000" pitchFamily="34" charset="-128"/>
                  <a:ea typeface="Hiragino Kaku Gothic Pro W3" panose="020B0300000000000000" pitchFamily="34" charset="-128"/>
                </a:rPr>
                <a:t>月齢ごとの突発型の発生率</a:t>
              </a:r>
              <a:endParaRPr lang="ja-JP" altLang="en-US" sz="2000"/>
            </a:p>
          </p:txBody>
        </p:sp>
      </p:grpSp>
      <p:sp>
        <p:nvSpPr>
          <p:cNvPr id="6" name="正方形/長方形 5">
            <a:extLst>
              <a:ext uri="{FF2B5EF4-FFF2-40B4-BE49-F238E27FC236}">
                <a16:creationId xmlns:a16="http://schemas.microsoft.com/office/drawing/2014/main" id="{76C8407F-F863-8D1F-FD9E-FB5E3BE6CC94}"/>
              </a:ext>
            </a:extLst>
          </p:cNvPr>
          <p:cNvSpPr/>
          <p:nvPr/>
        </p:nvSpPr>
        <p:spPr>
          <a:xfrm>
            <a:off x="939999" y="4783983"/>
            <a:ext cx="3719416" cy="338554"/>
          </a:xfrm>
          <a:prstGeom prst="rect">
            <a:avLst/>
          </a:prstGeom>
        </p:spPr>
        <p:txBody>
          <a:bodyPr wrap="square">
            <a:spAutoFit/>
          </a:bodyPr>
          <a:lstStyle/>
          <a:p>
            <a:r>
              <a:rPr lang="ja-JP" altLang="en-US" sz="1600">
                <a:solidFill>
                  <a:srgbClr val="000000"/>
                </a:solidFill>
                <a:latin typeface="Hiragino Kaku Gothic Pro W3" panose="020B0300000000000000" pitchFamily="34" charset="-128"/>
                <a:ea typeface="Hiragino Kaku Gothic Pro W3" panose="020B0300000000000000" pitchFamily="34" charset="-128"/>
              </a:rPr>
              <a:t>図</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15</a:t>
            </a:r>
            <a:r>
              <a:rPr lang="da-DK" altLang="ja-JP" sz="1600" dirty="0">
                <a:solidFill>
                  <a:srgbClr val="000000"/>
                </a:solidFill>
                <a:latin typeface="Hiragino Kaku Gothic Pro W3" panose="020B0300000000000000" pitchFamily="34" charset="-128"/>
                <a:ea typeface="Hiragino Kaku Gothic Pro W3" panose="020B0300000000000000" pitchFamily="34" charset="-128"/>
              </a:rPr>
              <a:t>.</a:t>
            </a:r>
            <a:r>
              <a:rPr lang="ja-JP" altLang="en-US" sz="1600">
                <a:solidFill>
                  <a:srgbClr val="000000"/>
                </a:solidFill>
                <a:latin typeface="Hiragino Kaku Gothic Pro W3" panose="020B0300000000000000" pitchFamily="34" charset="-128"/>
                <a:ea typeface="Hiragino Kaku Gothic Pro W3" panose="020B0300000000000000" pitchFamily="34" charset="-128"/>
              </a:rPr>
              <a:t> 月ごとの突発型</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EEJ</a:t>
            </a:r>
            <a:r>
              <a:rPr lang="ja-JP" altLang="en-US" sz="1600">
                <a:solidFill>
                  <a:srgbClr val="000000"/>
                </a:solidFill>
                <a:latin typeface="Hiragino Kaku Gothic Pro W3" panose="020B0300000000000000" pitchFamily="34" charset="-128"/>
                <a:ea typeface="Hiragino Kaku Gothic Pro W3" panose="020B0300000000000000" pitchFamily="34" charset="-128"/>
              </a:rPr>
              <a:t>の発生割合</a:t>
            </a:r>
            <a:endParaRPr lang="ja-JP" altLang="en-US" sz="1600" dirty="0">
              <a:latin typeface="Hiragino Kaku Gothic Pro W3" panose="020B0300000000000000" pitchFamily="34" charset="-128"/>
              <a:ea typeface="Hiragino Kaku Gothic Pro W3" panose="020B0300000000000000" pitchFamily="34" charset="-128"/>
            </a:endParaRPr>
          </a:p>
        </p:txBody>
      </p:sp>
      <p:sp>
        <p:nvSpPr>
          <p:cNvPr id="8" name="正方形/長方形 7">
            <a:extLst>
              <a:ext uri="{FF2B5EF4-FFF2-40B4-BE49-F238E27FC236}">
                <a16:creationId xmlns:a16="http://schemas.microsoft.com/office/drawing/2014/main" id="{1AA18217-AB5E-9C4D-B354-1CD945781626}"/>
              </a:ext>
            </a:extLst>
          </p:cNvPr>
          <p:cNvSpPr/>
          <p:nvPr/>
        </p:nvSpPr>
        <p:spPr>
          <a:xfrm>
            <a:off x="6456115" y="4814309"/>
            <a:ext cx="3812758" cy="338554"/>
          </a:xfrm>
          <a:prstGeom prst="rect">
            <a:avLst/>
          </a:prstGeom>
        </p:spPr>
        <p:txBody>
          <a:bodyPr wrap="square">
            <a:spAutoFit/>
          </a:bodyPr>
          <a:lstStyle/>
          <a:p>
            <a:r>
              <a:rPr lang="ja-JP" altLang="en-US" sz="1600">
                <a:solidFill>
                  <a:srgbClr val="000000"/>
                </a:solidFill>
                <a:latin typeface="Hiragino Kaku Gothic Pro W3" panose="020B0300000000000000" pitchFamily="34" charset="-128"/>
                <a:ea typeface="Hiragino Kaku Gothic Pro W3" panose="020B0300000000000000" pitchFamily="34" charset="-128"/>
              </a:rPr>
              <a:t>図</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16</a:t>
            </a:r>
            <a:r>
              <a:rPr lang="da-DK" altLang="ja-JP" sz="1600" dirty="0">
                <a:solidFill>
                  <a:srgbClr val="000000"/>
                </a:solidFill>
                <a:latin typeface="Hiragino Kaku Gothic Pro W3" panose="020B0300000000000000" pitchFamily="34" charset="-128"/>
                <a:ea typeface="Hiragino Kaku Gothic Pro W3" panose="020B0300000000000000" pitchFamily="34" charset="-128"/>
              </a:rPr>
              <a:t>.</a:t>
            </a:r>
            <a:r>
              <a:rPr lang="ja-JP" altLang="en-US" sz="1600">
                <a:solidFill>
                  <a:srgbClr val="000000"/>
                </a:solidFill>
                <a:latin typeface="Hiragino Kaku Gothic Pro W3" panose="020B0300000000000000" pitchFamily="34" charset="-128"/>
                <a:ea typeface="Hiragino Kaku Gothic Pro W3" panose="020B0300000000000000" pitchFamily="34" charset="-128"/>
              </a:rPr>
              <a:t> 月齢ごとの突発型</a:t>
            </a:r>
            <a:r>
              <a:rPr lang="en-US" altLang="ja-JP" sz="1600" dirty="0">
                <a:solidFill>
                  <a:srgbClr val="000000"/>
                </a:solidFill>
                <a:latin typeface="Hiragino Kaku Gothic Pro W3" panose="020B0300000000000000" pitchFamily="34" charset="-128"/>
                <a:ea typeface="Hiragino Kaku Gothic Pro W3" panose="020B0300000000000000" pitchFamily="34" charset="-128"/>
              </a:rPr>
              <a:t>EEJ</a:t>
            </a:r>
            <a:r>
              <a:rPr lang="ja-JP" altLang="en-US" sz="1600">
                <a:solidFill>
                  <a:srgbClr val="000000"/>
                </a:solidFill>
                <a:latin typeface="Hiragino Kaku Gothic Pro W3" panose="020B0300000000000000" pitchFamily="34" charset="-128"/>
                <a:ea typeface="Hiragino Kaku Gothic Pro W3" panose="020B0300000000000000" pitchFamily="34" charset="-128"/>
              </a:rPr>
              <a:t>の発生割合</a:t>
            </a:r>
            <a:endParaRPr lang="ja-JP" altLang="en-US" sz="1600" dirty="0">
              <a:latin typeface="Hiragino Kaku Gothic Pro W3" panose="020B0300000000000000" pitchFamily="34" charset="-128"/>
              <a:ea typeface="Hiragino Kaku Gothic Pro W3" panose="020B0300000000000000" pitchFamily="34" charset="-128"/>
            </a:endParaRPr>
          </a:p>
        </p:txBody>
      </p:sp>
      <p:sp>
        <p:nvSpPr>
          <p:cNvPr id="13" name="テキスト ボックス 12">
            <a:extLst>
              <a:ext uri="{FF2B5EF4-FFF2-40B4-BE49-F238E27FC236}">
                <a16:creationId xmlns:a16="http://schemas.microsoft.com/office/drawing/2014/main" id="{789DC062-1674-02F9-FF6A-59FC957EB79F}"/>
              </a:ext>
            </a:extLst>
          </p:cNvPr>
          <p:cNvSpPr txBox="1"/>
          <p:nvPr/>
        </p:nvSpPr>
        <p:spPr>
          <a:xfrm>
            <a:off x="286770" y="5354789"/>
            <a:ext cx="5415280" cy="1015663"/>
          </a:xfrm>
          <a:prstGeom prst="rect">
            <a:avLst/>
          </a:prstGeom>
          <a:noFill/>
        </p:spPr>
        <p:txBody>
          <a:bodyPr wrap="square" rtlCol="0">
            <a:spAutoFit/>
          </a:bodyPr>
          <a:lstStyle/>
          <a:p>
            <a:r>
              <a:rPr lang="ja-JP" altLang="en-US" sz="2000">
                <a:solidFill>
                  <a:srgbClr val="FF0000"/>
                </a:solidFill>
              </a:rPr>
              <a:t>卓越しなかった要因</a:t>
            </a:r>
            <a:r>
              <a:rPr lang="en-US" altLang="ja-JP" sz="2000" dirty="0">
                <a:solidFill>
                  <a:srgbClr val="FF0000"/>
                </a:solidFill>
              </a:rPr>
              <a:t>:</a:t>
            </a:r>
            <a:endParaRPr kumimoji="1" lang="en-US" altLang="ja-JP" sz="2000" dirty="0">
              <a:solidFill>
                <a:srgbClr val="FF0000"/>
              </a:solidFill>
            </a:endParaRPr>
          </a:p>
          <a:p>
            <a:r>
              <a:rPr lang="en-US" altLang="ja-JP" sz="2000" dirty="0"/>
              <a:t>→ Sq</a:t>
            </a:r>
            <a:r>
              <a:rPr lang="ja-JP" altLang="en-US" sz="2000"/>
              <a:t>電流の強弱が</a:t>
            </a:r>
            <a:r>
              <a:rPr lang="en-US" altLang="ja-JP" sz="2000" dirty="0" err="1"/>
              <a:t>dipEUEL</a:t>
            </a:r>
            <a:r>
              <a:rPr lang="en-US" altLang="ja-JP" sz="2000" dirty="0"/>
              <a:t> &lt; </a:t>
            </a:r>
            <a:r>
              <a:rPr lang="en-US" altLang="ja-JP" sz="2000" dirty="0" err="1"/>
              <a:t>offdip</a:t>
            </a:r>
            <a:r>
              <a:rPr lang="ja-JP" altLang="en-US" sz="2000"/>
              <a:t> </a:t>
            </a:r>
            <a:r>
              <a:rPr lang="en-US" altLang="ja-JP" sz="2000" dirty="0"/>
              <a:t>EUEL</a:t>
            </a:r>
            <a:r>
              <a:rPr lang="ja-JP" altLang="en-US" sz="2000"/>
              <a:t>となるほど効果がない</a:t>
            </a:r>
            <a:endParaRPr kumimoji="1" lang="ja-JP" altLang="en-US" sz="2000"/>
          </a:p>
        </p:txBody>
      </p:sp>
      <p:sp>
        <p:nvSpPr>
          <p:cNvPr id="14" name="テキスト ボックス 13">
            <a:extLst>
              <a:ext uri="{FF2B5EF4-FFF2-40B4-BE49-F238E27FC236}">
                <a16:creationId xmlns:a16="http://schemas.microsoft.com/office/drawing/2014/main" id="{A6829181-F127-6F96-819E-B5B4903182DA}"/>
              </a:ext>
            </a:extLst>
          </p:cNvPr>
          <p:cNvSpPr txBox="1"/>
          <p:nvPr/>
        </p:nvSpPr>
        <p:spPr>
          <a:xfrm>
            <a:off x="5851993" y="5354789"/>
            <a:ext cx="5633887" cy="1323439"/>
          </a:xfrm>
          <a:prstGeom prst="rect">
            <a:avLst/>
          </a:prstGeom>
          <a:noFill/>
        </p:spPr>
        <p:txBody>
          <a:bodyPr wrap="square" rtlCol="0">
            <a:spAutoFit/>
          </a:bodyPr>
          <a:lstStyle/>
          <a:p>
            <a:r>
              <a:rPr lang="en-US" altLang="ja-JP" sz="2000" dirty="0">
                <a:solidFill>
                  <a:srgbClr val="FF0000"/>
                </a:solidFill>
              </a:rPr>
              <a:t>Lunar Age=6~10</a:t>
            </a:r>
            <a:r>
              <a:rPr lang="ja-JP" altLang="en-US" sz="2000">
                <a:solidFill>
                  <a:srgbClr val="FF0000"/>
                </a:solidFill>
              </a:rPr>
              <a:t>卓越した要因</a:t>
            </a:r>
            <a:r>
              <a:rPr lang="en-US" altLang="ja-JP" sz="2000" dirty="0">
                <a:solidFill>
                  <a:srgbClr val="FF0000"/>
                </a:solidFill>
              </a:rPr>
              <a:t>:</a:t>
            </a:r>
            <a:endParaRPr kumimoji="1" lang="en-US" altLang="ja-JP" sz="2000" dirty="0">
              <a:solidFill>
                <a:srgbClr val="FF0000"/>
              </a:solidFill>
            </a:endParaRPr>
          </a:p>
          <a:p>
            <a:r>
              <a:rPr lang="en-US" altLang="ja-JP" sz="2000" dirty="0"/>
              <a:t>→</a:t>
            </a:r>
            <a:r>
              <a:rPr lang="ja-JP" altLang="en-US" sz="2000"/>
              <a:t>潮汐効果により</a:t>
            </a:r>
            <a:r>
              <a:rPr lang="en-US" altLang="ja-JP" sz="2000" dirty="0"/>
              <a:t>dip</a:t>
            </a:r>
            <a:r>
              <a:rPr lang="ja-JP" altLang="en-US" sz="2000"/>
              <a:t>観測点の</a:t>
            </a:r>
            <a:r>
              <a:rPr lang="en-US" altLang="ja-JP" sz="2000" dirty="0"/>
              <a:t>EUEL</a:t>
            </a:r>
            <a:r>
              <a:rPr lang="ja-JP" altLang="en-US" sz="2000"/>
              <a:t>を押し下げられた。</a:t>
            </a:r>
            <a:endParaRPr lang="en-US" altLang="ja-JP" sz="2000" dirty="0"/>
          </a:p>
          <a:p>
            <a:r>
              <a:rPr kumimoji="1" lang="en-US" altLang="ja-JP" sz="2000" dirty="0">
                <a:solidFill>
                  <a:srgbClr val="FF0000"/>
                </a:solidFill>
              </a:rPr>
              <a:t>18~</a:t>
            </a:r>
            <a:r>
              <a:rPr lang="en-US" altLang="ja-JP" sz="2000" dirty="0">
                <a:solidFill>
                  <a:srgbClr val="FF0000"/>
                </a:solidFill>
              </a:rPr>
              <a:t>21</a:t>
            </a:r>
            <a:r>
              <a:rPr lang="ja-JP" altLang="en-US" sz="2000"/>
              <a:t>で卓越しなかった要因は</a:t>
            </a:r>
            <a:r>
              <a:rPr lang="ja-JP" altLang="en-US" sz="2000">
                <a:solidFill>
                  <a:srgbClr val="FF0000"/>
                </a:solidFill>
              </a:rPr>
              <a:t>未解明</a:t>
            </a:r>
            <a:r>
              <a:rPr lang="ja-JP" altLang="en-US" sz="2000"/>
              <a:t>。</a:t>
            </a:r>
            <a:endParaRPr kumimoji="1" lang="en-US" altLang="ja-JP" sz="2000" dirty="0"/>
          </a:p>
        </p:txBody>
      </p:sp>
    </p:spTree>
    <p:extLst>
      <p:ext uri="{BB962C8B-B14F-4D97-AF65-F5344CB8AC3E}">
        <p14:creationId xmlns:p14="http://schemas.microsoft.com/office/powerpoint/2010/main" val="3889796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8B40C126-1AB7-D039-599E-6AE618E63AD4}"/>
              </a:ext>
            </a:extLst>
          </p:cNvPr>
          <p:cNvSpPr>
            <a:spLocks noGrp="1"/>
          </p:cNvSpPr>
          <p:nvPr>
            <p:ph type="sldNum" sz="quarter" idx="12"/>
          </p:nvPr>
        </p:nvSpPr>
        <p:spPr/>
        <p:txBody>
          <a:bodyPr>
            <a:normAutofit lnSpcReduction="10000"/>
          </a:bodyPr>
          <a:lstStyle/>
          <a:p>
            <a:fld id="{64CB874E-7757-4857-A4C4-0DB3B18B6FA4}" type="slidenum">
              <a:rPr kumimoji="1" lang="ja-JP" altLang="en-US" smtClean="0"/>
              <a:t>13</a:t>
            </a:fld>
            <a:endParaRPr kumimoji="1" lang="ja-JP" altLang="en-US"/>
          </a:p>
        </p:txBody>
      </p:sp>
      <p:sp>
        <p:nvSpPr>
          <p:cNvPr id="3" name="テキスト ボックス 2">
            <a:extLst>
              <a:ext uri="{FF2B5EF4-FFF2-40B4-BE49-F238E27FC236}">
                <a16:creationId xmlns:a16="http://schemas.microsoft.com/office/drawing/2014/main" id="{B3884F4B-9343-29C3-2801-77844693EBB5}"/>
              </a:ext>
            </a:extLst>
          </p:cNvPr>
          <p:cNvSpPr txBox="1"/>
          <p:nvPr/>
        </p:nvSpPr>
        <p:spPr>
          <a:xfrm>
            <a:off x="78064" y="342910"/>
            <a:ext cx="4201123" cy="523220"/>
          </a:xfrm>
          <a:prstGeom prst="rect">
            <a:avLst/>
          </a:prstGeom>
          <a:noFill/>
        </p:spPr>
        <p:txBody>
          <a:bodyPr wrap="square" rtlCol="0">
            <a:spAutoFit/>
          </a:bodyPr>
          <a:lstStyle/>
          <a:p>
            <a:r>
              <a:rPr kumimoji="1" lang="ja-JP" altLang="en-US" sz="2800" dirty="0"/>
              <a:t>まとめ</a:t>
            </a:r>
          </a:p>
        </p:txBody>
      </p:sp>
      <p:sp>
        <p:nvSpPr>
          <p:cNvPr id="4" name="テキスト ボックス 3">
            <a:extLst>
              <a:ext uri="{FF2B5EF4-FFF2-40B4-BE49-F238E27FC236}">
                <a16:creationId xmlns:a16="http://schemas.microsoft.com/office/drawing/2014/main" id="{0181E1EC-7104-8F23-5D85-04350E3DEF16}"/>
              </a:ext>
            </a:extLst>
          </p:cNvPr>
          <p:cNvSpPr txBox="1"/>
          <p:nvPr/>
        </p:nvSpPr>
        <p:spPr>
          <a:xfrm>
            <a:off x="615851" y="772004"/>
            <a:ext cx="9647433" cy="1045799"/>
          </a:xfrm>
          <a:prstGeom prst="rect">
            <a:avLst/>
          </a:prstGeom>
          <a:noFill/>
        </p:spPr>
        <p:txBody>
          <a:bodyPr wrap="square" rtlCol="0">
            <a:spAutoFit/>
          </a:bodyPr>
          <a:lstStyle/>
          <a:p>
            <a:pPr>
              <a:lnSpc>
                <a:spcPct val="150000"/>
              </a:lnSpc>
            </a:pPr>
            <a:r>
              <a:rPr lang="ja-JP" altLang="en-US" sz="2000" b="1"/>
              <a:t>・</a:t>
            </a:r>
            <a:r>
              <a:rPr lang="ja-JP" altLang="en-US" sz="2400" b="1"/>
              <a:t>定量的な評価に基づいて特異型</a:t>
            </a:r>
            <a:r>
              <a:rPr lang="en-US" altLang="ja-JP" sz="2400" b="1" dirty="0"/>
              <a:t>EEJ</a:t>
            </a:r>
            <a:r>
              <a:rPr lang="ja-JP" altLang="en-US" sz="2400" b="1"/>
              <a:t>を分類する機能の開発</a:t>
            </a:r>
            <a:endParaRPr lang="en-US" altLang="ja-JP" sz="2400" b="1" dirty="0"/>
          </a:p>
          <a:p>
            <a:pPr>
              <a:lnSpc>
                <a:spcPct val="150000"/>
              </a:lnSpc>
            </a:pPr>
            <a:r>
              <a:rPr lang="en-US" altLang="ja-JP" sz="2000" dirty="0"/>
              <a:t>	</a:t>
            </a:r>
            <a:r>
              <a:rPr lang="ja-JP" altLang="en-US" sz="2000"/>
              <a:t>地域・期間を柔軟に変更することが可能になった</a:t>
            </a:r>
            <a:endParaRPr lang="en-US" altLang="ja-JP" sz="2000" dirty="0"/>
          </a:p>
        </p:txBody>
      </p:sp>
      <p:sp>
        <p:nvSpPr>
          <p:cNvPr id="6" name="テキスト ボックス 5">
            <a:extLst>
              <a:ext uri="{FF2B5EF4-FFF2-40B4-BE49-F238E27FC236}">
                <a16:creationId xmlns:a16="http://schemas.microsoft.com/office/drawing/2014/main" id="{1365EC20-9C65-5AC5-791F-B10407D627B9}"/>
              </a:ext>
            </a:extLst>
          </p:cNvPr>
          <p:cNvSpPr txBox="1"/>
          <p:nvPr/>
        </p:nvSpPr>
        <p:spPr>
          <a:xfrm>
            <a:off x="443484" y="4693269"/>
            <a:ext cx="2170614" cy="523220"/>
          </a:xfrm>
          <a:prstGeom prst="rect">
            <a:avLst/>
          </a:prstGeom>
          <a:noFill/>
        </p:spPr>
        <p:txBody>
          <a:bodyPr wrap="square" rtlCol="0">
            <a:spAutoFit/>
          </a:bodyPr>
          <a:lstStyle/>
          <a:p>
            <a:r>
              <a:rPr lang="ja-JP" altLang="en-US" sz="2800"/>
              <a:t>今後の課題</a:t>
            </a:r>
            <a:endParaRPr kumimoji="1" lang="ja-JP" altLang="en-US" sz="2800" dirty="0"/>
          </a:p>
        </p:txBody>
      </p:sp>
      <p:sp>
        <p:nvSpPr>
          <p:cNvPr id="7" name="テキスト ボックス 6">
            <a:extLst>
              <a:ext uri="{FF2B5EF4-FFF2-40B4-BE49-F238E27FC236}">
                <a16:creationId xmlns:a16="http://schemas.microsoft.com/office/drawing/2014/main" id="{4A4452A7-F8C3-8080-A1AA-2466E5D38152}"/>
              </a:ext>
            </a:extLst>
          </p:cNvPr>
          <p:cNvSpPr txBox="1"/>
          <p:nvPr/>
        </p:nvSpPr>
        <p:spPr>
          <a:xfrm>
            <a:off x="615851" y="5216489"/>
            <a:ext cx="10504622" cy="1415131"/>
          </a:xfrm>
          <a:prstGeom prst="rect">
            <a:avLst/>
          </a:prstGeom>
          <a:noFill/>
        </p:spPr>
        <p:txBody>
          <a:bodyPr wrap="square" rtlCol="0">
            <a:spAutoFit/>
          </a:bodyPr>
          <a:lstStyle/>
          <a:p>
            <a:pPr>
              <a:lnSpc>
                <a:spcPct val="150000"/>
              </a:lnSpc>
            </a:pPr>
            <a:r>
              <a:rPr lang="ja-JP" altLang="en-US" sz="2000"/>
              <a:t>・</a:t>
            </a:r>
            <a:r>
              <a:rPr lang="en-US" altLang="ja-JP" sz="2000" dirty="0"/>
              <a:t> </a:t>
            </a:r>
            <a:r>
              <a:rPr lang="en-US" altLang="ja-JP" sz="2000" dirty="0" err="1"/>
              <a:t>Intermag</a:t>
            </a:r>
            <a:r>
              <a:rPr lang="ja-JP" altLang="en-US" sz="2000"/>
              <a:t>の観測点</a:t>
            </a:r>
            <a:r>
              <a:rPr lang="en-US" altLang="ja-JP" sz="2000" dirty="0"/>
              <a:t>(TTB)</a:t>
            </a:r>
            <a:r>
              <a:rPr lang="ja-JP" altLang="en-US" sz="2000"/>
              <a:t>を用いてブラジル領域のみの調査を行い、より詳細な発生特性の解明を目指す</a:t>
            </a:r>
            <a:endParaRPr lang="en-US" altLang="ja-JP" sz="2000" dirty="0"/>
          </a:p>
          <a:p>
            <a:pPr>
              <a:lnSpc>
                <a:spcPct val="150000"/>
              </a:lnSpc>
            </a:pPr>
            <a:r>
              <a:rPr kumimoji="1" lang="ja-JP" altLang="en-US" sz="2000"/>
              <a:t>・</a:t>
            </a:r>
            <a:r>
              <a:rPr lang="ja-JP" altLang="en-US" sz="2000"/>
              <a:t>東南アジア領域での特異型</a:t>
            </a:r>
            <a:r>
              <a:rPr lang="en-US" altLang="ja-JP" sz="2000" dirty="0"/>
              <a:t>EEJ</a:t>
            </a:r>
            <a:r>
              <a:rPr lang="ja-JP" altLang="en-US" sz="2000"/>
              <a:t>の発生特性の解明を目指す</a:t>
            </a:r>
            <a:endParaRPr lang="en-US" altLang="ja-JP" sz="2000" dirty="0"/>
          </a:p>
        </p:txBody>
      </p:sp>
      <p:sp>
        <p:nvSpPr>
          <p:cNvPr id="8" name="テキスト ボックス 7">
            <a:extLst>
              <a:ext uri="{FF2B5EF4-FFF2-40B4-BE49-F238E27FC236}">
                <a16:creationId xmlns:a16="http://schemas.microsoft.com/office/drawing/2014/main" id="{4F702BAF-0910-CC68-C34C-21E86D8E0E89}"/>
              </a:ext>
            </a:extLst>
          </p:cNvPr>
          <p:cNvSpPr txBox="1"/>
          <p:nvPr/>
        </p:nvSpPr>
        <p:spPr>
          <a:xfrm>
            <a:off x="816834" y="2626965"/>
            <a:ext cx="3948206" cy="1421287"/>
          </a:xfrm>
          <a:prstGeom prst="rect">
            <a:avLst/>
          </a:prstGeom>
          <a:noFill/>
        </p:spPr>
        <p:txBody>
          <a:bodyPr wrap="square">
            <a:spAutoFit/>
          </a:bodyPr>
          <a:lstStyle/>
          <a:p>
            <a:pPr>
              <a:lnSpc>
                <a:spcPct val="150000"/>
              </a:lnSpc>
            </a:pPr>
            <a:r>
              <a:rPr lang="ja-JP" altLang="en-US" sz="2400"/>
              <a:t>未発達型</a:t>
            </a:r>
            <a:r>
              <a:rPr lang="en-US" altLang="ja-JP" sz="2400" dirty="0"/>
              <a:t>:</a:t>
            </a:r>
            <a:r>
              <a:rPr lang="ja-JP" altLang="en-US" sz="2400"/>
              <a:t> </a:t>
            </a:r>
            <a:endParaRPr lang="en-US" altLang="ja-JP" sz="2400" dirty="0"/>
          </a:p>
          <a:p>
            <a:pPr>
              <a:lnSpc>
                <a:spcPct val="150000"/>
              </a:lnSpc>
            </a:pPr>
            <a:r>
              <a:rPr lang="en-US" altLang="ja-JP" sz="1800" b="1" dirty="0"/>
              <a:t>J-solstice</a:t>
            </a:r>
            <a:r>
              <a:rPr lang="ja-JP" altLang="en-US" sz="1800"/>
              <a:t>に卓越し、</a:t>
            </a:r>
            <a:r>
              <a:rPr lang="ja-JP" altLang="en-US" sz="1800" b="1"/>
              <a:t>潮汐効果</a:t>
            </a:r>
            <a:r>
              <a:rPr lang="ja-JP" altLang="en-US" sz="1800"/>
              <a:t>により</a:t>
            </a:r>
            <a:r>
              <a:rPr lang="en-US" altLang="ja-JP" sz="1800" dirty="0"/>
              <a:t>EEJ</a:t>
            </a:r>
            <a:r>
              <a:rPr lang="ja-JP" altLang="en-US" sz="1800"/>
              <a:t>の効果を抑制</a:t>
            </a:r>
            <a:r>
              <a:rPr lang="en-US" altLang="ja-JP" sz="1800" dirty="0"/>
              <a:t>	</a:t>
            </a:r>
          </a:p>
        </p:txBody>
      </p:sp>
      <p:sp>
        <p:nvSpPr>
          <p:cNvPr id="10" name="テキスト ボックス 9">
            <a:extLst>
              <a:ext uri="{FF2B5EF4-FFF2-40B4-BE49-F238E27FC236}">
                <a16:creationId xmlns:a16="http://schemas.microsoft.com/office/drawing/2014/main" id="{594F2418-6ACD-5946-D212-FD20BF662BCD}"/>
              </a:ext>
            </a:extLst>
          </p:cNvPr>
          <p:cNvSpPr txBox="1"/>
          <p:nvPr/>
        </p:nvSpPr>
        <p:spPr>
          <a:xfrm>
            <a:off x="4968239" y="2626965"/>
            <a:ext cx="6152233" cy="1421287"/>
          </a:xfrm>
          <a:prstGeom prst="rect">
            <a:avLst/>
          </a:prstGeom>
          <a:noFill/>
        </p:spPr>
        <p:txBody>
          <a:bodyPr wrap="square">
            <a:spAutoFit/>
          </a:bodyPr>
          <a:lstStyle/>
          <a:p>
            <a:pPr>
              <a:lnSpc>
                <a:spcPct val="150000"/>
              </a:lnSpc>
            </a:pPr>
            <a:r>
              <a:rPr lang="ja-JP" altLang="en-US" sz="2400" b="1"/>
              <a:t>突発型</a:t>
            </a:r>
            <a:r>
              <a:rPr lang="en-US" altLang="ja-JP" sz="2400" b="1" dirty="0"/>
              <a:t>:</a:t>
            </a:r>
            <a:r>
              <a:rPr lang="ja-JP" altLang="en-US" sz="2400" b="1"/>
              <a:t> </a:t>
            </a:r>
            <a:endParaRPr lang="en-US" altLang="ja-JP" sz="2400" b="1" dirty="0"/>
          </a:p>
          <a:p>
            <a:pPr>
              <a:lnSpc>
                <a:spcPct val="150000"/>
              </a:lnSpc>
            </a:pPr>
            <a:r>
              <a:rPr lang="en-US" altLang="ja-JP" sz="1800" dirty="0"/>
              <a:t>Lunar Age=6~10</a:t>
            </a:r>
            <a:r>
              <a:rPr lang="ja-JP" altLang="en-US" sz="1800"/>
              <a:t>においては、潮汐効果により</a:t>
            </a:r>
            <a:r>
              <a:rPr lang="en-US" altLang="ja-JP" sz="1800" dirty="0"/>
              <a:t>EEJ</a:t>
            </a:r>
            <a:r>
              <a:rPr lang="ja-JP" altLang="en-US" sz="1800"/>
              <a:t>の効果を抑制されたが、</a:t>
            </a:r>
            <a:r>
              <a:rPr lang="en-US" altLang="ja-JP" sz="1800" dirty="0"/>
              <a:t>18~21</a:t>
            </a:r>
            <a:r>
              <a:rPr lang="ja-JP" altLang="en-US" sz="1800"/>
              <a:t>においては抑制されなかった。</a:t>
            </a:r>
            <a:endParaRPr lang="en-US" altLang="ja-JP" sz="1800" dirty="0"/>
          </a:p>
        </p:txBody>
      </p:sp>
      <p:sp>
        <p:nvSpPr>
          <p:cNvPr id="12" name="テキスト ボックス 11">
            <a:extLst>
              <a:ext uri="{FF2B5EF4-FFF2-40B4-BE49-F238E27FC236}">
                <a16:creationId xmlns:a16="http://schemas.microsoft.com/office/drawing/2014/main" id="{9E835D06-B48C-A73C-DCF4-F98C3F66D1E8}"/>
              </a:ext>
            </a:extLst>
          </p:cNvPr>
          <p:cNvSpPr txBox="1"/>
          <p:nvPr/>
        </p:nvSpPr>
        <p:spPr>
          <a:xfrm>
            <a:off x="615851" y="2053094"/>
            <a:ext cx="9473029" cy="572464"/>
          </a:xfrm>
          <a:prstGeom prst="rect">
            <a:avLst/>
          </a:prstGeom>
          <a:noFill/>
        </p:spPr>
        <p:txBody>
          <a:bodyPr wrap="square">
            <a:spAutoFit/>
          </a:bodyPr>
          <a:lstStyle/>
          <a:p>
            <a:pPr>
              <a:lnSpc>
                <a:spcPct val="150000"/>
              </a:lnSpc>
            </a:pPr>
            <a:r>
              <a:rPr kumimoji="1" lang="ja-JP" altLang="en-US" sz="2400" b="1"/>
              <a:t>・未発達型と突発型の季節依存性、月齢の対応関係の調査</a:t>
            </a:r>
            <a:endParaRPr kumimoji="1" lang="en-US" altLang="ja-JP" sz="2400" b="1" dirty="0"/>
          </a:p>
        </p:txBody>
      </p:sp>
    </p:spTree>
    <p:extLst>
      <p:ext uri="{BB962C8B-B14F-4D97-AF65-F5344CB8AC3E}">
        <p14:creationId xmlns:p14="http://schemas.microsoft.com/office/powerpoint/2010/main" val="1021914390"/>
      </p:ext>
    </p:extLst>
  </p:cSld>
  <p:clrMapOvr>
    <a:masterClrMapping/>
  </p:clrMapOvr>
</p:sld>
</file>

<file path=ppt/theme/theme1.xml><?xml version="1.0" encoding="utf-8"?>
<a:theme xmlns:a="http://schemas.openxmlformats.org/drawingml/2006/main" name="ビュー">
  <a:themeElements>
    <a:clrScheme name="青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ビュー">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ビュー">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32467</TotalTime>
  <Words>1243</Words>
  <Application>Microsoft Macintosh PowerPoint</Application>
  <PresentationFormat>ワイド画面</PresentationFormat>
  <Paragraphs>163</Paragraphs>
  <Slides>13</Slides>
  <Notes>13</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13</vt:i4>
      </vt:variant>
    </vt:vector>
  </HeadingPairs>
  <TitlesOfParts>
    <vt:vector size="20" baseType="lpstr">
      <vt:lpstr>Hiragino Kaku Gothic Pro W3</vt:lpstr>
      <vt:lpstr>游ゴシック</vt:lpstr>
      <vt:lpstr>游明朝</vt:lpstr>
      <vt:lpstr>Arial</vt:lpstr>
      <vt:lpstr>Century Schoolbook</vt:lpstr>
      <vt:lpstr>Wingdings 2</vt:lpstr>
      <vt:lpstr>ビュー</vt:lpstr>
      <vt:lpstr>EE-indexを用いた特異型EEJの発生特性の解明</vt:lpstr>
      <vt:lpstr>発表概要</vt:lpstr>
      <vt:lpstr>EE-indexとは</vt:lpstr>
      <vt:lpstr>EEJとは</vt:lpstr>
      <vt:lpstr>PowerPoint プレゼンテーション</vt:lpstr>
      <vt:lpstr>MAGDASについて</vt:lpstr>
      <vt:lpstr>特異型EEJの定義</vt:lpstr>
      <vt:lpstr>先行研究  特異型EEJの調査（池末修論）</vt:lpstr>
      <vt:lpstr>特異型EEJの自動判定の手法</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みちびき初号機とMAGDASで同時観測される孤立型磁場変動の自動同定結果を用いた磁気圏擾乱の初期解析</dc:title>
  <dc:creator>URA HARUKA haruka</dc:creator>
  <cp:lastModifiedBy>KIKUCHI HIROMU</cp:lastModifiedBy>
  <cp:revision>32</cp:revision>
  <cp:lastPrinted>2026-01-26T05:07:06Z</cp:lastPrinted>
  <dcterms:created xsi:type="dcterms:W3CDTF">2025-01-15T03:34:25Z</dcterms:created>
  <dcterms:modified xsi:type="dcterms:W3CDTF">2026-01-26T05:07:16Z</dcterms:modified>
</cp:coreProperties>
</file>